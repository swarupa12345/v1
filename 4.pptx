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 rot="5400000">
            <a:off x="822960" y="763067"/>
            <a:ext cx="176022" cy="110642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963778" y="763067"/>
            <a:ext cx="2785262" cy="110642"/>
          </a:xfrm>
          <a:prstGeom prst="roundRect">
            <a:avLst>
              <a:gd name="adj" fmla="val 33058"/>
            </a:avLst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 rot="10800000">
            <a:off x="1934870" y="566928"/>
            <a:ext cx="468173" cy="502920"/>
          </a:xfrm>
          <a:prstGeom prst="triangle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3222346" y="642366"/>
            <a:ext cx="292608" cy="352044"/>
          </a:xfrm>
          <a:prstGeom prst="triangle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 · RESEARCH CENTRE IMARAT — AERODYNAMIC DESIGN INITIATIVE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Aerodynamic Configuration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of Aerospace Vehicles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combining XGBoost machine-learning surrogate modelling with Differential Evolution optimization for complete-envelope aerodynamic configuration design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105156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design of a complex missile-like vehicle (nose, body, wing, tail) traditionally depends on repeated, costly CFD/experimental (Datcom) runs.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surrogate ML model (XGBoost) trained on 10,010 Datcom-generated samples across 15 geometry variables and 110 flight conditions.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surrogate is coupled with a Differential Evolution optimizer to search the full design space and synthesize an optimal geometry across the entire flight envelope in one pass.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documented, reusable software methodology — validated by the DRDL user team on the baseline missile configuration.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5120640" cy="5120640"/>
          </a:xfrm>
          <a:prstGeom prst="roundRect">
            <a:avLst>
              <a:gd name="adj" fmla="val 1429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 configuration design fuses empirical, numerical and experimental data through experience and repeated iteration — a process that is </a:t>
            </a:r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and slow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often converges on a </a:t>
            </a:r>
            <a:pPr indent="0" marL="0">
              <a:buNone/>
            </a:pPr>
            <a:r>
              <a:rPr lang="en-US" sz="13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sub-optimal</a:t>
            </a:r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baseline configuration relative to the achievable aerodynamic performance (CL, CD, Cm).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45262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offers an opportunity: replace repeated high-fidelity simulation calls with a fast-trained ML surrogate, and let an evolutionary search explore the full 15-parameter geometric design space across the complete flight envelope — not one flight point at a time.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8932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8470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17922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methodology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084832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an ML/DL-based prediction methodology for aerodynamic parameters.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893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893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268833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predictions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980944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ML 'prediction' methodology against existing CFD / experimental results.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89320" y="36393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35844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optimization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3877056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aerospace vehicle shape within the design space at a fixed flight condition.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89320" y="4535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4535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9400" y="44805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check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9400" y="4773168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code / methodology on an unknown vehicle configuration.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543153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9400" y="53766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566928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methodology, tools and techniques as a reusable software framework.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algorithms run in sync: an outer Differential-Evolution design loop, scored at every step by an inner XGBoost surrogate fitness function.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01752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417320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geometric variables · 110-point flight envelope · weights &amp; constraints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965960"/>
            <a:ext cx="0" cy="237744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203704"/>
            <a:ext cx="3017520" cy="548640"/>
          </a:xfrm>
          <a:prstGeom prst="roundRect">
            <a:avLst>
              <a:gd name="adj" fmla="val 11667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203704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Generate Aerodynamic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Datcom runs → 10,010 samples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2752344"/>
            <a:ext cx="0" cy="237744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2990088"/>
            <a:ext cx="3017520" cy="548640"/>
          </a:xfrm>
          <a:prstGeom prst="roundRect">
            <a:avLst>
              <a:gd name="adj" fmla="val 11667"/>
            </a:avLst>
          </a:prstGeom>
          <a:solidFill>
            <a:srgbClr val="CADCF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990088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XGBoost Surrogate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CL, CD, XCP (R² &gt; 0.99)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3538728"/>
            <a:ext cx="0" cy="237744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2920" y="3776472"/>
            <a:ext cx="3017520" cy="548640"/>
          </a:xfrm>
          <a:prstGeom prst="roundRect">
            <a:avLst>
              <a:gd name="adj" fmla="val 11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776472"/>
            <a:ext cx="2871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DE Population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geometries, p = 60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20440" y="4050792"/>
            <a:ext cx="274320" cy="0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94760" y="1417320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F4F6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7912" y="1417320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X + K(Xbest−X) + F(Xr2−Xr3)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34940" y="1965960"/>
            <a:ext cx="0" cy="237744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94760" y="2203704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F4F6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7912" y="2203704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(variable Cr)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trial vector Z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34940" y="2752344"/>
            <a:ext cx="0" cy="237744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94760" y="2990088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D79A2C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7912" y="2990088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across 110 flight pts → weighted CL, CD, XCP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34940" y="3538728"/>
            <a:ext cx="0" cy="237744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794760" y="3776472"/>
            <a:ext cx="2880360" cy="548640"/>
          </a:xfrm>
          <a:prstGeom prst="roundRect">
            <a:avLst>
              <a:gd name="adj" fmla="val 11667"/>
            </a:avLst>
          </a:prstGeom>
          <a:solidFill>
            <a:srgbClr val="F4F6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7912" y="3776472"/>
            <a:ext cx="2734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fitter of trial vs target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11880" y="1691640"/>
            <a:ext cx="0" cy="2907792"/>
          </a:xfrm>
          <a:prstGeom prst="line">
            <a:avLst/>
          </a:prstGeom>
          <a:noFill/>
          <a:ln w="15875">
            <a:solidFill>
              <a:srgbClr val="5B648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611880" y="4599432"/>
            <a:ext cx="182880" cy="0"/>
          </a:xfrm>
          <a:prstGeom prst="line">
            <a:avLst/>
          </a:prstGeom>
          <a:noFill/>
          <a:ln w="15875">
            <a:solidFill>
              <a:srgbClr val="5B648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611880" y="1691640"/>
            <a:ext cx="182880" cy="0"/>
          </a:xfrm>
          <a:prstGeom prst="line">
            <a:avLst/>
          </a:prstGeom>
          <a:noFill/>
          <a:ln w="15875">
            <a:solidFill>
              <a:srgbClr val="5B6480"/>
            </a:solidFill>
            <a:prstDash val="dash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794760" y="4928616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over every candidate, then every generation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75120" y="4599432"/>
            <a:ext cx="502920" cy="0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3867912"/>
            <a:ext cx="1965960" cy="566928"/>
          </a:xfrm>
          <a:prstGeom prst="roundRect">
            <a:avLst>
              <a:gd name="adj" fmla="val 11290"/>
            </a:avLst>
          </a:prstGeom>
          <a:solidFill>
            <a:srgbClr val="F4F6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3867912"/>
            <a:ext cx="1819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generations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61020" y="4434840"/>
            <a:ext cx="0" cy="274320"/>
          </a:xfrm>
          <a:prstGeom prst="line">
            <a:avLst/>
          </a:prstGeom>
          <a:noFill/>
          <a:ln w="19050">
            <a:solidFill>
              <a:srgbClr val="5B64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178040" y="4709160"/>
            <a:ext cx="1965960" cy="621792"/>
          </a:xfrm>
          <a:prstGeom prst="roundRect">
            <a:avLst>
              <a:gd name="adj" fmla="val 10294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1192" y="4709160"/>
            <a:ext cx="18196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Configuration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X_best = argmax Fitness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418320" y="1417320"/>
            <a:ext cx="2240280" cy="3456432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153619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MODELS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601200" y="1837944"/>
            <a:ext cx="187452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(primary)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CL, CD, XCP surrogate; benchmarked against ELM &amp; Random Forest.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XGBoost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5-seed bagged models; final prediction = mean, reduces variance.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Regressor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(64,64) ReLU network predicting CN, CM as a secondary study.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5166360"/>
            <a:ext cx="6583680" cy="1234440"/>
          </a:xfrm>
          <a:prstGeom prst="roundRect">
            <a:avLst>
              <a:gd name="adj" fmla="val 5185"/>
            </a:avLst>
          </a:prstGeom>
          <a:solidFill>
            <a:srgbClr val="F4F6FB"/>
          </a:solidFill>
          <a:ln/>
        </p:spPr>
      </p:sp>
      <p:pic>
        <p:nvPicPr>
          <p:cNvPr id="43" name="Image 0" descr="/home/claude/ppt/assets/plot_DE_fitness_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276088"/>
            <a:ext cx="503695" cy="5943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502920" y="5888736"/>
            <a:ext cx="5036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1280935" y="5276088"/>
            <a:ext cx="530352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convergence: </a:t>
            </a:r>
            <a:pPr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fitness (green) rises and plateaus within ~20 generations while average fitness (orange) tracks upward behind it — confirming the outer DE loop steadily improves candidates generation over generation, as modelled above.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61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0.9994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CL prediction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data)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188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55848" y="1261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0.9996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47288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CD prediction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data)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188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D79A2C"/>
          </a:solidFill>
          <a:ln/>
        </p:spPr>
      </p:sp>
      <p:sp>
        <p:nvSpPr>
          <p:cNvPr id="11" name="Text 9"/>
          <p:cNvSpPr/>
          <p:nvPr/>
        </p:nvSpPr>
        <p:spPr>
          <a:xfrm>
            <a:off x="6163056" y="1261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~67%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54496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CL/CD gain,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3°–8°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70264" y="11887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970264" y="1261872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+1.7%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061704" y="18288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increase only,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DRDL-validated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542032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surrogate achieves near-perfect correlation with the actual Datcom data on held-out test samples; the DE-optimized geometry visibly lifts CL/CD above the baseline across the flight envelope.</a:t>
            </a:r>
            <a:endParaRPr lang="en-US" sz="1150" dirty="0"/>
          </a:p>
        </p:txBody>
      </p:sp>
      <p:pic>
        <p:nvPicPr>
          <p:cNvPr id="17" name="Image 0" descr="/home/claude/ppt/assets/plot_CL_actual_vs_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62656"/>
            <a:ext cx="2331720" cy="222783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5227063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Predicted vs Actual CL</a:t>
            </a:r>
            <a:endParaRPr lang="en-US" sz="950" dirty="0"/>
          </a:p>
        </p:txBody>
      </p:sp>
      <p:pic>
        <p:nvPicPr>
          <p:cNvPr id="19" name="Image 1" descr="/home/claude/ppt/assets/plot_CD_actual_vs_p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962656"/>
            <a:ext cx="2331720" cy="220411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063240" y="5203345"/>
            <a:ext cx="2331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Predicted vs Actual CD</a:t>
            </a:r>
            <a:endParaRPr lang="en-US" sz="950" dirty="0"/>
          </a:p>
        </p:txBody>
      </p:sp>
      <p:pic>
        <p:nvPicPr>
          <p:cNvPr id="21" name="Image 2" descr="/home/claude/ppt/assets/plot_clcd_vs_alph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301" y="2962656"/>
            <a:ext cx="4816718" cy="30632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23560" y="608076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CL/CD vs α — baseline vs DE-optimized geometry (Mach 0.5, uniform &amp; variable flight-point weighting)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548640" y="5574535"/>
            <a:ext cx="4846320" cy="8262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surrogate generalizes across nonlinear flight regimes, outperforming ELM &amp; Random Forest.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+ Maximum-Crossover converges steadily to physically feasible, high-performance geometries.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Point-optima also demonstrated: min XCP = 9.99, max CN = 0.54, max CM/CD = 7.67.</a:t>
            </a:r>
            <a:endParaRPr lang="en-US" sz="10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Ensemble-XGBoost (5-seed) and an MLP (CN, CM) regressor corroborate these predictions.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Recommendations &amp; 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109960" cy="1417320"/>
          </a:xfrm>
          <a:prstGeom prst="roundRect">
            <a:avLst>
              <a:gd name="adj" fmla="val 5161"/>
            </a:avLst>
          </a:prstGeom>
          <a:solidFill>
            <a:srgbClr val="141B4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XGBoost surrogate model, coupled with a Differential-Evolution optimizer, reliably designs an optimal aerospace-vehicle configuration across the complete flight envelope in a single run — meeting all five stated objectives and validated by the DRDL user team on the baseline missile configuration (net weight increase of only ~1.7% for a significant CL/CD gain).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077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/ KEY VALUE-ADDS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9377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DE + XGBoost software as the standard front-end for early-stage configuration design — it evaluates thousands of candidate geometries at a fraction of CFD cost.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priority-weighting feature to bias the design toward mission-critical flight points instead of a single fixed condition.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hard/soft constraint handling (structural, stability, CD floor) so every candidate stays physically feasible.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the XGBoost surrogate whenever the underlying Datcom/CFD data source or flow regime changes, since fidelity is bounded by the training data.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27432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29077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79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49377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Optimization: jointly maximize CN and CM/CD (flagged in the report as unexplored, wide sweep-angle variation observed between the two single-objective optima).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Machine Learning: merge the Aerodynamic-Data-Generation, Fitness-Function, and Evolutionary-Design phases into one unified pipeline (work actively in progress).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framework to more complex aerospace vehicle configurations beyond the missile-like baseline.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constraint handling to structural/stability domains beyond geometry bounds.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Aerodynamic Configuration Design of Aerospace Vehicles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89920" y="654710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2026-07-16T00:34:36Z</dcterms:created>
  <dcterms:modified xsi:type="dcterms:W3CDTF">2026-07-16T00:34:36Z</dcterms:modified>
</cp:coreProperties>
</file>