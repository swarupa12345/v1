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" name="Shape 1"/>
          <p:cNvSpPr/>
          <p:nvPr/>
        </p:nvSpPr>
        <p:spPr>
          <a:xfrm rot="6000000">
            <a:off x="8503920" y="2286000"/>
            <a:ext cx="3291840" cy="2194560"/>
          </a:xfrm>
          <a:prstGeom prst="triangle">
            <a:avLst/>
          </a:prstGeom>
          <a:solidFill>
            <a:srgbClr val="2E5F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6000000">
            <a:off x="9235440" y="1097280"/>
            <a:ext cx="2377440" cy="4389120"/>
          </a:xfrm>
          <a:prstGeom prst="triangle">
            <a:avLst/>
          </a:prstGeom>
          <a:solidFill>
            <a:srgbClr val="C97A2B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— CARS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Aerospace Vehicles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using XGBoost Surrogate Modelling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Differential Evolution Optimization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343400"/>
            <a:ext cx="2011680" cy="0"/>
          </a:xfrm>
          <a:prstGeom prst="line">
            <a:avLst/>
          </a:prstGeom>
          <a:noFill/>
          <a:ln w="28575">
            <a:solidFill>
              <a:srgbClr val="2E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1772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Veldi Sai Krishna, B.Tech CSE (AI &amp; ML)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Nanak Institutions Technical Campus, Hyderabad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Kalidasu, Scientist 'E', DRDL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 2025 – 27 Feb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Problem Statement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70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initiated the CARS project to explore Data Science for the design of a complex "missile-like" aerospace vehicle (nose, wing, body, tail). A baseline configuration is refined using a fusion of theory, CFD/experimental data and machine learning to reach an optimal aerodynamic design.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39312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aerodynamic design relies on repeated, computationally expensive CFD simulations and experimental iterations, which are slow and often converge to a sub-optimal configuration. A methodology is needed that can predict aerodynamic performance rapidly and search the full design space — across the entire flight envelope — for a truly optimal, physically valid geometry.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5623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Aero Documentation, Sec. 1–2  |  Internship Report — Project Abstract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05156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2070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746504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46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95744" y="169164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prediction methodology for aerodynamic parameters using Machine Learning / Deep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587752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587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95744" y="2532888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ML-based prediction methodology against existing CFD / experimental results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429000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95744" y="3374136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shape optimization of the vehicle configuration at a fixed flight condition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4270248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270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95744" y="4215384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code / methodology for an unknown vehicle configuration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5111496"/>
            <a:ext cx="384048" cy="38404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95744" y="5056632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 of methodology, tools and results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Surrogate Modelling + Evolutionary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5331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Data Generation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(Datcom / CFD / Empirical — 15 geometry vars, Mach 0.2–0.8, α 0–20°, Alt 0 &amp; 6 km)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3049524" y="2075688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212848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12848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(~10,000 samples): Geometry + Flight Conditions  →  CL, CD, XCP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049524" y="2788920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92608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2608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Surrogate Models (fitness function)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CL, CD, XCP  |  extensions: MLP (CN, CM), Ensemble-XGBoost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049524" y="3648456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785616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85616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Evolution Optimizer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(mutation, variable crossover, Maximum Crossover, selection)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049524" y="4453128"/>
            <a:ext cx="164592" cy="128016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590288"/>
            <a:ext cx="5257800" cy="621792"/>
          </a:xfrm>
          <a:prstGeom prst="roundRect">
            <a:avLst>
              <a:gd name="adj" fmla="val 8824"/>
            </a:avLst>
          </a:prstGeom>
          <a:solidFill>
            <a:srgbClr val="2E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90288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</a:t>
            </a:r>
            <a:endParaRPr lang="en-US" sz="10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(validated across full flight envelope)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172200" y="98755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FLOWCHART (per Fig. 13)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353312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353312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353312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baseline geometry, flight conditions, priority weights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291072" y="1869948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911096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911096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1911096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initial population of candidate geometries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291072" y="2427732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2468880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2468880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2468880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generation → for each candidate: generate mutant vector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291072" y="2985516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31" name="Shape 29"/>
          <p:cNvSpPr/>
          <p:nvPr/>
        </p:nvSpPr>
        <p:spPr>
          <a:xfrm>
            <a:off x="6172200" y="3026664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3026664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3026664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→ trial vector (variable Cr + Maximum Crossover)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291072" y="3543300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3584448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3584448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3584448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fitness: XGBoost predicts CL, CD, XCP over 110 flight points; weighted average → fitness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291072" y="4101084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39" name="Shape 37"/>
          <p:cNvSpPr/>
          <p:nvPr/>
        </p:nvSpPr>
        <p:spPr>
          <a:xfrm>
            <a:off x="6172200" y="4142232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4142232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29400" y="4142232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keep trial vector only if fitness improves &amp; constraints met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6291072" y="4658868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43" name="Shape 41"/>
          <p:cNvSpPr/>
          <p:nvPr/>
        </p:nvSpPr>
        <p:spPr>
          <a:xfrm>
            <a:off x="6172200" y="4700016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12700">
            <a:solidFill>
              <a:srgbClr val="C9D3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4700016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29400" y="4700016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candidates / generations traversed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6291072" y="5216652"/>
            <a:ext cx="128016" cy="41148"/>
          </a:xfrm>
          <a:prstGeom prst="downArrow">
            <a:avLst/>
          </a:prstGeom>
          <a:solidFill>
            <a:srgbClr val="1F4468"/>
          </a:solidFill>
          <a:ln/>
        </p:spPr>
      </p:sp>
      <p:sp>
        <p:nvSpPr>
          <p:cNvPr id="47" name="Shape 45"/>
          <p:cNvSpPr/>
          <p:nvPr/>
        </p:nvSpPr>
        <p:spPr>
          <a:xfrm>
            <a:off x="6172200" y="5257800"/>
            <a:ext cx="5532120" cy="516636"/>
          </a:xfrm>
          <a:prstGeom prst="roundRect">
            <a:avLst>
              <a:gd name="adj" fmla="val 8850"/>
            </a:avLst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5257800"/>
            <a:ext cx="31089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29400" y="5257800"/>
            <a:ext cx="49377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configuration with best fitness (optimal geometry)</a:t>
            </a:r>
            <a:endParaRPr lang="en-US" sz="970" dirty="0"/>
          </a:p>
        </p:txBody>
      </p:sp>
      <p:sp>
        <p:nvSpPr>
          <p:cNvPr id="50" name="Text 4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692496" y="886968"/>
            <a:ext cx="6776528" cy="2157984"/>
          </a:xfrm>
          <a:prstGeom prst="roundRect">
            <a:avLst>
              <a:gd name="adj" fmla="val 1695"/>
            </a:avLst>
          </a:prstGeom>
          <a:solidFill>
            <a:srgbClr val="F4F6F8"/>
          </a:solidFill>
          <a:ln w="9525">
            <a:solidFill>
              <a:srgbClr val="C9D3DE"/>
            </a:solidFill>
            <a:prstDash val="solid"/>
          </a:ln>
        </p:spPr>
      </p:sp>
      <p:pic>
        <p:nvPicPr>
          <p:cNvPr id="4" name="Image 0" descr="/home/claude/assets/fig5_6_compos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5648" y="960120"/>
            <a:ext cx="6630224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01752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&amp; 6 — XGBoost Predicted vs Actual CL (R² = 0.9994) and CD (R² = 0.9996)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3273552"/>
            <a:ext cx="5559552" cy="2157984"/>
          </a:xfrm>
          <a:prstGeom prst="roundRect">
            <a:avLst>
              <a:gd name="adj" fmla="val 1695"/>
            </a:avLst>
          </a:prstGeom>
          <a:solidFill>
            <a:srgbClr val="F4F6F8"/>
          </a:solidFill>
          <a:ln w="9525">
            <a:solidFill>
              <a:srgbClr val="C9D3DE"/>
            </a:solidFill>
            <a:prstDash val="solid"/>
          </a:ln>
        </p:spPr>
      </p:sp>
      <p:pic>
        <p:nvPicPr>
          <p:cNvPr id="7" name="Image 1" descr="/home/claude/assets/fig9_clcd_mach08_grou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38" y="3346704"/>
            <a:ext cx="4725964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54041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a &amp; b — CL/CD vs α, Mach 0.8, Ground level (Uniform / Variable weights)</a:t>
            </a:r>
            <a:endParaRPr lang="en-US" sz="930" dirty="0"/>
          </a:p>
        </p:txBody>
      </p:sp>
      <p:sp>
        <p:nvSpPr>
          <p:cNvPr id="9" name="Shape 5"/>
          <p:cNvSpPr/>
          <p:nvPr/>
        </p:nvSpPr>
        <p:spPr>
          <a:xfrm>
            <a:off x="6172200" y="3273552"/>
            <a:ext cx="5559552" cy="2157984"/>
          </a:xfrm>
          <a:prstGeom prst="roundRect">
            <a:avLst>
              <a:gd name="adj" fmla="val 1695"/>
            </a:avLst>
          </a:prstGeom>
          <a:solidFill>
            <a:srgbClr val="F4F6F8"/>
          </a:solidFill>
          <a:ln w="9525">
            <a:solidFill>
              <a:srgbClr val="C9D3DE"/>
            </a:solidFill>
            <a:prstDash val="solid"/>
          </a:ln>
        </p:spPr>
      </p:sp>
      <p:pic>
        <p:nvPicPr>
          <p:cNvPr id="10" name="Image 2" descr="/home/claude/assets/fig11_xc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086" y="3346704"/>
            <a:ext cx="4848627" cy="2011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54041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11 — XCP Training (R² = 0.9998) vs Testing (R² = 0.9451) Data</a:t>
            </a:r>
            <a:endParaRPr lang="en-US" sz="930" dirty="0"/>
          </a:p>
        </p:txBody>
      </p:sp>
      <p:sp>
        <p:nvSpPr>
          <p:cNvPr id="12" name="Text 7"/>
          <p:cNvSpPr/>
          <p:nvPr/>
        </p:nvSpPr>
        <p:spPr>
          <a:xfrm>
            <a:off x="502920" y="5843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CL/CD improvement ≈ 67%  </a:t>
            </a:r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(α = 3–8°)   •   </a:t>
            </a:r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increase only ≈ 1.7%  </a:t>
            </a:r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(Steel AISI 304)   •   </a:t>
            </a:r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= 0.54, CM/CD = 7.67  </a:t>
            </a:r>
            <a:pPr algn="ct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optimal design points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02920" y="616305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XGBoost reliably captured non-linear CL/CD/XCP behaviour across the flight envelope, replacing repeated CFD/Datcom runs. Differential Evolution, guided by this surrogate, converged to configurations with markedly better lift-to-drag ratio at negligible weight cost — validated by DRDL on Datcom re-runs of the modified geometry.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02920" y="6693408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exact result figures reproduced from the Aero Documentation (Figs. 5, 6, 9, 11)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Conclusion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070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/ SOLUTIONS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865376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556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 (non-uniform) flight-point weighting to prioritize critical Mach/alpha regions of the envelope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31520" y="2706624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9689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Maximum Crossover enhancement — improves DE convergence by ~80% over classical DE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31520" y="3547872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381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hard/soft geometric and structural constraints (e.g., CD ≥ 0.12, tail/body sizing) during optimization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2793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any optimized geometry's structural weight impact before finalizing (as done for Steel AISI 304)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31520" y="5230368"/>
            <a:ext cx="109728" cy="109728"/>
          </a:xfrm>
          <a:prstGeom prst="oval">
            <a:avLst/>
          </a:prstGeom>
          <a:solidFill>
            <a:srgbClr val="C9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surrogate ensembles (XGBoost + MLP) for additional coefficients such as CN and CM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343400" y="105156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2E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1572768"/>
            <a:ext cx="320040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project objectives were achieved. A complete methodology now exists for optimal aerodynamic design of a multi-component aerospace vehicle across its full flight envelope, with designer-set priority weights and constraints.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XGBoost surrogate + Differential Evolution framework delivered configurations with significantly higher CL/CD, reduced drag, and stable behaviour, validated against Datcom re-runs — while cutting computation time versus repeated CFD/experimental analysis.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ML-driven surrogate modelling combined with evolutionary optimization as a reliable, efficient alternative to conventional simulation-based aerodynamic design.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051560"/>
            <a:ext cx="3383280" cy="4983480"/>
          </a:xfrm>
          <a:prstGeom prst="roundRect">
            <a:avLst>
              <a:gd name="adj" fmla="val 2162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1207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58200" y="1837944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1709928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to jointly maximize CN and CM/CD (currently solved independently)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58200" y="2862072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2734056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Machine Learning: merge Data Generation, Fitness Function and Evolutionary Design into one unified pipeline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3886200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3758184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framework to more complex, multi-component aerospace vehicle configurations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58200" y="4910328"/>
            <a:ext cx="109728" cy="109728"/>
          </a:xfrm>
          <a:prstGeom prst="oval">
            <a:avLst/>
          </a:prstGeom>
          <a:solidFill>
            <a:srgbClr val="2E5F8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478231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constraint handling to structural, stability and other engineering domains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2026-07-16T00:18:41Z</dcterms:created>
  <dcterms:modified xsi:type="dcterms:W3CDTF">2026-07-16T00:18:41Z</dcterms:modified>
</cp:coreProperties>
</file>