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AFE"/>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DDEBF8">
              <a:alpha val="60000"/>
            </a:srgbClr>
          </a:solidFill>
          <a:ln/>
        </p:spPr>
      </p:sp>
      <p:sp>
        <p:nvSpPr>
          <p:cNvPr id="3" name="Shape 1"/>
          <p:cNvSpPr/>
          <p:nvPr/>
        </p:nvSpPr>
        <p:spPr>
          <a:xfrm>
            <a:off x="-1463040" y="4572000"/>
            <a:ext cx="3840480" cy="3840480"/>
          </a:xfrm>
          <a:prstGeom prst="ellipse">
            <a:avLst/>
          </a:prstGeom>
          <a:solidFill>
            <a:srgbClr val="EAF3FB">
              <a:alpha val="65000"/>
            </a:srgbClr>
          </a:solidFill>
          <a:ln/>
        </p:spPr>
      </p:sp>
      <p:sp>
        <p:nvSpPr>
          <p:cNvPr id="4" name="Text 2"/>
          <p:cNvSpPr/>
          <p:nvPr/>
        </p:nvSpPr>
        <p:spPr>
          <a:xfrm>
            <a:off x="0" y="1234440"/>
            <a:ext cx="12188952" cy="320040"/>
          </a:xfrm>
          <a:prstGeom prst="rect">
            <a:avLst/>
          </a:prstGeom>
          <a:noFill/>
          <a:ln/>
        </p:spPr>
        <p:txBody>
          <a:bodyPr wrap="square" rtlCol="0" anchor="ctr"/>
          <a:lstStyle/>
          <a:p>
            <a:pPr algn="ctr" indent="0" marL="0">
              <a:buNone/>
            </a:pPr>
            <a:r>
              <a:rPr lang="en-US" sz="1300" b="1" spc="300" kern="0" dirty="0">
                <a:solidFill>
                  <a:srgbClr val="2E75B6"/>
                </a:solidFill>
                <a:latin typeface="Calibri" pitchFamily="34" charset="0"/>
                <a:ea typeface="Calibri" pitchFamily="34" charset="-122"/>
                <a:cs typeface="Calibri" pitchFamily="34" charset="-120"/>
              </a:rPr>
              <a:t>INTERNSHIP PROJECT REPORT</a:t>
            </a:r>
            <a:endParaRPr lang="en-US" sz="1300" dirty="0"/>
          </a:p>
        </p:txBody>
      </p:sp>
      <p:sp>
        <p:nvSpPr>
          <p:cNvPr id="5" name="Text 3"/>
          <p:cNvSpPr/>
          <p:nvPr/>
        </p:nvSpPr>
        <p:spPr>
          <a:xfrm>
            <a:off x="822960" y="1691640"/>
            <a:ext cx="10543032" cy="1188720"/>
          </a:xfrm>
          <a:prstGeom prst="rect">
            <a:avLst/>
          </a:prstGeom>
          <a:noFill/>
          <a:ln/>
        </p:spPr>
        <p:txBody>
          <a:bodyPr wrap="square" rtlCol="0" anchor="ctr"/>
          <a:lstStyle/>
          <a:p>
            <a:pPr algn="ctr" indent="0" marL="0">
              <a:buNone/>
            </a:pPr>
            <a:r>
              <a:rPr lang="en-US" sz="3600" b="1" dirty="0">
                <a:solidFill>
                  <a:srgbClr val="1F4E79"/>
                </a:solidFill>
                <a:latin typeface="Cambria" pitchFamily="34" charset="0"/>
                <a:ea typeface="Cambria" pitchFamily="34" charset="-122"/>
                <a:cs typeface="Cambria" pitchFamily="34" charset="-120"/>
              </a:rPr>
              <a:t>Data-Driven Modelling for Aerobody Design</a:t>
            </a:r>
            <a:endParaRPr lang="en-US" sz="3600" dirty="0"/>
          </a:p>
        </p:txBody>
      </p:sp>
      <p:sp>
        <p:nvSpPr>
          <p:cNvPr id="6" name="Text 4"/>
          <p:cNvSpPr/>
          <p:nvPr/>
        </p:nvSpPr>
        <p:spPr>
          <a:xfrm>
            <a:off x="1554480" y="2788920"/>
            <a:ext cx="9079992" cy="868680"/>
          </a:xfrm>
          <a:prstGeom prst="rect">
            <a:avLst/>
          </a:prstGeom>
          <a:noFill/>
          <a:ln/>
        </p:spPr>
        <p:txBody>
          <a:bodyPr wrap="square" rtlCol="0" anchor="t"/>
          <a:lstStyle/>
          <a:p>
            <a:pPr algn="ctr" indent="0" marL="0">
              <a:lnSpc>
                <a:spcPct val="120000"/>
              </a:lnSpc>
              <a:buNone/>
            </a:pPr>
            <a:r>
              <a:rPr lang="en-US" sz="1450" dirty="0">
                <a:solidFill>
                  <a:srgbClr val="5B7385"/>
                </a:solidFill>
                <a:latin typeface="Calibri" pitchFamily="34" charset="0"/>
                <a:ea typeface="Calibri" pitchFamily="34" charset="-122"/>
                <a:cs typeface="Calibri" pitchFamily="34" charset="-120"/>
              </a:rPr>
              <a:t>A machine learning surrogate modelling framework — XGBoost, Ensemble XGBoost &amp; MLP Regressor — integrated with Differential Evolution optimization for aerodynamic configuration design</a:t>
            </a:r>
            <a:endParaRPr lang="en-US" sz="1450" dirty="0"/>
          </a:p>
        </p:txBody>
      </p:sp>
      <p:sp>
        <p:nvSpPr>
          <p:cNvPr id="7" name="Shape 5"/>
          <p:cNvSpPr/>
          <p:nvPr/>
        </p:nvSpPr>
        <p:spPr>
          <a:xfrm>
            <a:off x="1088136" y="3794760"/>
            <a:ext cx="2331720" cy="502920"/>
          </a:xfrm>
          <a:prstGeom prst="roundRect">
            <a:avLst>
              <a:gd name="adj" fmla="val 49091"/>
            </a:avLst>
          </a:prstGeom>
          <a:solidFill>
            <a:srgbClr val="FFFFFF"/>
          </a:solidFill>
          <a:ln w="15875">
            <a:solidFill>
              <a:srgbClr val="2E75B6"/>
            </a:solidFill>
            <a:prstDash val="solid"/>
          </a:ln>
        </p:spPr>
      </p:sp>
      <p:sp>
        <p:nvSpPr>
          <p:cNvPr id="8" name="Text 6"/>
          <p:cNvSpPr/>
          <p:nvPr/>
        </p:nvSpPr>
        <p:spPr>
          <a:xfrm>
            <a:off x="1088136" y="3794760"/>
            <a:ext cx="2331720" cy="502920"/>
          </a:xfrm>
          <a:prstGeom prst="rect">
            <a:avLst/>
          </a:prstGeom>
          <a:noFill/>
          <a:ln/>
        </p:spPr>
        <p:txBody>
          <a:bodyPr wrap="square" rtlCol="0" anchor="ctr"/>
          <a:lstStyle/>
          <a:p>
            <a:pPr algn="ctr" indent="0" marL="0">
              <a:buNone/>
            </a:pPr>
            <a:r>
              <a:rPr lang="en-US" sz="1250" b="1" dirty="0">
                <a:solidFill>
                  <a:srgbClr val="1F4E79"/>
                </a:solidFill>
                <a:latin typeface="Calibri" pitchFamily="34" charset="0"/>
                <a:ea typeface="Calibri" pitchFamily="34" charset="-122"/>
                <a:cs typeface="Calibri" pitchFamily="34" charset="-120"/>
              </a:rPr>
              <a:t>XGBoost</a:t>
            </a:r>
            <a:endParaRPr lang="en-US" sz="1250" dirty="0"/>
          </a:p>
        </p:txBody>
      </p:sp>
      <p:sp>
        <p:nvSpPr>
          <p:cNvPr id="9" name="Shape 7"/>
          <p:cNvSpPr/>
          <p:nvPr/>
        </p:nvSpPr>
        <p:spPr>
          <a:xfrm>
            <a:off x="3648456" y="3794760"/>
            <a:ext cx="2331720" cy="502920"/>
          </a:xfrm>
          <a:prstGeom prst="roundRect">
            <a:avLst>
              <a:gd name="adj" fmla="val 49091"/>
            </a:avLst>
          </a:prstGeom>
          <a:solidFill>
            <a:srgbClr val="FFFFFF"/>
          </a:solidFill>
          <a:ln w="15875">
            <a:solidFill>
              <a:srgbClr val="2E75B6"/>
            </a:solidFill>
            <a:prstDash val="solid"/>
          </a:ln>
        </p:spPr>
      </p:sp>
      <p:sp>
        <p:nvSpPr>
          <p:cNvPr id="10" name="Text 8"/>
          <p:cNvSpPr/>
          <p:nvPr/>
        </p:nvSpPr>
        <p:spPr>
          <a:xfrm>
            <a:off x="3648456" y="3794760"/>
            <a:ext cx="2331720" cy="502920"/>
          </a:xfrm>
          <a:prstGeom prst="rect">
            <a:avLst/>
          </a:prstGeom>
          <a:noFill/>
          <a:ln/>
        </p:spPr>
        <p:txBody>
          <a:bodyPr wrap="square" rtlCol="0" anchor="ctr"/>
          <a:lstStyle/>
          <a:p>
            <a:pPr algn="ctr" indent="0" marL="0">
              <a:buNone/>
            </a:pPr>
            <a:r>
              <a:rPr lang="en-US" sz="1250" b="1" dirty="0">
                <a:solidFill>
                  <a:srgbClr val="1F4E79"/>
                </a:solidFill>
                <a:latin typeface="Calibri" pitchFamily="34" charset="0"/>
                <a:ea typeface="Calibri" pitchFamily="34" charset="-122"/>
                <a:cs typeface="Calibri" pitchFamily="34" charset="-120"/>
              </a:rPr>
              <a:t>Ensemble XGBoost</a:t>
            </a:r>
            <a:endParaRPr lang="en-US" sz="1250" dirty="0"/>
          </a:p>
        </p:txBody>
      </p:sp>
      <p:sp>
        <p:nvSpPr>
          <p:cNvPr id="11" name="Shape 9"/>
          <p:cNvSpPr/>
          <p:nvPr/>
        </p:nvSpPr>
        <p:spPr>
          <a:xfrm>
            <a:off x="6208776" y="3794760"/>
            <a:ext cx="2331720" cy="502920"/>
          </a:xfrm>
          <a:prstGeom prst="roundRect">
            <a:avLst>
              <a:gd name="adj" fmla="val 49091"/>
            </a:avLst>
          </a:prstGeom>
          <a:solidFill>
            <a:srgbClr val="FFFFFF"/>
          </a:solidFill>
          <a:ln w="15875">
            <a:solidFill>
              <a:srgbClr val="2E75B6"/>
            </a:solidFill>
            <a:prstDash val="solid"/>
          </a:ln>
        </p:spPr>
      </p:sp>
      <p:sp>
        <p:nvSpPr>
          <p:cNvPr id="12" name="Text 10"/>
          <p:cNvSpPr/>
          <p:nvPr/>
        </p:nvSpPr>
        <p:spPr>
          <a:xfrm>
            <a:off x="6208776" y="3794760"/>
            <a:ext cx="2331720" cy="502920"/>
          </a:xfrm>
          <a:prstGeom prst="rect">
            <a:avLst/>
          </a:prstGeom>
          <a:noFill/>
          <a:ln/>
        </p:spPr>
        <p:txBody>
          <a:bodyPr wrap="square" rtlCol="0" anchor="ctr"/>
          <a:lstStyle/>
          <a:p>
            <a:pPr algn="ctr" indent="0" marL="0">
              <a:buNone/>
            </a:pPr>
            <a:r>
              <a:rPr lang="en-US" sz="1250" b="1" dirty="0">
                <a:solidFill>
                  <a:srgbClr val="1F4E79"/>
                </a:solidFill>
                <a:latin typeface="Calibri" pitchFamily="34" charset="0"/>
                <a:ea typeface="Calibri" pitchFamily="34" charset="-122"/>
                <a:cs typeface="Calibri" pitchFamily="34" charset="-120"/>
              </a:rPr>
              <a:t>MLP Regressor</a:t>
            </a:r>
            <a:endParaRPr lang="en-US" sz="1250" dirty="0"/>
          </a:p>
        </p:txBody>
      </p:sp>
      <p:sp>
        <p:nvSpPr>
          <p:cNvPr id="13" name="Shape 11"/>
          <p:cNvSpPr/>
          <p:nvPr/>
        </p:nvSpPr>
        <p:spPr>
          <a:xfrm>
            <a:off x="8769096" y="3794760"/>
            <a:ext cx="2331720" cy="502920"/>
          </a:xfrm>
          <a:prstGeom prst="roundRect">
            <a:avLst>
              <a:gd name="adj" fmla="val 49091"/>
            </a:avLst>
          </a:prstGeom>
          <a:solidFill>
            <a:srgbClr val="FFFFFF"/>
          </a:solidFill>
          <a:ln w="15875">
            <a:solidFill>
              <a:srgbClr val="2E75B6"/>
            </a:solidFill>
            <a:prstDash val="solid"/>
          </a:ln>
        </p:spPr>
      </p:sp>
      <p:sp>
        <p:nvSpPr>
          <p:cNvPr id="14" name="Text 12"/>
          <p:cNvSpPr/>
          <p:nvPr/>
        </p:nvSpPr>
        <p:spPr>
          <a:xfrm>
            <a:off x="8769096" y="3794760"/>
            <a:ext cx="2331720" cy="502920"/>
          </a:xfrm>
          <a:prstGeom prst="rect">
            <a:avLst/>
          </a:prstGeom>
          <a:noFill/>
          <a:ln/>
        </p:spPr>
        <p:txBody>
          <a:bodyPr wrap="square" rtlCol="0" anchor="ctr"/>
          <a:lstStyle/>
          <a:p>
            <a:pPr algn="ctr" indent="0" marL="0">
              <a:buNone/>
            </a:pPr>
            <a:r>
              <a:rPr lang="en-US" sz="1250" b="1" dirty="0">
                <a:solidFill>
                  <a:srgbClr val="1F4E79"/>
                </a:solidFill>
                <a:latin typeface="Calibri" pitchFamily="34" charset="0"/>
                <a:ea typeface="Calibri" pitchFamily="34" charset="-122"/>
                <a:cs typeface="Calibri" pitchFamily="34" charset="-120"/>
              </a:rPr>
              <a:t>Differential Evolution</a:t>
            </a:r>
            <a:endParaRPr lang="en-US" sz="1250" dirty="0"/>
          </a:p>
        </p:txBody>
      </p:sp>
      <p:sp>
        <p:nvSpPr>
          <p:cNvPr id="15" name="Shape 13"/>
          <p:cNvSpPr/>
          <p:nvPr/>
        </p:nvSpPr>
        <p:spPr>
          <a:xfrm>
            <a:off x="3200400" y="4617720"/>
            <a:ext cx="5788152" cy="0"/>
          </a:xfrm>
          <a:prstGeom prst="line">
            <a:avLst/>
          </a:prstGeom>
          <a:noFill/>
          <a:ln w="12700">
            <a:solidFill>
              <a:srgbClr val="C9DDF0"/>
            </a:solidFill>
            <a:prstDash val="solid"/>
          </a:ln>
        </p:spPr>
      </p:sp>
      <p:sp>
        <p:nvSpPr>
          <p:cNvPr id="16" name="Text 14"/>
          <p:cNvSpPr/>
          <p:nvPr/>
        </p:nvSpPr>
        <p:spPr>
          <a:xfrm>
            <a:off x="0" y="4846320"/>
            <a:ext cx="12188952" cy="292608"/>
          </a:xfrm>
          <a:prstGeom prst="rect">
            <a:avLst/>
          </a:prstGeom>
          <a:noFill/>
          <a:ln/>
        </p:spPr>
        <p:txBody>
          <a:bodyPr wrap="square" rtlCol="0" anchor="ctr"/>
          <a:lstStyle/>
          <a:p>
            <a:pPr algn="ctr" indent="0" marL="0">
              <a:buNone/>
            </a:pPr>
            <a:r>
              <a:rPr lang="en-US" sz="1400" b="1" dirty="0">
                <a:solidFill>
                  <a:srgbClr val="1F4E79"/>
                </a:solidFill>
                <a:latin typeface="Calibri" pitchFamily="34" charset="0"/>
                <a:ea typeface="Calibri" pitchFamily="34" charset="-122"/>
                <a:cs typeface="Calibri" pitchFamily="34" charset="-120"/>
              </a:rPr>
              <a:t>VELDI SAI KRISHNA</a:t>
            </a:r>
            <a:endParaRPr lang="en-US" sz="1400" dirty="0"/>
          </a:p>
        </p:txBody>
      </p:sp>
      <p:sp>
        <p:nvSpPr>
          <p:cNvPr id="17" name="Text 15"/>
          <p:cNvSpPr/>
          <p:nvPr/>
        </p:nvSpPr>
        <p:spPr>
          <a:xfrm>
            <a:off x="0" y="5138928"/>
            <a:ext cx="12188952" cy="274320"/>
          </a:xfrm>
          <a:prstGeom prst="rect">
            <a:avLst/>
          </a:prstGeom>
          <a:noFill/>
          <a:ln/>
        </p:spPr>
        <p:txBody>
          <a:bodyPr wrap="square" rtlCol="0" anchor="ctr"/>
          <a:lstStyle/>
          <a:p>
            <a:pPr algn="ctr" indent="0" marL="0">
              <a:buNone/>
            </a:pPr>
            <a:r>
              <a:rPr lang="en-US" sz="1150" dirty="0">
                <a:solidFill>
                  <a:srgbClr val="5B7385"/>
                </a:solidFill>
                <a:latin typeface="Calibri" pitchFamily="34" charset="0"/>
                <a:ea typeface="Calibri" pitchFamily="34" charset="-122"/>
                <a:cs typeface="Calibri" pitchFamily="34" charset="-120"/>
              </a:rPr>
              <a:t>B.Tech, Computer Science Engineering (AI &amp; ML) · Guru Nanak Institutions Technical Campus, Hyderabad</a:t>
            </a:r>
            <a:endParaRPr lang="en-US" sz="1150" dirty="0"/>
          </a:p>
        </p:txBody>
      </p:sp>
      <p:sp>
        <p:nvSpPr>
          <p:cNvPr id="18" name="Text 16"/>
          <p:cNvSpPr/>
          <p:nvPr/>
        </p:nvSpPr>
        <p:spPr>
          <a:xfrm>
            <a:off x="0" y="5413248"/>
            <a:ext cx="12188952" cy="274320"/>
          </a:xfrm>
          <a:prstGeom prst="rect">
            <a:avLst/>
          </a:prstGeom>
          <a:noFill/>
          <a:ln/>
        </p:spPr>
        <p:txBody>
          <a:bodyPr wrap="square" rtlCol="0" anchor="ctr"/>
          <a:lstStyle/>
          <a:p>
            <a:pPr algn="ctr" indent="0" marL="0">
              <a:buNone/>
            </a:pPr>
            <a:r>
              <a:rPr lang="en-US" sz="1150" dirty="0">
                <a:solidFill>
                  <a:srgbClr val="5B7385"/>
                </a:solidFill>
                <a:latin typeface="Calibri" pitchFamily="34" charset="0"/>
                <a:ea typeface="Calibri" pitchFamily="34" charset="-122"/>
                <a:cs typeface="Calibri" pitchFamily="34" charset="-120"/>
              </a:rPr>
              <a:t>Internship Duration: 1 September 2025 – 27 February 2026</a:t>
            </a:r>
            <a:endParaRPr lang="en-US" sz="1150" dirty="0"/>
          </a:p>
        </p:txBody>
      </p:sp>
      <p:sp>
        <p:nvSpPr>
          <p:cNvPr id="19" name="Text 17"/>
          <p:cNvSpPr/>
          <p:nvPr/>
        </p:nvSpPr>
        <p:spPr>
          <a:xfrm>
            <a:off x="0" y="6172200"/>
            <a:ext cx="12188952" cy="365760"/>
          </a:xfrm>
          <a:prstGeom prst="rect">
            <a:avLst/>
          </a:prstGeom>
          <a:noFill/>
          <a:ln/>
        </p:spPr>
        <p:txBody>
          <a:bodyPr wrap="square" rtlCol="0" anchor="ctr"/>
          <a:lstStyle/>
          <a:p>
            <a:pPr algn="ctr" indent="0" marL="0">
              <a:buNone/>
            </a:pPr>
            <a:r>
              <a:rPr lang="en-US" sz="1200" i="1" dirty="0">
                <a:solidFill>
                  <a:srgbClr val="5B7385"/>
                </a:solidFill>
                <a:latin typeface="Calibri" pitchFamily="34" charset="0"/>
                <a:ea typeface="Calibri" pitchFamily="34" charset="-122"/>
                <a:cs typeface="Calibri" pitchFamily="34" charset="-120"/>
              </a:rPr>
              <a:t>Aerodynamic Coefficient Prediction  ·  Surrogate-Assisted Design Optimization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601200" cy="274320"/>
          </a:xfrm>
          <a:prstGeom prst="rect">
            <a:avLst/>
          </a:prstGeom>
          <a:noFill/>
          <a:ln/>
        </p:spPr>
        <p:txBody>
          <a:bodyPr wrap="square" rtlCol="0" anchor="ctr"/>
          <a:lstStyle/>
          <a:p>
            <a:pPr indent="0" marL="0">
              <a:buNone/>
            </a:pPr>
            <a:r>
              <a:rPr lang="en-US" sz="1150" b="1" spc="200" kern="0" dirty="0">
                <a:solidFill>
                  <a:srgbClr val="2E75B6"/>
                </a:solidFill>
                <a:latin typeface="Calibri" pitchFamily="34" charset="0"/>
                <a:ea typeface="Calibri" pitchFamily="34" charset="-122"/>
                <a:cs typeface="Calibri" pitchFamily="34" charset="-120"/>
              </a:rPr>
              <a:t>PROJECT OVERVIEW</a:t>
            </a:r>
            <a:endParaRPr lang="en-US" sz="1150" dirty="0"/>
          </a:p>
        </p:txBody>
      </p:sp>
      <p:sp>
        <p:nvSpPr>
          <p:cNvPr id="3" name="Text 1"/>
          <p:cNvSpPr/>
          <p:nvPr/>
        </p:nvSpPr>
        <p:spPr>
          <a:xfrm>
            <a:off x="548640" y="566928"/>
            <a:ext cx="10424160" cy="566928"/>
          </a:xfrm>
          <a:prstGeom prst="rect">
            <a:avLst/>
          </a:prstGeom>
          <a:noFill/>
          <a:ln/>
        </p:spPr>
        <p:txBody>
          <a:bodyPr wrap="square" rtlCol="0" anchor="ctr"/>
          <a:lstStyle/>
          <a:p>
            <a:pPr indent="0" marL="0">
              <a:buNone/>
            </a:pPr>
            <a:r>
              <a:rPr lang="en-US" sz="2600" b="1" dirty="0">
                <a:solidFill>
                  <a:srgbClr val="1F4E79"/>
                </a:solidFill>
                <a:latin typeface="Cambria" pitchFamily="34" charset="0"/>
                <a:ea typeface="Cambria" pitchFamily="34" charset="-122"/>
                <a:cs typeface="Cambria" pitchFamily="34" charset="-120"/>
              </a:rPr>
              <a:t>Overview, Problem Statement &amp; Objectives</a:t>
            </a:r>
            <a:endParaRPr lang="en-US" sz="2600" dirty="0"/>
          </a:p>
        </p:txBody>
      </p:sp>
      <p:sp>
        <p:nvSpPr>
          <p:cNvPr id="4" name="Shape 2"/>
          <p:cNvSpPr/>
          <p:nvPr/>
        </p:nvSpPr>
        <p:spPr>
          <a:xfrm>
            <a:off x="11475720" y="384048"/>
            <a:ext cx="420624" cy="420624"/>
          </a:xfrm>
          <a:prstGeom prst="ellipse">
            <a:avLst/>
          </a:prstGeom>
          <a:solidFill>
            <a:srgbClr val="DDEBF8"/>
          </a:solidFill>
          <a:ln/>
        </p:spPr>
      </p:sp>
      <p:sp>
        <p:nvSpPr>
          <p:cNvPr id="5" name="Text 3"/>
          <p:cNvSpPr/>
          <p:nvPr/>
        </p:nvSpPr>
        <p:spPr>
          <a:xfrm>
            <a:off x="11475720" y="384048"/>
            <a:ext cx="420624" cy="420624"/>
          </a:xfrm>
          <a:prstGeom prst="rect">
            <a:avLst/>
          </a:prstGeom>
          <a:noFill/>
          <a:ln/>
        </p:spPr>
        <p:txBody>
          <a:bodyPr wrap="square" rtlCol="0" anchor="ctr"/>
          <a:lstStyle/>
          <a:p>
            <a:pPr algn="ctr" indent="0" marL="0">
              <a:buNone/>
            </a:pPr>
            <a:r>
              <a:rPr lang="en-US" sz="1200" b="1" dirty="0">
                <a:solidFill>
                  <a:srgbClr val="1F4E79"/>
                </a:solidFill>
                <a:latin typeface="Calibri" pitchFamily="34" charset="0"/>
                <a:ea typeface="Calibri" pitchFamily="34" charset="-122"/>
                <a:cs typeface="Calibri" pitchFamily="34" charset="-120"/>
              </a:rPr>
              <a:t>02</a:t>
            </a:r>
            <a:endParaRPr lang="en-US" sz="1200" dirty="0"/>
          </a:p>
        </p:txBody>
      </p:sp>
      <p:sp>
        <p:nvSpPr>
          <p:cNvPr id="6" name="Shape 4"/>
          <p:cNvSpPr/>
          <p:nvPr/>
        </p:nvSpPr>
        <p:spPr>
          <a:xfrm>
            <a:off x="548640" y="1170432"/>
            <a:ext cx="5532120" cy="1965960"/>
          </a:xfrm>
          <a:prstGeom prst="roundRect">
            <a:avLst>
              <a:gd name="adj" fmla="val 4186"/>
            </a:avLst>
          </a:prstGeom>
          <a:solidFill>
            <a:srgbClr val="EAF3FB"/>
          </a:solidFill>
          <a:ln/>
          <a:effectLst>
            <a:outerShdw sx="100000" sy="100000" kx="0" ky="0" algn="bl" rotWithShape="0" blurRad="76200" dist="25400" dir="5400000">
              <a:srgbClr val="9CB7CC">
                <a:alpha val="28000"/>
              </a:srgbClr>
            </a:outerShdw>
          </a:effectLst>
        </p:spPr>
      </p:sp>
      <p:sp>
        <p:nvSpPr>
          <p:cNvPr id="7" name="Text 5"/>
          <p:cNvSpPr/>
          <p:nvPr/>
        </p:nvSpPr>
        <p:spPr>
          <a:xfrm>
            <a:off x="804672" y="1316736"/>
            <a:ext cx="5020056" cy="292608"/>
          </a:xfrm>
          <a:prstGeom prst="rect">
            <a:avLst/>
          </a:prstGeom>
          <a:noFill/>
          <a:ln/>
        </p:spPr>
        <p:txBody>
          <a:bodyPr wrap="square"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Overview</a:t>
            </a:r>
            <a:endParaRPr lang="en-US" sz="1400" dirty="0"/>
          </a:p>
        </p:txBody>
      </p:sp>
      <p:sp>
        <p:nvSpPr>
          <p:cNvPr id="8" name="Text 6"/>
          <p:cNvSpPr/>
          <p:nvPr/>
        </p:nvSpPr>
        <p:spPr>
          <a:xfrm>
            <a:off x="804672" y="1682496"/>
            <a:ext cx="5020056" cy="1325880"/>
          </a:xfrm>
          <a:prstGeom prst="rect">
            <a:avLst/>
          </a:prstGeom>
          <a:noFill/>
          <a:ln/>
        </p:spPr>
        <p:txBody>
          <a:bodyPr wrap="square" rtlCol="0" anchor="t"/>
          <a:lstStyle/>
          <a:p>
            <a:pPr indent="0" marL="0">
              <a:lnSpc>
                <a:spcPct val="114000"/>
              </a:lnSpc>
              <a:buNone/>
            </a:pPr>
            <a:r>
              <a:rPr lang="en-US" sz="1200" dirty="0">
                <a:solidFill>
                  <a:srgbClr val="24313F"/>
                </a:solidFill>
                <a:latin typeface="Calibri" pitchFamily="34" charset="0"/>
                <a:ea typeface="Calibri" pitchFamily="34" charset="-122"/>
                <a:cs typeface="Calibri" pitchFamily="34" charset="-120"/>
              </a:rPr>
              <a:t>This project develops a data-driven modelling framework for aerodynamic configuration design and optimization. Machine learning surrogate models are trained on geometric and flight-condition data to rapidly predict aerodynamic coefficients (CL, CD, XCP, CN, CM), replacing costly, repeated high-fidelity simulations.</a:t>
            </a:r>
            <a:endParaRPr lang="en-US" sz="1200" dirty="0"/>
          </a:p>
        </p:txBody>
      </p:sp>
      <p:sp>
        <p:nvSpPr>
          <p:cNvPr id="9" name="Shape 7"/>
          <p:cNvSpPr/>
          <p:nvPr/>
        </p:nvSpPr>
        <p:spPr>
          <a:xfrm>
            <a:off x="6199632" y="1170432"/>
            <a:ext cx="5440680" cy="1965960"/>
          </a:xfrm>
          <a:prstGeom prst="roundRect">
            <a:avLst>
              <a:gd name="adj" fmla="val 4186"/>
            </a:avLst>
          </a:prstGeom>
          <a:solidFill>
            <a:srgbClr val="DDEBF8"/>
          </a:solidFill>
          <a:ln/>
          <a:effectLst>
            <a:outerShdw sx="100000" sy="100000" kx="0" ky="0" algn="bl" rotWithShape="0" blurRad="76200" dist="25400" dir="5400000">
              <a:srgbClr val="9CB7CC">
                <a:alpha val="28000"/>
              </a:srgbClr>
            </a:outerShdw>
          </a:effectLst>
        </p:spPr>
      </p:sp>
      <p:sp>
        <p:nvSpPr>
          <p:cNvPr id="10" name="Text 8"/>
          <p:cNvSpPr/>
          <p:nvPr/>
        </p:nvSpPr>
        <p:spPr>
          <a:xfrm>
            <a:off x="6455664" y="1316736"/>
            <a:ext cx="4928616" cy="292608"/>
          </a:xfrm>
          <a:prstGeom prst="rect">
            <a:avLst/>
          </a:prstGeom>
          <a:noFill/>
          <a:ln/>
        </p:spPr>
        <p:txBody>
          <a:bodyPr wrap="square"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Problem Statement</a:t>
            </a:r>
            <a:endParaRPr lang="en-US" sz="1400" dirty="0"/>
          </a:p>
        </p:txBody>
      </p:sp>
      <p:sp>
        <p:nvSpPr>
          <p:cNvPr id="11" name="Text 9"/>
          <p:cNvSpPr/>
          <p:nvPr/>
        </p:nvSpPr>
        <p:spPr>
          <a:xfrm>
            <a:off x="6455664" y="1682496"/>
            <a:ext cx="4928616" cy="1325880"/>
          </a:xfrm>
          <a:prstGeom prst="rect">
            <a:avLst/>
          </a:prstGeom>
          <a:noFill/>
          <a:ln/>
        </p:spPr>
        <p:txBody>
          <a:bodyPr wrap="square" rtlCol="0" anchor="t"/>
          <a:lstStyle/>
          <a:p>
            <a:pPr indent="0" marL="0">
              <a:lnSpc>
                <a:spcPct val="114000"/>
              </a:lnSpc>
              <a:buNone/>
            </a:pPr>
            <a:r>
              <a:rPr lang="en-US" sz="1200" dirty="0">
                <a:solidFill>
                  <a:srgbClr val="24313F"/>
                </a:solidFill>
                <a:latin typeface="Calibri" pitchFamily="34" charset="0"/>
                <a:ea typeface="Calibri" pitchFamily="34" charset="-122"/>
                <a:cs typeface="Calibri" pitchFamily="34" charset="-120"/>
              </a:rPr>
              <a:t>A typical aerodynamic configuration is arrived at through a fusion of empirical, numerical and experimental methods, plus experience from a baseline design — a process that is often sub-optimal. Data science offers a way to instead pursue a truly optimal aerodynamic configuration design.</a:t>
            </a:r>
            <a:endParaRPr lang="en-US" sz="1200" dirty="0"/>
          </a:p>
        </p:txBody>
      </p:sp>
      <p:sp>
        <p:nvSpPr>
          <p:cNvPr id="12" name="Text 10"/>
          <p:cNvSpPr/>
          <p:nvPr/>
        </p:nvSpPr>
        <p:spPr>
          <a:xfrm>
            <a:off x="548640" y="3310128"/>
            <a:ext cx="9144000" cy="274320"/>
          </a:xfrm>
          <a:prstGeom prst="rect">
            <a:avLst/>
          </a:prstGeom>
          <a:noFill/>
          <a:ln/>
        </p:spPr>
        <p:txBody>
          <a:bodyPr wrap="square" rtlCol="0" anchor="ctr"/>
          <a:lstStyle/>
          <a:p>
            <a:pPr indent="0" marL="0">
              <a:buNone/>
            </a:pPr>
            <a:r>
              <a:rPr lang="en-US" sz="1200" b="1" spc="150" kern="0" dirty="0">
                <a:solidFill>
                  <a:srgbClr val="2E75B6"/>
                </a:solidFill>
                <a:latin typeface="Calibri" pitchFamily="34" charset="0"/>
                <a:ea typeface="Calibri" pitchFamily="34" charset="-122"/>
                <a:cs typeface="Calibri" pitchFamily="34" charset="-120"/>
              </a:rPr>
              <a:t>ROLES &amp; RESPONSIBILITIES DURING THE INTERNSHIP</a:t>
            </a:r>
            <a:endParaRPr lang="en-US" sz="1200" dirty="0"/>
          </a:p>
        </p:txBody>
      </p:sp>
      <p:sp>
        <p:nvSpPr>
          <p:cNvPr id="13" name="Shape 11"/>
          <p:cNvSpPr/>
          <p:nvPr/>
        </p:nvSpPr>
        <p:spPr>
          <a:xfrm>
            <a:off x="2345436" y="3794760"/>
            <a:ext cx="384048" cy="384048"/>
          </a:xfrm>
          <a:prstGeom prst="ellipse">
            <a:avLst/>
          </a:prstGeom>
          <a:solidFill>
            <a:srgbClr val="2E75B6"/>
          </a:solidFill>
          <a:ln/>
        </p:spPr>
      </p:sp>
      <p:sp>
        <p:nvSpPr>
          <p:cNvPr id="14" name="Text 12"/>
          <p:cNvSpPr/>
          <p:nvPr/>
        </p:nvSpPr>
        <p:spPr>
          <a:xfrm>
            <a:off x="2345436" y="3794760"/>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5" name="Text 13"/>
          <p:cNvSpPr/>
          <p:nvPr/>
        </p:nvSpPr>
        <p:spPr>
          <a:xfrm>
            <a:off x="2025396" y="4233672"/>
            <a:ext cx="1024128" cy="274320"/>
          </a:xfrm>
          <a:prstGeom prst="rect">
            <a:avLst/>
          </a:prstGeom>
          <a:noFill/>
          <a:ln/>
        </p:spPr>
        <p:txBody>
          <a:bodyPr wrap="square" rtlCol="0" anchor="ctr"/>
          <a:lstStyle/>
          <a:p>
            <a:pPr algn="ctr" indent="0" marL="0">
              <a:buNone/>
            </a:pPr>
            <a:r>
              <a:rPr lang="en-US" sz="1150" b="1" dirty="0">
                <a:solidFill>
                  <a:srgbClr val="1F4E79"/>
                </a:solidFill>
                <a:latin typeface="Calibri" pitchFamily="34" charset="0"/>
                <a:ea typeface="Calibri" pitchFamily="34" charset="-122"/>
                <a:cs typeface="Calibri" pitchFamily="34" charset="-120"/>
              </a:rPr>
              <a:t>Predict</a:t>
            </a:r>
            <a:endParaRPr lang="en-US" sz="1150" dirty="0"/>
          </a:p>
        </p:txBody>
      </p:sp>
      <p:sp>
        <p:nvSpPr>
          <p:cNvPr id="16" name="Text 14"/>
          <p:cNvSpPr/>
          <p:nvPr/>
        </p:nvSpPr>
        <p:spPr>
          <a:xfrm>
            <a:off x="1933956" y="4507992"/>
            <a:ext cx="1207008" cy="502920"/>
          </a:xfrm>
          <a:prstGeom prst="rect">
            <a:avLst/>
          </a:prstGeom>
          <a:noFill/>
          <a:ln/>
        </p:spPr>
        <p:txBody>
          <a:bodyPr wrap="square" rtlCol="0" anchor="t"/>
          <a:lstStyle/>
          <a:p>
            <a:pPr algn="ctr" indent="0" marL="0">
              <a:lnSpc>
                <a:spcPct val="105000"/>
              </a:lnSpc>
              <a:buNone/>
            </a:pPr>
            <a:r>
              <a:rPr lang="en-US" sz="930" dirty="0">
                <a:solidFill>
                  <a:srgbClr val="5B7385"/>
                </a:solidFill>
                <a:latin typeface="Calibri" pitchFamily="34" charset="0"/>
                <a:ea typeface="Calibri" pitchFamily="34" charset="-122"/>
                <a:cs typeface="Calibri" pitchFamily="34" charset="-120"/>
              </a:rPr>
              <a:t>Build ML surrogate models to predict CL, CD, XCP, CN and CM</a:t>
            </a:r>
            <a:endParaRPr lang="en-US" sz="930" dirty="0"/>
          </a:p>
        </p:txBody>
      </p:sp>
      <p:sp>
        <p:nvSpPr>
          <p:cNvPr id="17" name="Shape 15"/>
          <p:cNvSpPr/>
          <p:nvPr/>
        </p:nvSpPr>
        <p:spPr>
          <a:xfrm>
            <a:off x="4485132" y="3794760"/>
            <a:ext cx="384048" cy="384048"/>
          </a:xfrm>
          <a:prstGeom prst="ellipse">
            <a:avLst/>
          </a:prstGeom>
          <a:solidFill>
            <a:srgbClr val="2E75B6"/>
          </a:solidFill>
          <a:ln/>
        </p:spPr>
      </p:sp>
      <p:sp>
        <p:nvSpPr>
          <p:cNvPr id="18" name="Text 16"/>
          <p:cNvSpPr/>
          <p:nvPr/>
        </p:nvSpPr>
        <p:spPr>
          <a:xfrm>
            <a:off x="4485132" y="3794760"/>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9" name="Text 17"/>
          <p:cNvSpPr/>
          <p:nvPr/>
        </p:nvSpPr>
        <p:spPr>
          <a:xfrm>
            <a:off x="4165092" y="4233672"/>
            <a:ext cx="1024128" cy="274320"/>
          </a:xfrm>
          <a:prstGeom prst="rect">
            <a:avLst/>
          </a:prstGeom>
          <a:noFill/>
          <a:ln/>
        </p:spPr>
        <p:txBody>
          <a:bodyPr wrap="square" rtlCol="0" anchor="ctr"/>
          <a:lstStyle/>
          <a:p>
            <a:pPr algn="ctr" indent="0" marL="0">
              <a:buNone/>
            </a:pPr>
            <a:r>
              <a:rPr lang="en-US" sz="1150" b="1" dirty="0">
                <a:solidFill>
                  <a:srgbClr val="1F4E79"/>
                </a:solidFill>
                <a:latin typeface="Calibri" pitchFamily="34" charset="0"/>
                <a:ea typeface="Calibri" pitchFamily="34" charset="-122"/>
                <a:cs typeface="Calibri" pitchFamily="34" charset="-120"/>
              </a:rPr>
              <a:t>Preprocess &amp; Train</a:t>
            </a:r>
            <a:endParaRPr lang="en-US" sz="1150" dirty="0"/>
          </a:p>
        </p:txBody>
      </p:sp>
      <p:sp>
        <p:nvSpPr>
          <p:cNvPr id="20" name="Text 18"/>
          <p:cNvSpPr/>
          <p:nvPr/>
        </p:nvSpPr>
        <p:spPr>
          <a:xfrm>
            <a:off x="4073652" y="4507992"/>
            <a:ext cx="1207008" cy="502920"/>
          </a:xfrm>
          <a:prstGeom prst="rect">
            <a:avLst/>
          </a:prstGeom>
          <a:noFill/>
          <a:ln/>
        </p:spPr>
        <p:txBody>
          <a:bodyPr wrap="square" rtlCol="0" anchor="t"/>
          <a:lstStyle/>
          <a:p>
            <a:pPr algn="ctr" indent="0" marL="0">
              <a:lnSpc>
                <a:spcPct val="105000"/>
              </a:lnSpc>
              <a:buNone/>
            </a:pPr>
            <a:r>
              <a:rPr lang="en-US" sz="930" dirty="0">
                <a:solidFill>
                  <a:srgbClr val="5B7385"/>
                </a:solidFill>
                <a:latin typeface="Calibri" pitchFamily="34" charset="0"/>
                <a:ea typeface="Calibri" pitchFamily="34" charset="-122"/>
                <a:cs typeface="Calibri" pitchFamily="34" charset="-120"/>
              </a:rPr>
              <a:t>Normalize data and train XGBoost regression models per target</a:t>
            </a:r>
            <a:endParaRPr lang="en-US" sz="930" dirty="0"/>
          </a:p>
        </p:txBody>
      </p:sp>
      <p:sp>
        <p:nvSpPr>
          <p:cNvPr id="21" name="Shape 19"/>
          <p:cNvSpPr/>
          <p:nvPr/>
        </p:nvSpPr>
        <p:spPr>
          <a:xfrm>
            <a:off x="6624828" y="3794760"/>
            <a:ext cx="384048" cy="384048"/>
          </a:xfrm>
          <a:prstGeom prst="ellipse">
            <a:avLst/>
          </a:prstGeom>
          <a:solidFill>
            <a:srgbClr val="2E75B6"/>
          </a:solidFill>
          <a:ln/>
        </p:spPr>
      </p:sp>
      <p:sp>
        <p:nvSpPr>
          <p:cNvPr id="22" name="Text 20"/>
          <p:cNvSpPr/>
          <p:nvPr/>
        </p:nvSpPr>
        <p:spPr>
          <a:xfrm>
            <a:off x="6624828" y="3794760"/>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3" name="Text 21"/>
          <p:cNvSpPr/>
          <p:nvPr/>
        </p:nvSpPr>
        <p:spPr>
          <a:xfrm>
            <a:off x="6304788" y="4233672"/>
            <a:ext cx="1024128" cy="274320"/>
          </a:xfrm>
          <a:prstGeom prst="rect">
            <a:avLst/>
          </a:prstGeom>
          <a:noFill/>
          <a:ln/>
        </p:spPr>
        <p:txBody>
          <a:bodyPr wrap="square" rtlCol="0" anchor="ctr"/>
          <a:lstStyle/>
          <a:p>
            <a:pPr algn="ctr" indent="0" marL="0">
              <a:buNone/>
            </a:pPr>
            <a:r>
              <a:rPr lang="en-US" sz="1150" b="1" dirty="0">
                <a:solidFill>
                  <a:srgbClr val="1F4E79"/>
                </a:solidFill>
                <a:latin typeface="Calibri" pitchFamily="34" charset="0"/>
                <a:ea typeface="Calibri" pitchFamily="34" charset="-122"/>
                <a:cs typeface="Calibri" pitchFamily="34" charset="-120"/>
              </a:rPr>
              <a:t>Optimize</a:t>
            </a:r>
            <a:endParaRPr lang="en-US" sz="1150" dirty="0"/>
          </a:p>
        </p:txBody>
      </p:sp>
      <p:sp>
        <p:nvSpPr>
          <p:cNvPr id="24" name="Text 22"/>
          <p:cNvSpPr/>
          <p:nvPr/>
        </p:nvSpPr>
        <p:spPr>
          <a:xfrm>
            <a:off x="6213348" y="4507992"/>
            <a:ext cx="1207008" cy="502920"/>
          </a:xfrm>
          <a:prstGeom prst="rect">
            <a:avLst/>
          </a:prstGeom>
          <a:noFill/>
          <a:ln/>
        </p:spPr>
        <p:txBody>
          <a:bodyPr wrap="square" rtlCol="0" anchor="t"/>
          <a:lstStyle/>
          <a:p>
            <a:pPr algn="ctr" indent="0" marL="0">
              <a:lnSpc>
                <a:spcPct val="105000"/>
              </a:lnSpc>
              <a:buNone/>
            </a:pPr>
            <a:r>
              <a:rPr lang="en-US" sz="930" dirty="0">
                <a:solidFill>
                  <a:srgbClr val="5B7385"/>
                </a:solidFill>
                <a:latin typeface="Calibri" pitchFamily="34" charset="0"/>
                <a:ea typeface="Calibri" pitchFamily="34" charset="-122"/>
                <a:cs typeface="Calibri" pitchFamily="34" charset="-120"/>
              </a:rPr>
              <a:t>Integrate the surrogate with Differential Evolution optimization</a:t>
            </a:r>
            <a:endParaRPr lang="en-US" sz="930" dirty="0"/>
          </a:p>
        </p:txBody>
      </p:sp>
      <p:sp>
        <p:nvSpPr>
          <p:cNvPr id="25" name="Shape 23"/>
          <p:cNvSpPr/>
          <p:nvPr/>
        </p:nvSpPr>
        <p:spPr>
          <a:xfrm>
            <a:off x="8764524" y="3794760"/>
            <a:ext cx="384048" cy="384048"/>
          </a:xfrm>
          <a:prstGeom prst="ellipse">
            <a:avLst/>
          </a:prstGeom>
          <a:solidFill>
            <a:srgbClr val="2E75B6"/>
          </a:solidFill>
          <a:ln/>
        </p:spPr>
      </p:sp>
      <p:sp>
        <p:nvSpPr>
          <p:cNvPr id="26" name="Text 24"/>
          <p:cNvSpPr/>
          <p:nvPr/>
        </p:nvSpPr>
        <p:spPr>
          <a:xfrm>
            <a:off x="8764524" y="3794760"/>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7" name="Text 25"/>
          <p:cNvSpPr/>
          <p:nvPr/>
        </p:nvSpPr>
        <p:spPr>
          <a:xfrm>
            <a:off x="8444484" y="4233672"/>
            <a:ext cx="1024128" cy="274320"/>
          </a:xfrm>
          <a:prstGeom prst="rect">
            <a:avLst/>
          </a:prstGeom>
          <a:noFill/>
          <a:ln/>
        </p:spPr>
        <p:txBody>
          <a:bodyPr wrap="square" rtlCol="0" anchor="ctr"/>
          <a:lstStyle/>
          <a:p>
            <a:pPr algn="ctr" indent="0" marL="0">
              <a:buNone/>
            </a:pPr>
            <a:r>
              <a:rPr lang="en-US" sz="1150" b="1" dirty="0">
                <a:solidFill>
                  <a:srgbClr val="1F4E79"/>
                </a:solidFill>
                <a:latin typeface="Calibri" pitchFamily="34" charset="0"/>
                <a:ea typeface="Calibri" pitchFamily="34" charset="-122"/>
                <a:cs typeface="Calibri" pitchFamily="34" charset="-120"/>
              </a:rPr>
              <a:t>Validate</a:t>
            </a:r>
            <a:endParaRPr lang="en-US" sz="1150" dirty="0"/>
          </a:p>
        </p:txBody>
      </p:sp>
      <p:sp>
        <p:nvSpPr>
          <p:cNvPr id="28" name="Text 26"/>
          <p:cNvSpPr/>
          <p:nvPr/>
        </p:nvSpPr>
        <p:spPr>
          <a:xfrm>
            <a:off x="8353044" y="4507992"/>
            <a:ext cx="1207008" cy="502920"/>
          </a:xfrm>
          <a:prstGeom prst="rect">
            <a:avLst/>
          </a:prstGeom>
          <a:noFill/>
          <a:ln/>
        </p:spPr>
        <p:txBody>
          <a:bodyPr wrap="square" rtlCol="0" anchor="t"/>
          <a:lstStyle/>
          <a:p>
            <a:pPr algn="ctr" indent="0" marL="0">
              <a:lnSpc>
                <a:spcPct val="105000"/>
              </a:lnSpc>
              <a:buNone/>
            </a:pPr>
            <a:r>
              <a:rPr lang="en-US" sz="930" dirty="0">
                <a:solidFill>
                  <a:srgbClr val="5B7385"/>
                </a:solidFill>
                <a:latin typeface="Calibri" pitchFamily="34" charset="0"/>
                <a:ea typeface="Calibri" pitchFamily="34" charset="-122"/>
                <a:cs typeface="Calibri" pitchFamily="34" charset="-120"/>
              </a:rPr>
              <a:t>Compare predicted vs. actual values and interpret validation plots</a:t>
            </a:r>
            <a:endParaRPr lang="en-US" sz="930" dirty="0"/>
          </a:p>
        </p:txBody>
      </p:sp>
      <p:sp>
        <p:nvSpPr>
          <p:cNvPr id="29" name="Shape 27"/>
          <p:cNvSpPr/>
          <p:nvPr/>
        </p:nvSpPr>
        <p:spPr>
          <a:xfrm>
            <a:off x="10904220" y="3794760"/>
            <a:ext cx="384048" cy="384048"/>
          </a:xfrm>
          <a:prstGeom prst="ellipse">
            <a:avLst/>
          </a:prstGeom>
          <a:solidFill>
            <a:srgbClr val="2E75B6"/>
          </a:solidFill>
          <a:ln/>
        </p:spPr>
      </p:sp>
      <p:sp>
        <p:nvSpPr>
          <p:cNvPr id="30" name="Text 28"/>
          <p:cNvSpPr/>
          <p:nvPr/>
        </p:nvSpPr>
        <p:spPr>
          <a:xfrm>
            <a:off x="10904220" y="3794760"/>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1" name="Text 29"/>
          <p:cNvSpPr/>
          <p:nvPr/>
        </p:nvSpPr>
        <p:spPr>
          <a:xfrm>
            <a:off x="10584180" y="4233672"/>
            <a:ext cx="1024128" cy="274320"/>
          </a:xfrm>
          <a:prstGeom prst="rect">
            <a:avLst/>
          </a:prstGeom>
          <a:noFill/>
          <a:ln/>
        </p:spPr>
        <p:txBody>
          <a:bodyPr wrap="square" rtlCol="0" anchor="ctr"/>
          <a:lstStyle/>
          <a:p>
            <a:pPr algn="ctr" indent="0" marL="0">
              <a:buNone/>
            </a:pPr>
            <a:r>
              <a:rPr lang="en-US" sz="1150" b="1" dirty="0">
                <a:solidFill>
                  <a:srgbClr val="1F4E79"/>
                </a:solidFill>
                <a:latin typeface="Calibri" pitchFamily="34" charset="0"/>
                <a:ea typeface="Calibri" pitchFamily="34" charset="-122"/>
                <a:cs typeface="Calibri" pitchFamily="34" charset="-120"/>
              </a:rPr>
              <a:t>Document</a:t>
            </a:r>
            <a:endParaRPr lang="en-US" sz="1150" dirty="0"/>
          </a:p>
        </p:txBody>
      </p:sp>
      <p:sp>
        <p:nvSpPr>
          <p:cNvPr id="32" name="Text 30"/>
          <p:cNvSpPr/>
          <p:nvPr/>
        </p:nvSpPr>
        <p:spPr>
          <a:xfrm>
            <a:off x="10492740" y="4507992"/>
            <a:ext cx="1207008" cy="502920"/>
          </a:xfrm>
          <a:prstGeom prst="rect">
            <a:avLst/>
          </a:prstGeom>
          <a:noFill/>
          <a:ln/>
        </p:spPr>
        <p:txBody>
          <a:bodyPr wrap="square" rtlCol="0" anchor="t"/>
          <a:lstStyle/>
          <a:p>
            <a:pPr algn="ctr" indent="0" marL="0">
              <a:lnSpc>
                <a:spcPct val="105000"/>
              </a:lnSpc>
              <a:buNone/>
            </a:pPr>
            <a:r>
              <a:rPr lang="en-US" sz="930" dirty="0">
                <a:solidFill>
                  <a:srgbClr val="5B7385"/>
                </a:solidFill>
                <a:latin typeface="Calibri" pitchFamily="34" charset="0"/>
                <a:ea typeface="Calibri" pitchFamily="34" charset="-122"/>
                <a:cs typeface="Calibri" pitchFamily="34" charset="-120"/>
              </a:rPr>
              <a:t>Record methodology, experiments and findings in a structured report</a:t>
            </a:r>
            <a:endParaRPr lang="en-US" sz="93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601200" cy="274320"/>
          </a:xfrm>
          <a:prstGeom prst="rect">
            <a:avLst/>
          </a:prstGeom>
          <a:noFill/>
          <a:ln/>
        </p:spPr>
        <p:txBody>
          <a:bodyPr wrap="square" rtlCol="0" anchor="ctr"/>
          <a:lstStyle/>
          <a:p>
            <a:pPr indent="0" marL="0">
              <a:buNone/>
            </a:pPr>
            <a:r>
              <a:rPr lang="en-US" sz="1150" b="1" spc="200" kern="0" dirty="0">
                <a:solidFill>
                  <a:srgbClr val="2E75B6"/>
                </a:solidFill>
                <a:latin typeface="Calibri" pitchFamily="34" charset="0"/>
                <a:ea typeface="Calibri" pitchFamily="34" charset="-122"/>
                <a:cs typeface="Calibri" pitchFamily="34" charset="-120"/>
              </a:rPr>
              <a:t>DATA &amp; METHODOLOGY</a:t>
            </a:r>
            <a:endParaRPr lang="en-US" sz="1150" dirty="0"/>
          </a:p>
        </p:txBody>
      </p:sp>
      <p:sp>
        <p:nvSpPr>
          <p:cNvPr id="3" name="Text 1"/>
          <p:cNvSpPr/>
          <p:nvPr/>
        </p:nvSpPr>
        <p:spPr>
          <a:xfrm>
            <a:off x="548640" y="566928"/>
            <a:ext cx="10424160" cy="566928"/>
          </a:xfrm>
          <a:prstGeom prst="rect">
            <a:avLst/>
          </a:prstGeom>
          <a:noFill/>
          <a:ln/>
        </p:spPr>
        <p:txBody>
          <a:bodyPr wrap="square" rtlCol="0" anchor="ctr"/>
          <a:lstStyle/>
          <a:p>
            <a:pPr indent="0" marL="0">
              <a:buNone/>
            </a:pPr>
            <a:r>
              <a:rPr lang="en-US" sz="2600" b="1" dirty="0">
                <a:solidFill>
                  <a:srgbClr val="1F4E79"/>
                </a:solidFill>
                <a:latin typeface="Cambria" pitchFamily="34" charset="0"/>
                <a:ea typeface="Cambria" pitchFamily="34" charset="-122"/>
                <a:cs typeface="Cambria" pitchFamily="34" charset="-120"/>
              </a:rPr>
              <a:t>Dataset, Preprocessing &amp; Pipeline</a:t>
            </a:r>
            <a:endParaRPr lang="en-US" sz="2600" dirty="0"/>
          </a:p>
        </p:txBody>
      </p:sp>
      <p:sp>
        <p:nvSpPr>
          <p:cNvPr id="4" name="Shape 2"/>
          <p:cNvSpPr/>
          <p:nvPr/>
        </p:nvSpPr>
        <p:spPr>
          <a:xfrm>
            <a:off x="11475720" y="384048"/>
            <a:ext cx="420624" cy="420624"/>
          </a:xfrm>
          <a:prstGeom prst="ellipse">
            <a:avLst/>
          </a:prstGeom>
          <a:solidFill>
            <a:srgbClr val="DDEBF8"/>
          </a:solidFill>
          <a:ln/>
        </p:spPr>
      </p:sp>
      <p:sp>
        <p:nvSpPr>
          <p:cNvPr id="5" name="Text 3"/>
          <p:cNvSpPr/>
          <p:nvPr/>
        </p:nvSpPr>
        <p:spPr>
          <a:xfrm>
            <a:off x="11475720" y="384048"/>
            <a:ext cx="420624" cy="420624"/>
          </a:xfrm>
          <a:prstGeom prst="rect">
            <a:avLst/>
          </a:prstGeom>
          <a:noFill/>
          <a:ln/>
        </p:spPr>
        <p:txBody>
          <a:bodyPr wrap="square" rtlCol="0" anchor="ctr"/>
          <a:lstStyle/>
          <a:p>
            <a:pPr algn="ctr" indent="0" marL="0">
              <a:buNone/>
            </a:pPr>
            <a:r>
              <a:rPr lang="en-US" sz="1200" b="1" dirty="0">
                <a:solidFill>
                  <a:srgbClr val="1F4E79"/>
                </a:solidFill>
                <a:latin typeface="Calibri" pitchFamily="34" charset="0"/>
                <a:ea typeface="Calibri" pitchFamily="34" charset="-122"/>
                <a:cs typeface="Calibri" pitchFamily="34" charset="-120"/>
              </a:rPr>
              <a:t>03</a:t>
            </a:r>
            <a:endParaRPr lang="en-US" sz="1200" dirty="0"/>
          </a:p>
        </p:txBody>
      </p:sp>
      <p:sp>
        <p:nvSpPr>
          <p:cNvPr id="6" name="Shape 4"/>
          <p:cNvSpPr/>
          <p:nvPr/>
        </p:nvSpPr>
        <p:spPr>
          <a:xfrm>
            <a:off x="548640" y="1170432"/>
            <a:ext cx="3520440" cy="2331720"/>
          </a:xfrm>
          <a:prstGeom prst="roundRect">
            <a:avLst>
              <a:gd name="adj" fmla="val 3529"/>
            </a:avLst>
          </a:prstGeom>
          <a:solidFill>
            <a:srgbClr val="EAF3FB"/>
          </a:solidFill>
          <a:ln/>
          <a:effectLst>
            <a:outerShdw sx="100000" sy="100000" kx="0" ky="0" algn="bl" rotWithShape="0" blurRad="76200" dist="25400" dir="5400000">
              <a:srgbClr val="9CB7CC">
                <a:alpha val="28000"/>
              </a:srgbClr>
            </a:outerShdw>
          </a:effectLst>
        </p:spPr>
      </p:sp>
      <p:sp>
        <p:nvSpPr>
          <p:cNvPr id="7" name="Text 5"/>
          <p:cNvSpPr/>
          <p:nvPr/>
        </p:nvSpPr>
        <p:spPr>
          <a:xfrm>
            <a:off x="804672" y="1316736"/>
            <a:ext cx="3008376" cy="292608"/>
          </a:xfrm>
          <a:prstGeom prst="rect">
            <a:avLst/>
          </a:prstGeom>
          <a:noFill/>
          <a:ln/>
        </p:spPr>
        <p:txBody>
          <a:bodyPr wrap="square"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Input Parameters</a:t>
            </a:r>
            <a:endParaRPr lang="en-US" sz="1400" dirty="0"/>
          </a:p>
        </p:txBody>
      </p:sp>
      <p:sp>
        <p:nvSpPr>
          <p:cNvPr id="8" name="Text 6"/>
          <p:cNvSpPr/>
          <p:nvPr/>
        </p:nvSpPr>
        <p:spPr>
          <a:xfrm>
            <a:off x="804672" y="1682496"/>
            <a:ext cx="3008376" cy="1691640"/>
          </a:xfrm>
          <a:prstGeom prst="rect">
            <a:avLst/>
          </a:prstGeom>
          <a:noFill/>
          <a:ln/>
        </p:spPr>
        <p:txBody>
          <a:bodyPr wrap="square" rtlCol="0" anchor="t"/>
          <a:lstStyle/>
          <a:p>
            <a:pPr marL="177800" indent="-177800">
              <a:lnSpc>
                <a:spcPct val="108000"/>
              </a:lnSpc>
              <a:spcAft>
                <a:spcPts val="500"/>
              </a:spcAft>
              <a:buSzPct val="100000"/>
              <a:buChar char="●"/>
            </a:pPr>
            <a:r>
              <a:rPr lang="en-US" sz="1250" dirty="0">
                <a:solidFill>
                  <a:srgbClr val="24313F"/>
                </a:solidFill>
                <a:latin typeface="Calibri" pitchFamily="34" charset="0"/>
                <a:ea typeface="Calibri" pitchFamily="34" charset="-122"/>
                <a:cs typeface="Calibri" pitchFamily="34" charset="-120"/>
              </a:rPr>
              <a:t>15 geometric configuration variables (nose, wing, tail geometry)</a:t>
            </a:r>
            <a:endParaRPr lang="en-US" sz="1250" dirty="0"/>
          </a:p>
          <a:p>
            <a:pPr marL="177800" indent="-177800">
              <a:lnSpc>
                <a:spcPct val="108000"/>
              </a:lnSpc>
              <a:spcAft>
                <a:spcPts val="500"/>
              </a:spcAft>
              <a:buSzPct val="100000"/>
              <a:buChar char="●"/>
            </a:pPr>
            <a:r>
              <a:rPr lang="en-US" sz="1250" dirty="0">
                <a:solidFill>
                  <a:srgbClr val="24313F"/>
                </a:solidFill>
                <a:latin typeface="Calibri" pitchFamily="34" charset="0"/>
                <a:ea typeface="Calibri" pitchFamily="34" charset="-122"/>
                <a:cs typeface="Calibri" pitchFamily="34" charset="-120"/>
              </a:rPr>
              <a:t>Mach number</a:t>
            </a:r>
            <a:endParaRPr lang="en-US" sz="1250" dirty="0"/>
          </a:p>
          <a:p>
            <a:pPr marL="177800" indent="-177800">
              <a:lnSpc>
                <a:spcPct val="108000"/>
              </a:lnSpc>
              <a:spcAft>
                <a:spcPts val="500"/>
              </a:spcAft>
              <a:buSzPct val="100000"/>
              <a:buChar char="●"/>
            </a:pPr>
            <a:r>
              <a:rPr lang="en-US" sz="1250" dirty="0">
                <a:solidFill>
                  <a:srgbClr val="24313F"/>
                </a:solidFill>
                <a:latin typeface="Calibri" pitchFamily="34" charset="0"/>
                <a:ea typeface="Calibri" pitchFamily="34" charset="-122"/>
                <a:cs typeface="Calibri" pitchFamily="34" charset="-120"/>
              </a:rPr>
              <a:t>Angle of attack (α)</a:t>
            </a:r>
            <a:endParaRPr lang="en-US" sz="1250" dirty="0"/>
          </a:p>
          <a:p>
            <a:pPr marL="177800" indent="-177800">
              <a:lnSpc>
                <a:spcPct val="108000"/>
              </a:lnSpc>
              <a:spcAft>
                <a:spcPts val="500"/>
              </a:spcAft>
              <a:buSzPct val="100000"/>
              <a:buChar char="●"/>
            </a:pPr>
            <a:r>
              <a:rPr lang="en-US" sz="1250" dirty="0">
                <a:solidFill>
                  <a:srgbClr val="24313F"/>
                </a:solidFill>
                <a:latin typeface="Calibri" pitchFamily="34" charset="0"/>
                <a:ea typeface="Calibri" pitchFamily="34" charset="-122"/>
                <a:cs typeface="Calibri" pitchFamily="34" charset="-120"/>
              </a:rPr>
              <a:t>Altitude</a:t>
            </a:r>
            <a:endParaRPr lang="en-US" sz="1250" dirty="0"/>
          </a:p>
        </p:txBody>
      </p:sp>
      <p:sp>
        <p:nvSpPr>
          <p:cNvPr id="9" name="Shape 7"/>
          <p:cNvSpPr/>
          <p:nvPr/>
        </p:nvSpPr>
        <p:spPr>
          <a:xfrm>
            <a:off x="4206240" y="1170432"/>
            <a:ext cx="3520440" cy="2331720"/>
          </a:xfrm>
          <a:prstGeom prst="roundRect">
            <a:avLst>
              <a:gd name="adj" fmla="val 3529"/>
            </a:avLst>
          </a:prstGeom>
          <a:solidFill>
            <a:srgbClr val="DDEBF8"/>
          </a:solidFill>
          <a:ln/>
          <a:effectLst>
            <a:outerShdw sx="100000" sy="100000" kx="0" ky="0" algn="bl" rotWithShape="0" blurRad="76200" dist="25400" dir="5400000">
              <a:srgbClr val="9CB7CC">
                <a:alpha val="28000"/>
              </a:srgbClr>
            </a:outerShdw>
          </a:effectLst>
        </p:spPr>
      </p:sp>
      <p:sp>
        <p:nvSpPr>
          <p:cNvPr id="10" name="Text 8"/>
          <p:cNvSpPr/>
          <p:nvPr/>
        </p:nvSpPr>
        <p:spPr>
          <a:xfrm>
            <a:off x="4462272" y="1316736"/>
            <a:ext cx="3008376" cy="292608"/>
          </a:xfrm>
          <a:prstGeom prst="rect">
            <a:avLst/>
          </a:prstGeom>
          <a:noFill/>
          <a:ln/>
        </p:spPr>
        <p:txBody>
          <a:bodyPr wrap="square"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Target Outputs</a:t>
            </a:r>
            <a:endParaRPr lang="en-US" sz="1400" dirty="0"/>
          </a:p>
        </p:txBody>
      </p:sp>
      <p:sp>
        <p:nvSpPr>
          <p:cNvPr id="11" name="Text 9"/>
          <p:cNvSpPr/>
          <p:nvPr/>
        </p:nvSpPr>
        <p:spPr>
          <a:xfrm>
            <a:off x="4462272" y="1682496"/>
            <a:ext cx="3008376" cy="1691640"/>
          </a:xfrm>
          <a:prstGeom prst="rect">
            <a:avLst/>
          </a:prstGeom>
          <a:noFill/>
          <a:ln/>
        </p:spPr>
        <p:txBody>
          <a:bodyPr wrap="square" rtlCol="0" anchor="t"/>
          <a:lstStyle/>
          <a:p>
            <a:pPr marL="177800" indent="-177800">
              <a:lnSpc>
                <a:spcPct val="108000"/>
              </a:lnSpc>
              <a:spcAft>
                <a:spcPts val="500"/>
              </a:spcAft>
              <a:buSzPct val="100000"/>
              <a:buChar char="●"/>
            </a:pPr>
            <a:r>
              <a:rPr lang="en-US" sz="1250" dirty="0">
                <a:solidFill>
                  <a:srgbClr val="24313F"/>
                </a:solidFill>
                <a:latin typeface="Calibri" pitchFamily="34" charset="0"/>
                <a:ea typeface="Calibri" pitchFamily="34" charset="-122"/>
                <a:cs typeface="Calibri" pitchFamily="34" charset="-120"/>
              </a:rPr>
              <a:t>Lift coefficient (CL)</a:t>
            </a:r>
            <a:endParaRPr lang="en-US" sz="1250" dirty="0"/>
          </a:p>
          <a:p>
            <a:pPr marL="177800" indent="-177800">
              <a:lnSpc>
                <a:spcPct val="108000"/>
              </a:lnSpc>
              <a:spcAft>
                <a:spcPts val="500"/>
              </a:spcAft>
              <a:buSzPct val="100000"/>
              <a:buChar char="●"/>
            </a:pPr>
            <a:r>
              <a:rPr lang="en-US" sz="1250" dirty="0">
                <a:solidFill>
                  <a:srgbClr val="24313F"/>
                </a:solidFill>
                <a:latin typeface="Calibri" pitchFamily="34" charset="0"/>
                <a:ea typeface="Calibri" pitchFamily="34" charset="-122"/>
                <a:cs typeface="Calibri" pitchFamily="34" charset="-120"/>
              </a:rPr>
              <a:t>Drag coefficient (CD)</a:t>
            </a:r>
            <a:endParaRPr lang="en-US" sz="1250" dirty="0"/>
          </a:p>
          <a:p>
            <a:pPr marL="177800" indent="-177800">
              <a:lnSpc>
                <a:spcPct val="108000"/>
              </a:lnSpc>
              <a:spcAft>
                <a:spcPts val="500"/>
              </a:spcAft>
              <a:buSzPct val="100000"/>
              <a:buChar char="●"/>
            </a:pPr>
            <a:r>
              <a:rPr lang="en-US" sz="1250" dirty="0">
                <a:solidFill>
                  <a:srgbClr val="24313F"/>
                </a:solidFill>
                <a:latin typeface="Calibri" pitchFamily="34" charset="0"/>
                <a:ea typeface="Calibri" pitchFamily="34" charset="-122"/>
                <a:cs typeface="Calibri" pitchFamily="34" charset="-120"/>
              </a:rPr>
              <a:t>Center of pressure (X-C.P.)</a:t>
            </a:r>
            <a:endParaRPr lang="en-US" sz="1250" dirty="0"/>
          </a:p>
          <a:p>
            <a:pPr marL="177800" indent="-177800">
              <a:lnSpc>
                <a:spcPct val="108000"/>
              </a:lnSpc>
              <a:spcAft>
                <a:spcPts val="500"/>
              </a:spcAft>
              <a:buSzPct val="100000"/>
              <a:buChar char="●"/>
            </a:pPr>
            <a:r>
              <a:rPr lang="en-US" sz="1250" dirty="0">
                <a:solidFill>
                  <a:srgbClr val="24313F"/>
                </a:solidFill>
                <a:latin typeface="Calibri" pitchFamily="34" charset="0"/>
                <a:ea typeface="Calibri" pitchFamily="34" charset="-122"/>
                <a:cs typeface="Calibri" pitchFamily="34" charset="-120"/>
              </a:rPr>
              <a:t>Normal force &amp; pitching moment (CN, CM) via MLP</a:t>
            </a:r>
            <a:endParaRPr lang="en-US" sz="1250" dirty="0"/>
          </a:p>
        </p:txBody>
      </p:sp>
      <p:sp>
        <p:nvSpPr>
          <p:cNvPr id="12" name="Shape 10"/>
          <p:cNvSpPr/>
          <p:nvPr/>
        </p:nvSpPr>
        <p:spPr>
          <a:xfrm>
            <a:off x="7863840" y="1170432"/>
            <a:ext cx="3776472" cy="2331720"/>
          </a:xfrm>
          <a:prstGeom prst="roundRect">
            <a:avLst>
              <a:gd name="adj" fmla="val 3529"/>
            </a:avLst>
          </a:prstGeom>
          <a:solidFill>
            <a:srgbClr val="EAF3FB"/>
          </a:solidFill>
          <a:ln/>
          <a:effectLst>
            <a:outerShdw sx="100000" sy="100000" kx="0" ky="0" algn="bl" rotWithShape="0" blurRad="76200" dist="25400" dir="5400000">
              <a:srgbClr val="9CB7CC">
                <a:alpha val="28000"/>
              </a:srgbClr>
            </a:outerShdw>
          </a:effectLst>
        </p:spPr>
      </p:sp>
      <p:sp>
        <p:nvSpPr>
          <p:cNvPr id="13" name="Text 11"/>
          <p:cNvSpPr/>
          <p:nvPr/>
        </p:nvSpPr>
        <p:spPr>
          <a:xfrm>
            <a:off x="8119872" y="1316736"/>
            <a:ext cx="3264408" cy="292608"/>
          </a:xfrm>
          <a:prstGeom prst="rect">
            <a:avLst/>
          </a:prstGeom>
          <a:noFill/>
          <a:ln/>
        </p:spPr>
        <p:txBody>
          <a:bodyPr wrap="square"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Data Preparation</a:t>
            </a:r>
            <a:endParaRPr lang="en-US" sz="1400" dirty="0"/>
          </a:p>
        </p:txBody>
      </p:sp>
      <p:sp>
        <p:nvSpPr>
          <p:cNvPr id="14" name="Text 12"/>
          <p:cNvSpPr/>
          <p:nvPr/>
        </p:nvSpPr>
        <p:spPr>
          <a:xfrm>
            <a:off x="8119872" y="1682496"/>
            <a:ext cx="3264408" cy="1691640"/>
          </a:xfrm>
          <a:prstGeom prst="rect">
            <a:avLst/>
          </a:prstGeom>
          <a:noFill/>
          <a:ln/>
        </p:spPr>
        <p:txBody>
          <a:bodyPr wrap="square" rtlCol="0" anchor="t"/>
          <a:lstStyle/>
          <a:p>
            <a:pPr marL="177800" indent="-177800">
              <a:lnSpc>
                <a:spcPct val="108000"/>
              </a:lnSpc>
              <a:spcAft>
                <a:spcPts val="500"/>
              </a:spcAft>
              <a:buSzPct val="100000"/>
              <a:buChar char="●"/>
            </a:pPr>
            <a:r>
              <a:rPr lang="en-US" sz="1250" dirty="0">
                <a:solidFill>
                  <a:srgbClr val="24313F"/>
                </a:solidFill>
                <a:latin typeface="Calibri" pitchFamily="34" charset="0"/>
                <a:ea typeface="Calibri" pitchFamily="34" charset="-122"/>
                <a:cs typeface="Calibri" pitchFamily="34" charset="-120"/>
              </a:rPr>
              <a:t>~80% training / 20% testing split</a:t>
            </a:r>
            <a:endParaRPr lang="en-US" sz="1250" dirty="0"/>
          </a:p>
          <a:p>
            <a:pPr marL="177800" indent="-177800">
              <a:lnSpc>
                <a:spcPct val="108000"/>
              </a:lnSpc>
              <a:spcAft>
                <a:spcPts val="500"/>
              </a:spcAft>
              <a:buSzPct val="100000"/>
              <a:buChar char="●"/>
            </a:pPr>
            <a:r>
              <a:rPr lang="en-US" sz="1250" dirty="0">
                <a:solidFill>
                  <a:srgbClr val="24313F"/>
                </a:solidFill>
                <a:latin typeface="Calibri" pitchFamily="34" charset="0"/>
                <a:ea typeface="Calibri" pitchFamily="34" charset="-122"/>
                <a:cs typeface="Calibri" pitchFamily="34" charset="-120"/>
              </a:rPr>
              <a:t>Inputs normalized to [-1, 1] via min-max scaling</a:t>
            </a:r>
            <a:endParaRPr lang="en-US" sz="1250" dirty="0"/>
          </a:p>
          <a:p>
            <a:pPr marL="177800" indent="-177800">
              <a:lnSpc>
                <a:spcPct val="108000"/>
              </a:lnSpc>
              <a:spcAft>
                <a:spcPts val="500"/>
              </a:spcAft>
              <a:buSzPct val="100000"/>
              <a:buChar char="●"/>
            </a:pPr>
            <a:r>
              <a:rPr lang="en-US" sz="1250" dirty="0">
                <a:solidFill>
                  <a:srgbClr val="24313F"/>
                </a:solidFill>
                <a:latin typeface="Calibri" pitchFamily="34" charset="0"/>
                <a:ea typeface="Calibri" pitchFamily="34" charset="-122"/>
                <a:cs typeface="Calibri" pitchFamily="34" charset="-120"/>
              </a:rPr>
              <a:t>MLP branch: 64% / 16% / 20% train-val-test with StandardScaler</a:t>
            </a:r>
            <a:endParaRPr lang="en-US" sz="1250" dirty="0"/>
          </a:p>
          <a:p>
            <a:pPr marL="177800" indent="-177800">
              <a:lnSpc>
                <a:spcPct val="108000"/>
              </a:lnSpc>
              <a:spcAft>
                <a:spcPts val="500"/>
              </a:spcAft>
              <a:buSzPct val="100000"/>
              <a:buChar char="●"/>
            </a:pPr>
            <a:r>
              <a:rPr lang="en-US" sz="1250" dirty="0">
                <a:solidFill>
                  <a:srgbClr val="24313F"/>
                </a:solidFill>
                <a:latin typeface="Calibri" pitchFamily="34" charset="0"/>
                <a:ea typeface="Calibri" pitchFamily="34" charset="-122"/>
                <a:cs typeface="Calibri" pitchFamily="34" charset="-120"/>
              </a:rPr>
              <a:t>Same preprocessing applied at validation &amp; inference</a:t>
            </a:r>
            <a:endParaRPr lang="en-US" sz="1250" dirty="0"/>
          </a:p>
        </p:txBody>
      </p:sp>
      <p:sp>
        <p:nvSpPr>
          <p:cNvPr id="15" name="Text 13"/>
          <p:cNvSpPr/>
          <p:nvPr/>
        </p:nvSpPr>
        <p:spPr>
          <a:xfrm>
            <a:off x="548640" y="3703320"/>
            <a:ext cx="7315200" cy="274320"/>
          </a:xfrm>
          <a:prstGeom prst="rect">
            <a:avLst/>
          </a:prstGeom>
          <a:noFill/>
          <a:ln/>
        </p:spPr>
        <p:txBody>
          <a:bodyPr wrap="square" rtlCol="0" anchor="ctr"/>
          <a:lstStyle/>
          <a:p>
            <a:pPr indent="0" marL="0">
              <a:buNone/>
            </a:pPr>
            <a:r>
              <a:rPr lang="en-US" sz="1200" b="1" spc="150" kern="0" dirty="0">
                <a:solidFill>
                  <a:srgbClr val="2E75B6"/>
                </a:solidFill>
                <a:latin typeface="Calibri" pitchFamily="34" charset="0"/>
                <a:ea typeface="Calibri" pitchFamily="34" charset="-122"/>
                <a:cs typeface="Calibri" pitchFamily="34" charset="-120"/>
              </a:rPr>
              <a:t>MODELLING &amp; OPTIMIZATION PIPELINE</a:t>
            </a:r>
            <a:endParaRPr lang="en-US" sz="1200" dirty="0"/>
          </a:p>
        </p:txBody>
      </p:sp>
      <p:sp>
        <p:nvSpPr>
          <p:cNvPr id="16" name="Shape 14"/>
          <p:cNvSpPr/>
          <p:nvPr/>
        </p:nvSpPr>
        <p:spPr>
          <a:xfrm>
            <a:off x="548640" y="4160520"/>
            <a:ext cx="1975104" cy="1417320"/>
          </a:xfrm>
          <a:prstGeom prst="roundRect">
            <a:avLst>
              <a:gd name="adj" fmla="val 6452"/>
            </a:avLst>
          </a:prstGeom>
          <a:solidFill>
            <a:srgbClr val="EAF3FB"/>
          </a:solidFill>
          <a:ln/>
          <a:effectLst>
            <a:outerShdw sx="100000" sy="100000" kx="0" ky="0" algn="bl" rotWithShape="0" blurRad="63500" dist="25400" dir="5400000">
              <a:srgbClr val="9CB7CC">
                <a:alpha val="25000"/>
              </a:srgbClr>
            </a:outerShdw>
          </a:effectLst>
        </p:spPr>
      </p:sp>
      <p:sp>
        <p:nvSpPr>
          <p:cNvPr id="17" name="Text 15"/>
          <p:cNvSpPr/>
          <p:nvPr/>
        </p:nvSpPr>
        <p:spPr>
          <a:xfrm>
            <a:off x="621792" y="4160520"/>
            <a:ext cx="1828800" cy="1417320"/>
          </a:xfrm>
          <a:prstGeom prst="rect">
            <a:avLst/>
          </a:prstGeom>
          <a:noFill/>
          <a:ln/>
        </p:spPr>
        <p:txBody>
          <a:bodyPr wrap="square" rtlCol="0" anchor="ctr"/>
          <a:lstStyle/>
          <a:p>
            <a:pPr algn="ctr" indent="0" marL="0">
              <a:lnSpc>
                <a:spcPct val="105000"/>
              </a:lnSpc>
              <a:buNone/>
            </a:pPr>
            <a:r>
              <a:rPr lang="en-US" sz="1150" b="1" dirty="0">
                <a:solidFill>
                  <a:srgbClr val="1F4E79"/>
                </a:solidFill>
                <a:latin typeface="Calibri" pitchFamily="34" charset="0"/>
                <a:ea typeface="Calibri" pitchFamily="34" charset="-122"/>
                <a:cs typeface="Calibri" pitchFamily="34" charset="-120"/>
              </a:rPr>
              <a:t>Aerodynamic</a:t>
            </a:r>
            <a:endParaRPr lang="en-US" sz="1150" dirty="0"/>
          </a:p>
          <a:p>
            <a:pPr algn="ctr" indent="0" marL="0">
              <a:lnSpc>
                <a:spcPct val="105000"/>
              </a:lnSpc>
              <a:buNone/>
            </a:pPr>
            <a:r>
              <a:rPr lang="en-US" sz="1150" b="1" dirty="0">
                <a:solidFill>
                  <a:srgbClr val="1F4E79"/>
                </a:solidFill>
                <a:latin typeface="Calibri" pitchFamily="34" charset="0"/>
                <a:ea typeface="Calibri" pitchFamily="34" charset="-122"/>
                <a:cs typeface="Calibri" pitchFamily="34" charset="-120"/>
              </a:rPr>
              <a:t>Dataset</a:t>
            </a:r>
            <a:endParaRPr lang="en-US" sz="1150" dirty="0"/>
          </a:p>
        </p:txBody>
      </p:sp>
      <p:sp>
        <p:nvSpPr>
          <p:cNvPr id="18" name="Text 16"/>
          <p:cNvSpPr/>
          <p:nvPr/>
        </p:nvSpPr>
        <p:spPr>
          <a:xfrm>
            <a:off x="2523744" y="4160520"/>
            <a:ext cx="256032" cy="1417320"/>
          </a:xfrm>
          <a:prstGeom prst="rect">
            <a:avLst/>
          </a:prstGeom>
          <a:noFill/>
          <a:ln/>
        </p:spPr>
        <p:txBody>
          <a:bodyPr wrap="square" rtlCol="0" anchor="ctr"/>
          <a:lstStyle/>
          <a:p>
            <a:pPr algn="ctr" indent="0" marL="0">
              <a:buNone/>
            </a:pPr>
            <a:r>
              <a:rPr lang="en-US" sz="2200" b="1" dirty="0">
                <a:solidFill>
                  <a:srgbClr val="2E75B6"/>
                </a:solidFill>
                <a:latin typeface="Calibri" pitchFamily="34" charset="0"/>
                <a:ea typeface="Calibri" pitchFamily="34" charset="-122"/>
                <a:cs typeface="Calibri" pitchFamily="34" charset="-120"/>
              </a:rPr>
              <a:t>›</a:t>
            </a:r>
            <a:endParaRPr lang="en-US" sz="2200" dirty="0"/>
          </a:p>
        </p:txBody>
      </p:sp>
      <p:sp>
        <p:nvSpPr>
          <p:cNvPr id="19" name="Shape 17"/>
          <p:cNvSpPr/>
          <p:nvPr/>
        </p:nvSpPr>
        <p:spPr>
          <a:xfrm>
            <a:off x="2779776" y="4160520"/>
            <a:ext cx="1975104" cy="1417320"/>
          </a:xfrm>
          <a:prstGeom prst="roundRect">
            <a:avLst>
              <a:gd name="adj" fmla="val 6452"/>
            </a:avLst>
          </a:prstGeom>
          <a:solidFill>
            <a:srgbClr val="EAF3FB"/>
          </a:solidFill>
          <a:ln/>
          <a:effectLst>
            <a:outerShdw sx="100000" sy="100000" kx="0" ky="0" algn="bl" rotWithShape="0" blurRad="63500" dist="25400" dir="5400000">
              <a:srgbClr val="9CB7CC">
                <a:alpha val="25000"/>
              </a:srgbClr>
            </a:outerShdw>
          </a:effectLst>
        </p:spPr>
      </p:sp>
      <p:sp>
        <p:nvSpPr>
          <p:cNvPr id="20" name="Text 18"/>
          <p:cNvSpPr/>
          <p:nvPr/>
        </p:nvSpPr>
        <p:spPr>
          <a:xfrm>
            <a:off x="2852928" y="4160520"/>
            <a:ext cx="1828800" cy="1417320"/>
          </a:xfrm>
          <a:prstGeom prst="rect">
            <a:avLst/>
          </a:prstGeom>
          <a:noFill/>
          <a:ln/>
        </p:spPr>
        <p:txBody>
          <a:bodyPr wrap="square" rtlCol="0" anchor="ctr"/>
          <a:lstStyle/>
          <a:p>
            <a:pPr algn="ctr" indent="0" marL="0">
              <a:lnSpc>
                <a:spcPct val="105000"/>
              </a:lnSpc>
              <a:buNone/>
            </a:pPr>
            <a:r>
              <a:rPr lang="en-US" sz="1150" b="1" dirty="0">
                <a:solidFill>
                  <a:srgbClr val="1F4E79"/>
                </a:solidFill>
                <a:latin typeface="Calibri" pitchFamily="34" charset="0"/>
                <a:ea typeface="Calibri" pitchFamily="34" charset="-122"/>
                <a:cs typeface="Calibri" pitchFamily="34" charset="-120"/>
              </a:rPr>
              <a:t>Preprocessing &amp;</a:t>
            </a:r>
            <a:endParaRPr lang="en-US" sz="1150" dirty="0"/>
          </a:p>
          <a:p>
            <a:pPr algn="ctr" indent="0" marL="0">
              <a:lnSpc>
                <a:spcPct val="105000"/>
              </a:lnSpc>
              <a:buNone/>
            </a:pPr>
            <a:r>
              <a:rPr lang="en-US" sz="1150" b="1" dirty="0">
                <a:solidFill>
                  <a:srgbClr val="1F4E79"/>
                </a:solidFill>
                <a:latin typeface="Calibri" pitchFamily="34" charset="0"/>
                <a:ea typeface="Calibri" pitchFamily="34" charset="-122"/>
                <a:cs typeface="Calibri" pitchFamily="34" charset="-120"/>
              </a:rPr>
              <a:t>Normalization</a:t>
            </a:r>
            <a:endParaRPr lang="en-US" sz="1150" dirty="0"/>
          </a:p>
        </p:txBody>
      </p:sp>
      <p:sp>
        <p:nvSpPr>
          <p:cNvPr id="21" name="Text 19"/>
          <p:cNvSpPr/>
          <p:nvPr/>
        </p:nvSpPr>
        <p:spPr>
          <a:xfrm>
            <a:off x="4754880" y="4160520"/>
            <a:ext cx="256032" cy="1417320"/>
          </a:xfrm>
          <a:prstGeom prst="rect">
            <a:avLst/>
          </a:prstGeom>
          <a:noFill/>
          <a:ln/>
        </p:spPr>
        <p:txBody>
          <a:bodyPr wrap="square" rtlCol="0" anchor="ctr"/>
          <a:lstStyle/>
          <a:p>
            <a:pPr algn="ctr" indent="0" marL="0">
              <a:buNone/>
            </a:pPr>
            <a:r>
              <a:rPr lang="en-US" sz="2200" b="1" dirty="0">
                <a:solidFill>
                  <a:srgbClr val="2E75B6"/>
                </a:solidFill>
                <a:latin typeface="Calibri" pitchFamily="34" charset="0"/>
                <a:ea typeface="Calibri" pitchFamily="34" charset="-122"/>
                <a:cs typeface="Calibri" pitchFamily="34" charset="-120"/>
              </a:rPr>
              <a:t>›</a:t>
            </a:r>
            <a:endParaRPr lang="en-US" sz="2200" dirty="0"/>
          </a:p>
        </p:txBody>
      </p:sp>
      <p:sp>
        <p:nvSpPr>
          <p:cNvPr id="22" name="Shape 20"/>
          <p:cNvSpPr/>
          <p:nvPr/>
        </p:nvSpPr>
        <p:spPr>
          <a:xfrm>
            <a:off x="5010912" y="4160520"/>
            <a:ext cx="1975104" cy="1417320"/>
          </a:xfrm>
          <a:prstGeom prst="roundRect">
            <a:avLst>
              <a:gd name="adj" fmla="val 6452"/>
            </a:avLst>
          </a:prstGeom>
          <a:solidFill>
            <a:srgbClr val="EAF3FB"/>
          </a:solidFill>
          <a:ln/>
          <a:effectLst>
            <a:outerShdw sx="100000" sy="100000" kx="0" ky="0" algn="bl" rotWithShape="0" blurRad="63500" dist="25400" dir="5400000">
              <a:srgbClr val="9CB7CC">
                <a:alpha val="25000"/>
              </a:srgbClr>
            </a:outerShdw>
          </a:effectLst>
        </p:spPr>
      </p:sp>
      <p:sp>
        <p:nvSpPr>
          <p:cNvPr id="23" name="Text 21"/>
          <p:cNvSpPr/>
          <p:nvPr/>
        </p:nvSpPr>
        <p:spPr>
          <a:xfrm>
            <a:off x="5084064" y="4160520"/>
            <a:ext cx="1828800" cy="1417320"/>
          </a:xfrm>
          <a:prstGeom prst="rect">
            <a:avLst/>
          </a:prstGeom>
          <a:noFill/>
          <a:ln/>
        </p:spPr>
        <p:txBody>
          <a:bodyPr wrap="square" rtlCol="0" anchor="ctr"/>
          <a:lstStyle/>
          <a:p>
            <a:pPr algn="ctr" indent="0" marL="0">
              <a:lnSpc>
                <a:spcPct val="105000"/>
              </a:lnSpc>
              <a:buNone/>
            </a:pPr>
            <a:r>
              <a:rPr lang="en-US" sz="1150" b="1" dirty="0">
                <a:solidFill>
                  <a:srgbClr val="1F4E79"/>
                </a:solidFill>
                <a:latin typeface="Calibri" pitchFamily="34" charset="0"/>
                <a:ea typeface="Calibri" pitchFamily="34" charset="-122"/>
                <a:cs typeface="Calibri" pitchFamily="34" charset="-120"/>
              </a:rPr>
              <a:t>Surrogate Models</a:t>
            </a:r>
            <a:endParaRPr lang="en-US" sz="1150" dirty="0"/>
          </a:p>
          <a:p>
            <a:pPr algn="ctr" indent="0" marL="0">
              <a:lnSpc>
                <a:spcPct val="105000"/>
              </a:lnSpc>
              <a:buNone/>
            </a:pPr>
            <a:r>
              <a:rPr lang="en-US" sz="1150" b="1" dirty="0">
                <a:solidFill>
                  <a:srgbClr val="1F4E79"/>
                </a:solidFill>
                <a:latin typeface="Calibri" pitchFamily="34" charset="0"/>
                <a:ea typeface="Calibri" pitchFamily="34" charset="-122"/>
                <a:cs typeface="Calibri" pitchFamily="34" charset="-120"/>
              </a:rPr>
              <a:t>(XGBoost · Ensemble · MLP)</a:t>
            </a:r>
            <a:endParaRPr lang="en-US" sz="1150" dirty="0"/>
          </a:p>
        </p:txBody>
      </p:sp>
      <p:sp>
        <p:nvSpPr>
          <p:cNvPr id="24" name="Text 22"/>
          <p:cNvSpPr/>
          <p:nvPr/>
        </p:nvSpPr>
        <p:spPr>
          <a:xfrm>
            <a:off x="6986016" y="4160520"/>
            <a:ext cx="256032" cy="1417320"/>
          </a:xfrm>
          <a:prstGeom prst="rect">
            <a:avLst/>
          </a:prstGeom>
          <a:noFill/>
          <a:ln/>
        </p:spPr>
        <p:txBody>
          <a:bodyPr wrap="square" rtlCol="0" anchor="ctr"/>
          <a:lstStyle/>
          <a:p>
            <a:pPr algn="ctr" indent="0" marL="0">
              <a:buNone/>
            </a:pPr>
            <a:r>
              <a:rPr lang="en-US" sz="2200" b="1" dirty="0">
                <a:solidFill>
                  <a:srgbClr val="2E75B6"/>
                </a:solidFill>
                <a:latin typeface="Calibri" pitchFamily="34" charset="0"/>
                <a:ea typeface="Calibri" pitchFamily="34" charset="-122"/>
                <a:cs typeface="Calibri" pitchFamily="34" charset="-120"/>
              </a:rPr>
              <a:t>›</a:t>
            </a:r>
            <a:endParaRPr lang="en-US" sz="2200" dirty="0"/>
          </a:p>
        </p:txBody>
      </p:sp>
      <p:sp>
        <p:nvSpPr>
          <p:cNvPr id="25" name="Shape 23"/>
          <p:cNvSpPr/>
          <p:nvPr/>
        </p:nvSpPr>
        <p:spPr>
          <a:xfrm>
            <a:off x="7242048" y="4160520"/>
            <a:ext cx="1975104" cy="1417320"/>
          </a:xfrm>
          <a:prstGeom prst="roundRect">
            <a:avLst>
              <a:gd name="adj" fmla="val 6452"/>
            </a:avLst>
          </a:prstGeom>
          <a:solidFill>
            <a:srgbClr val="EAF3FB"/>
          </a:solidFill>
          <a:ln/>
          <a:effectLst>
            <a:outerShdw sx="100000" sy="100000" kx="0" ky="0" algn="bl" rotWithShape="0" blurRad="63500" dist="25400" dir="5400000">
              <a:srgbClr val="9CB7CC">
                <a:alpha val="25000"/>
              </a:srgbClr>
            </a:outerShdw>
          </a:effectLst>
        </p:spPr>
      </p:sp>
      <p:sp>
        <p:nvSpPr>
          <p:cNvPr id="26" name="Text 24"/>
          <p:cNvSpPr/>
          <p:nvPr/>
        </p:nvSpPr>
        <p:spPr>
          <a:xfrm>
            <a:off x="7315200" y="4160520"/>
            <a:ext cx="1828800" cy="1417320"/>
          </a:xfrm>
          <a:prstGeom prst="rect">
            <a:avLst/>
          </a:prstGeom>
          <a:noFill/>
          <a:ln/>
        </p:spPr>
        <p:txBody>
          <a:bodyPr wrap="square" rtlCol="0" anchor="ctr"/>
          <a:lstStyle/>
          <a:p>
            <a:pPr algn="ctr" indent="0" marL="0">
              <a:lnSpc>
                <a:spcPct val="105000"/>
              </a:lnSpc>
              <a:buNone/>
            </a:pPr>
            <a:r>
              <a:rPr lang="en-US" sz="1150" b="1" dirty="0">
                <a:solidFill>
                  <a:srgbClr val="1F4E79"/>
                </a:solidFill>
                <a:latin typeface="Calibri" pitchFamily="34" charset="0"/>
                <a:ea typeface="Calibri" pitchFamily="34" charset="-122"/>
                <a:cs typeface="Calibri" pitchFamily="34" charset="-120"/>
              </a:rPr>
              <a:t>Differential</a:t>
            </a:r>
            <a:endParaRPr lang="en-US" sz="1150" dirty="0"/>
          </a:p>
          <a:p>
            <a:pPr algn="ctr" indent="0" marL="0">
              <a:lnSpc>
                <a:spcPct val="105000"/>
              </a:lnSpc>
              <a:buNone/>
            </a:pPr>
            <a:r>
              <a:rPr lang="en-US" sz="1150" b="1" dirty="0">
                <a:solidFill>
                  <a:srgbClr val="1F4E79"/>
                </a:solidFill>
                <a:latin typeface="Calibri" pitchFamily="34" charset="0"/>
                <a:ea typeface="Calibri" pitchFamily="34" charset="-122"/>
                <a:cs typeface="Calibri" pitchFamily="34" charset="-120"/>
              </a:rPr>
              <a:t>Evolution Search</a:t>
            </a:r>
            <a:endParaRPr lang="en-US" sz="1150" dirty="0"/>
          </a:p>
        </p:txBody>
      </p:sp>
      <p:sp>
        <p:nvSpPr>
          <p:cNvPr id="27" name="Text 25"/>
          <p:cNvSpPr/>
          <p:nvPr/>
        </p:nvSpPr>
        <p:spPr>
          <a:xfrm>
            <a:off x="9217152" y="4160520"/>
            <a:ext cx="256032" cy="1417320"/>
          </a:xfrm>
          <a:prstGeom prst="rect">
            <a:avLst/>
          </a:prstGeom>
          <a:noFill/>
          <a:ln/>
        </p:spPr>
        <p:txBody>
          <a:bodyPr wrap="square" rtlCol="0" anchor="ctr"/>
          <a:lstStyle/>
          <a:p>
            <a:pPr algn="ctr" indent="0" marL="0">
              <a:buNone/>
            </a:pPr>
            <a:r>
              <a:rPr lang="en-US" sz="2200" b="1" dirty="0">
                <a:solidFill>
                  <a:srgbClr val="2E75B6"/>
                </a:solidFill>
                <a:latin typeface="Calibri" pitchFamily="34" charset="0"/>
                <a:ea typeface="Calibri" pitchFamily="34" charset="-122"/>
                <a:cs typeface="Calibri" pitchFamily="34" charset="-120"/>
              </a:rPr>
              <a:t>›</a:t>
            </a:r>
            <a:endParaRPr lang="en-US" sz="2200" dirty="0"/>
          </a:p>
        </p:txBody>
      </p:sp>
      <p:sp>
        <p:nvSpPr>
          <p:cNvPr id="28" name="Shape 26"/>
          <p:cNvSpPr/>
          <p:nvPr/>
        </p:nvSpPr>
        <p:spPr>
          <a:xfrm>
            <a:off x="9473184" y="4160520"/>
            <a:ext cx="1975104" cy="1417320"/>
          </a:xfrm>
          <a:prstGeom prst="roundRect">
            <a:avLst>
              <a:gd name="adj" fmla="val 6452"/>
            </a:avLst>
          </a:prstGeom>
          <a:solidFill>
            <a:srgbClr val="2E75B6"/>
          </a:solidFill>
          <a:ln/>
          <a:effectLst>
            <a:outerShdw sx="100000" sy="100000" kx="0" ky="0" algn="bl" rotWithShape="0" blurRad="63500" dist="25400" dir="5400000">
              <a:srgbClr val="9CB7CC">
                <a:alpha val="25000"/>
              </a:srgbClr>
            </a:outerShdw>
          </a:effectLst>
        </p:spPr>
      </p:sp>
      <p:sp>
        <p:nvSpPr>
          <p:cNvPr id="29" name="Text 27"/>
          <p:cNvSpPr/>
          <p:nvPr/>
        </p:nvSpPr>
        <p:spPr>
          <a:xfrm>
            <a:off x="9546336" y="4160520"/>
            <a:ext cx="1828800" cy="1417320"/>
          </a:xfrm>
          <a:prstGeom prst="rect">
            <a:avLst/>
          </a:prstGeom>
          <a:noFill/>
          <a:ln/>
        </p:spPr>
        <p:txBody>
          <a:bodyPr wrap="square" rtlCol="0" anchor="ctr"/>
          <a:lstStyle/>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Optimal</a:t>
            </a:r>
            <a:endParaRPr lang="en-US" sz="1150" dirty="0"/>
          </a:p>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Configuration</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601200" cy="274320"/>
          </a:xfrm>
          <a:prstGeom prst="rect">
            <a:avLst/>
          </a:prstGeom>
          <a:noFill/>
          <a:ln/>
        </p:spPr>
        <p:txBody>
          <a:bodyPr wrap="square" rtlCol="0" anchor="ctr"/>
          <a:lstStyle/>
          <a:p>
            <a:pPr indent="0" marL="0">
              <a:buNone/>
            </a:pPr>
            <a:r>
              <a:rPr lang="en-US" sz="1150" b="1" spc="200" kern="0" dirty="0">
                <a:solidFill>
                  <a:srgbClr val="2E75B6"/>
                </a:solidFill>
                <a:latin typeface="Calibri" pitchFamily="34" charset="0"/>
                <a:ea typeface="Calibri" pitchFamily="34" charset="-122"/>
                <a:cs typeface="Calibri" pitchFamily="34" charset="-120"/>
              </a:rPr>
              <a:t>MODEL 1 · GRADIENT BOOSTING</a:t>
            </a:r>
            <a:endParaRPr lang="en-US" sz="1150" dirty="0"/>
          </a:p>
        </p:txBody>
      </p:sp>
      <p:sp>
        <p:nvSpPr>
          <p:cNvPr id="3" name="Text 1"/>
          <p:cNvSpPr/>
          <p:nvPr/>
        </p:nvSpPr>
        <p:spPr>
          <a:xfrm>
            <a:off x="548640" y="566928"/>
            <a:ext cx="10424160" cy="566928"/>
          </a:xfrm>
          <a:prstGeom prst="rect">
            <a:avLst/>
          </a:prstGeom>
          <a:noFill/>
          <a:ln/>
        </p:spPr>
        <p:txBody>
          <a:bodyPr wrap="square" rtlCol="0" anchor="ctr"/>
          <a:lstStyle/>
          <a:p>
            <a:pPr indent="0" marL="0">
              <a:buNone/>
            </a:pPr>
            <a:r>
              <a:rPr lang="en-US" sz="2600" b="1" dirty="0">
                <a:solidFill>
                  <a:srgbClr val="1F4E79"/>
                </a:solidFill>
                <a:latin typeface="Cambria" pitchFamily="34" charset="0"/>
                <a:ea typeface="Cambria" pitchFamily="34" charset="-122"/>
                <a:cs typeface="Cambria" pitchFamily="34" charset="-120"/>
              </a:rPr>
              <a:t>XGBoost Regression — Predicting CL, CD &amp; X-C.P.</a:t>
            </a:r>
            <a:endParaRPr lang="en-US" sz="2600" dirty="0"/>
          </a:p>
        </p:txBody>
      </p:sp>
      <p:sp>
        <p:nvSpPr>
          <p:cNvPr id="4" name="Shape 2"/>
          <p:cNvSpPr/>
          <p:nvPr/>
        </p:nvSpPr>
        <p:spPr>
          <a:xfrm>
            <a:off x="11475720" y="384048"/>
            <a:ext cx="420624" cy="420624"/>
          </a:xfrm>
          <a:prstGeom prst="ellipse">
            <a:avLst/>
          </a:prstGeom>
          <a:solidFill>
            <a:srgbClr val="DDEBF8"/>
          </a:solidFill>
          <a:ln/>
        </p:spPr>
      </p:sp>
      <p:sp>
        <p:nvSpPr>
          <p:cNvPr id="5" name="Text 3"/>
          <p:cNvSpPr/>
          <p:nvPr/>
        </p:nvSpPr>
        <p:spPr>
          <a:xfrm>
            <a:off x="11475720" y="384048"/>
            <a:ext cx="420624" cy="420624"/>
          </a:xfrm>
          <a:prstGeom prst="rect">
            <a:avLst/>
          </a:prstGeom>
          <a:noFill/>
          <a:ln/>
        </p:spPr>
        <p:txBody>
          <a:bodyPr wrap="square" rtlCol="0" anchor="ctr"/>
          <a:lstStyle/>
          <a:p>
            <a:pPr algn="ctr" indent="0" marL="0">
              <a:buNone/>
            </a:pPr>
            <a:r>
              <a:rPr lang="en-US" sz="1200" b="1" dirty="0">
                <a:solidFill>
                  <a:srgbClr val="1F4E79"/>
                </a:solidFill>
                <a:latin typeface="Calibri" pitchFamily="34" charset="0"/>
                <a:ea typeface="Calibri" pitchFamily="34" charset="-122"/>
                <a:cs typeface="Calibri" pitchFamily="34" charset="-120"/>
              </a:rPr>
              <a:t>04</a:t>
            </a:r>
            <a:endParaRPr lang="en-US" sz="1200" dirty="0"/>
          </a:p>
        </p:txBody>
      </p:sp>
      <p:sp>
        <p:nvSpPr>
          <p:cNvPr id="6" name="Shape 4"/>
          <p:cNvSpPr/>
          <p:nvPr/>
        </p:nvSpPr>
        <p:spPr>
          <a:xfrm>
            <a:off x="548640" y="1143000"/>
            <a:ext cx="5440680" cy="1691640"/>
          </a:xfrm>
          <a:prstGeom prst="roundRect">
            <a:avLst>
              <a:gd name="adj" fmla="val 4865"/>
            </a:avLst>
          </a:prstGeom>
          <a:solidFill>
            <a:srgbClr val="EAF3FB"/>
          </a:solidFill>
          <a:ln/>
          <a:effectLst>
            <a:outerShdw sx="100000" sy="100000" kx="0" ky="0" algn="bl" rotWithShape="0" blurRad="76200" dist="25400" dir="5400000">
              <a:srgbClr val="9CB7CC">
                <a:alpha val="28000"/>
              </a:srgbClr>
            </a:outerShdw>
          </a:effectLst>
        </p:spPr>
      </p:sp>
      <p:sp>
        <p:nvSpPr>
          <p:cNvPr id="7" name="Text 5"/>
          <p:cNvSpPr/>
          <p:nvPr/>
        </p:nvSpPr>
        <p:spPr>
          <a:xfrm>
            <a:off x="804672" y="1289304"/>
            <a:ext cx="4928616" cy="292608"/>
          </a:xfrm>
          <a:prstGeom prst="rect">
            <a:avLst/>
          </a:prstGeom>
          <a:noFill/>
          <a:ln/>
        </p:spPr>
        <p:txBody>
          <a:bodyPr wrap="square"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Problem</a:t>
            </a:r>
            <a:endParaRPr lang="en-US" sz="1400" dirty="0"/>
          </a:p>
        </p:txBody>
      </p:sp>
      <p:sp>
        <p:nvSpPr>
          <p:cNvPr id="8" name="Text 6"/>
          <p:cNvSpPr/>
          <p:nvPr/>
        </p:nvSpPr>
        <p:spPr>
          <a:xfrm>
            <a:off x="804672" y="1655064"/>
            <a:ext cx="4928616" cy="1051560"/>
          </a:xfrm>
          <a:prstGeom prst="rect">
            <a:avLst/>
          </a:prstGeom>
          <a:noFill/>
          <a:ln/>
        </p:spPr>
        <p:txBody>
          <a:bodyPr wrap="square" rtlCol="0" anchor="t"/>
          <a:lstStyle/>
          <a:p>
            <a:pPr marL="177800" indent="-177800">
              <a:lnSpc>
                <a:spcPct val="108000"/>
              </a:lnSpc>
              <a:spcAft>
                <a:spcPts val="500"/>
              </a:spcAft>
              <a:buSzPct val="100000"/>
              <a:buChar char="●"/>
            </a:pPr>
            <a:r>
              <a:rPr lang="en-US" sz="1200" dirty="0">
                <a:solidFill>
                  <a:srgbClr val="24313F"/>
                </a:solidFill>
                <a:latin typeface="Calibri" pitchFamily="34" charset="0"/>
                <a:ea typeface="Calibri" pitchFamily="34" charset="-122"/>
                <a:cs typeface="Calibri" pitchFamily="34" charset="-120"/>
              </a:rPr>
              <a:t>Replace repeated high-fidelity simulations with a fast, accurate surrogate</a:t>
            </a:r>
            <a:endParaRPr lang="en-US" sz="1200" dirty="0"/>
          </a:p>
          <a:p>
            <a:pPr marL="177800" indent="-177800">
              <a:lnSpc>
                <a:spcPct val="108000"/>
              </a:lnSpc>
              <a:spcAft>
                <a:spcPts val="500"/>
              </a:spcAft>
              <a:buSzPct val="100000"/>
              <a:buChar char="●"/>
            </a:pPr>
            <a:r>
              <a:rPr lang="en-US" sz="1200" dirty="0">
                <a:solidFill>
                  <a:srgbClr val="24313F"/>
                </a:solidFill>
                <a:latin typeface="Calibri" pitchFamily="34" charset="0"/>
                <a:ea typeface="Calibri" pitchFamily="34" charset="-122"/>
                <a:cs typeface="Calibri" pitchFamily="34" charset="-120"/>
              </a:rPr>
              <a:t>Capture non-linear relationships between 15 geometric parameters + flight conditions (Mach, α, Altitude) and CL, CD, X-C.P.</a:t>
            </a:r>
            <a:endParaRPr lang="en-US" sz="1200" dirty="0"/>
          </a:p>
        </p:txBody>
      </p:sp>
      <p:sp>
        <p:nvSpPr>
          <p:cNvPr id="9" name="Shape 7"/>
          <p:cNvSpPr/>
          <p:nvPr/>
        </p:nvSpPr>
        <p:spPr>
          <a:xfrm>
            <a:off x="6199632" y="1143000"/>
            <a:ext cx="5440680" cy="1691640"/>
          </a:xfrm>
          <a:prstGeom prst="roundRect">
            <a:avLst>
              <a:gd name="adj" fmla="val 4865"/>
            </a:avLst>
          </a:prstGeom>
          <a:solidFill>
            <a:srgbClr val="DDEBF8"/>
          </a:solidFill>
          <a:ln/>
          <a:effectLst>
            <a:outerShdw sx="100000" sy="100000" kx="0" ky="0" algn="bl" rotWithShape="0" blurRad="76200" dist="25400" dir="5400000">
              <a:srgbClr val="9CB7CC">
                <a:alpha val="28000"/>
              </a:srgbClr>
            </a:outerShdw>
          </a:effectLst>
        </p:spPr>
      </p:sp>
      <p:sp>
        <p:nvSpPr>
          <p:cNvPr id="10" name="Text 8"/>
          <p:cNvSpPr/>
          <p:nvPr/>
        </p:nvSpPr>
        <p:spPr>
          <a:xfrm>
            <a:off x="6455664" y="1289304"/>
            <a:ext cx="4928616" cy="292608"/>
          </a:xfrm>
          <a:prstGeom prst="rect">
            <a:avLst/>
          </a:prstGeom>
          <a:noFill/>
          <a:ln/>
        </p:spPr>
        <p:txBody>
          <a:bodyPr wrap="square"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Approach</a:t>
            </a:r>
            <a:endParaRPr lang="en-US" sz="1400" dirty="0"/>
          </a:p>
        </p:txBody>
      </p:sp>
      <p:sp>
        <p:nvSpPr>
          <p:cNvPr id="11" name="Text 9"/>
          <p:cNvSpPr/>
          <p:nvPr/>
        </p:nvSpPr>
        <p:spPr>
          <a:xfrm>
            <a:off x="6455664" y="1655064"/>
            <a:ext cx="4928616" cy="1051560"/>
          </a:xfrm>
          <a:prstGeom prst="rect">
            <a:avLst/>
          </a:prstGeom>
          <a:noFill/>
          <a:ln/>
        </p:spPr>
        <p:txBody>
          <a:bodyPr wrap="square" rtlCol="0" anchor="t"/>
          <a:lstStyle/>
          <a:p>
            <a:pPr marL="177800" indent="-177800">
              <a:lnSpc>
                <a:spcPct val="108000"/>
              </a:lnSpc>
              <a:spcAft>
                <a:spcPts val="500"/>
              </a:spcAft>
              <a:buSzPct val="100000"/>
              <a:buChar char="●"/>
            </a:pPr>
            <a:r>
              <a:rPr lang="en-US" sz="1150" dirty="0">
                <a:solidFill>
                  <a:srgbClr val="24313F"/>
                </a:solidFill>
                <a:latin typeface="Calibri" pitchFamily="34" charset="0"/>
                <a:ea typeface="Calibri" pitchFamily="34" charset="-122"/>
                <a:cs typeface="Calibri" pitchFamily="34" charset="-120"/>
              </a:rPr>
              <a:t>Separate XGBoost regression model trained for each target (CL, CD, X-C.P.)</a:t>
            </a:r>
            <a:endParaRPr lang="en-US" sz="1150" dirty="0"/>
          </a:p>
          <a:p>
            <a:pPr marL="177800" indent="-177800">
              <a:lnSpc>
                <a:spcPct val="108000"/>
              </a:lnSpc>
              <a:spcAft>
                <a:spcPts val="500"/>
              </a:spcAft>
              <a:buSzPct val="100000"/>
              <a:buChar char="●"/>
            </a:pPr>
            <a:r>
              <a:rPr lang="en-US" sz="1150" dirty="0">
                <a:solidFill>
                  <a:srgbClr val="24313F"/>
                </a:solidFill>
                <a:latin typeface="Calibri" pitchFamily="34" charset="0"/>
                <a:ea typeface="Calibri" pitchFamily="34" charset="-122"/>
                <a:cs typeface="Calibri" pitchFamily="34" charset="-120"/>
              </a:rPr>
              <a:t>Hyperparameters: tree depth ≈10 · learning rate ≈0.1 · n_estimators ≈100 · subsample ≈0.8 · colsample_bytree ≈0.8</a:t>
            </a:r>
            <a:endParaRPr lang="en-US" sz="1150" dirty="0"/>
          </a:p>
          <a:p>
            <a:pPr marL="177800" indent="-177800">
              <a:lnSpc>
                <a:spcPct val="108000"/>
              </a:lnSpc>
              <a:spcAft>
                <a:spcPts val="500"/>
              </a:spcAft>
              <a:buSzPct val="100000"/>
              <a:buChar char="●"/>
            </a:pPr>
            <a:r>
              <a:rPr lang="en-US" sz="1150" dirty="0">
                <a:solidFill>
                  <a:srgbClr val="24313F"/>
                </a:solidFill>
                <a:latin typeface="Calibri" pitchFamily="34" charset="0"/>
                <a:ea typeface="Calibri" pitchFamily="34" charset="-122"/>
                <a:cs typeface="Calibri" pitchFamily="34" charset="-120"/>
              </a:rPr>
              <a:t>Evaluated via RMSE and actual-vs-predicted comparison</a:t>
            </a:r>
            <a:endParaRPr lang="en-US" sz="1150" dirty="0"/>
          </a:p>
        </p:txBody>
      </p:sp>
      <p:sp>
        <p:nvSpPr>
          <p:cNvPr id="12" name="Shape 10"/>
          <p:cNvSpPr/>
          <p:nvPr/>
        </p:nvSpPr>
        <p:spPr>
          <a:xfrm>
            <a:off x="548640" y="2971800"/>
            <a:ext cx="11091672" cy="868680"/>
          </a:xfrm>
          <a:prstGeom prst="roundRect">
            <a:avLst>
              <a:gd name="adj" fmla="val 9474"/>
            </a:avLst>
          </a:prstGeom>
          <a:solidFill>
            <a:srgbClr val="EAF3FB"/>
          </a:solidFill>
          <a:ln/>
          <a:effectLst>
            <a:outerShdw sx="100000" sy="100000" kx="0" ky="0" algn="bl" rotWithShape="0" blurRad="76200" dist="25400" dir="5400000">
              <a:srgbClr val="9CB7CC">
                <a:alpha val="28000"/>
              </a:srgbClr>
            </a:outerShdw>
          </a:effectLst>
        </p:spPr>
      </p:sp>
      <p:sp>
        <p:nvSpPr>
          <p:cNvPr id="13" name="Text 11"/>
          <p:cNvSpPr/>
          <p:nvPr/>
        </p:nvSpPr>
        <p:spPr>
          <a:xfrm>
            <a:off x="804672" y="3118104"/>
            <a:ext cx="10579608" cy="292608"/>
          </a:xfrm>
          <a:prstGeom prst="rect">
            <a:avLst/>
          </a:prstGeom>
          <a:noFill/>
          <a:ln/>
        </p:spPr>
        <p:txBody>
          <a:bodyPr wrap="square"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Result</a:t>
            </a:r>
            <a:endParaRPr lang="en-US" sz="1400" dirty="0"/>
          </a:p>
        </p:txBody>
      </p:sp>
      <p:sp>
        <p:nvSpPr>
          <p:cNvPr id="14" name="Text 12"/>
          <p:cNvSpPr/>
          <p:nvPr/>
        </p:nvSpPr>
        <p:spPr>
          <a:xfrm>
            <a:off x="804672" y="3483864"/>
            <a:ext cx="10579608" cy="228600"/>
          </a:xfrm>
          <a:prstGeom prst="rect">
            <a:avLst/>
          </a:prstGeom>
          <a:noFill/>
          <a:ln/>
        </p:spPr>
        <p:txBody>
          <a:bodyPr wrap="square" rtlCol="0" anchor="t"/>
          <a:lstStyle/>
          <a:p>
            <a:pPr indent="0" marL="0">
              <a:lnSpc>
                <a:spcPct val="114000"/>
              </a:lnSpc>
              <a:buNone/>
            </a:pPr>
            <a:r>
              <a:rPr lang="en-US" sz="1250" dirty="0">
                <a:solidFill>
                  <a:srgbClr val="24313F"/>
                </a:solidFill>
                <a:latin typeface="Calibri" pitchFamily="34" charset="0"/>
                <a:ea typeface="Calibri" pitchFamily="34" charset="-122"/>
                <a:cs typeface="Calibri" pitchFamily="34" charset="-120"/>
              </a:rPr>
              <a:t>Predicted values closely track actual CL and X-C.P. across the full range, with points falling tightly along the ideal (y = x) line — confirming the surrogate captures the underlying non-linear aerodynamic behaviour with minimal deviation.</a:t>
            </a:r>
            <a:endParaRPr lang="en-US" sz="1250" dirty="0"/>
          </a:p>
        </p:txBody>
      </p:sp>
      <p:sp>
        <p:nvSpPr>
          <p:cNvPr id="15" name="Shape 13"/>
          <p:cNvSpPr/>
          <p:nvPr/>
        </p:nvSpPr>
        <p:spPr>
          <a:xfrm>
            <a:off x="1828800" y="3977640"/>
            <a:ext cx="4114800" cy="2514600"/>
          </a:xfrm>
          <a:prstGeom prst="roundRect">
            <a:avLst>
              <a:gd name="adj" fmla="val 2909"/>
            </a:avLst>
          </a:prstGeom>
          <a:solidFill>
            <a:srgbClr val="FFFFFF"/>
          </a:solidFill>
          <a:ln w="12700">
            <a:solidFill>
              <a:srgbClr val="C9DDF0"/>
            </a:solidFill>
            <a:prstDash val="solid"/>
          </a:ln>
          <a:effectLst>
            <a:outerShdw sx="100000" sy="100000" kx="0" ky="0" algn="bl" rotWithShape="0" blurRad="76200" dist="25400" dir="5400000">
              <a:srgbClr val="9CB7CC">
                <a:alpha val="30000"/>
              </a:srgbClr>
            </a:outerShdw>
          </a:effectLst>
        </p:spPr>
      </p:sp>
      <p:pic>
        <p:nvPicPr>
          <p:cNvPr id="16" name="Image 0" descr="/home/claude/ppt/assets/image2_clean.png">    </p:cNvPr>
          <p:cNvPicPr>
            <a:picLocks noChangeAspect="1"/>
          </p:cNvPicPr>
          <p:nvPr/>
        </p:nvPicPr>
        <p:blipFill>
          <a:blip r:embed="rId1"/>
          <a:stretch>
            <a:fillRect/>
          </a:stretch>
        </p:blipFill>
        <p:spPr>
          <a:xfrm>
            <a:off x="2838241" y="4087368"/>
            <a:ext cx="2095919" cy="2002536"/>
          </a:xfrm>
          <a:prstGeom prst="rect">
            <a:avLst/>
          </a:prstGeom>
        </p:spPr>
      </p:pic>
      <p:sp>
        <p:nvSpPr>
          <p:cNvPr id="17" name="Text 14"/>
          <p:cNvSpPr/>
          <p:nvPr/>
        </p:nvSpPr>
        <p:spPr>
          <a:xfrm>
            <a:off x="1938528" y="6163056"/>
            <a:ext cx="3895344" cy="292608"/>
          </a:xfrm>
          <a:prstGeom prst="rect">
            <a:avLst/>
          </a:prstGeom>
          <a:noFill/>
          <a:ln/>
        </p:spPr>
        <p:txBody>
          <a:bodyPr wrap="square" rtlCol="0" anchor="t"/>
          <a:lstStyle/>
          <a:p>
            <a:pPr algn="ctr" indent="0" marL="0">
              <a:buNone/>
            </a:pPr>
            <a:r>
              <a:rPr lang="en-US" sz="1050" i="1" dirty="0">
                <a:solidFill>
                  <a:srgbClr val="5B7385"/>
                </a:solidFill>
                <a:latin typeface="Calibri" pitchFamily="34" charset="0"/>
                <a:ea typeface="Calibri" pitchFamily="34" charset="-122"/>
                <a:cs typeface="Calibri" pitchFamily="34" charset="-120"/>
              </a:rPr>
              <a:t>CL: Actual vs. Predicted</a:t>
            </a:r>
            <a:endParaRPr lang="en-US" sz="1050" dirty="0"/>
          </a:p>
        </p:txBody>
      </p:sp>
      <p:sp>
        <p:nvSpPr>
          <p:cNvPr id="18" name="Shape 15"/>
          <p:cNvSpPr/>
          <p:nvPr/>
        </p:nvSpPr>
        <p:spPr>
          <a:xfrm>
            <a:off x="6245352" y="3977640"/>
            <a:ext cx="4114800" cy="2514600"/>
          </a:xfrm>
          <a:prstGeom prst="roundRect">
            <a:avLst>
              <a:gd name="adj" fmla="val 2909"/>
            </a:avLst>
          </a:prstGeom>
          <a:solidFill>
            <a:srgbClr val="FFFFFF"/>
          </a:solidFill>
          <a:ln w="12700">
            <a:solidFill>
              <a:srgbClr val="C9DDF0"/>
            </a:solidFill>
            <a:prstDash val="solid"/>
          </a:ln>
          <a:effectLst>
            <a:outerShdw sx="100000" sy="100000" kx="0" ky="0" algn="bl" rotWithShape="0" blurRad="76200" dist="25400" dir="5400000">
              <a:srgbClr val="9CB7CC">
                <a:alpha val="30000"/>
              </a:srgbClr>
            </a:outerShdw>
          </a:effectLst>
        </p:spPr>
      </p:sp>
      <p:pic>
        <p:nvPicPr>
          <p:cNvPr id="19" name="Image 1" descr="/home/claude/ppt/assets/image4_clean.png">    </p:cNvPr>
          <p:cNvPicPr>
            <a:picLocks noChangeAspect="1"/>
          </p:cNvPicPr>
          <p:nvPr/>
        </p:nvPicPr>
        <p:blipFill>
          <a:blip r:embed="rId2"/>
          <a:stretch>
            <a:fillRect/>
          </a:stretch>
        </p:blipFill>
        <p:spPr>
          <a:xfrm>
            <a:off x="7243516" y="4087368"/>
            <a:ext cx="2118472" cy="2002536"/>
          </a:xfrm>
          <a:prstGeom prst="rect">
            <a:avLst/>
          </a:prstGeom>
        </p:spPr>
      </p:pic>
      <p:sp>
        <p:nvSpPr>
          <p:cNvPr id="20" name="Text 16"/>
          <p:cNvSpPr/>
          <p:nvPr/>
        </p:nvSpPr>
        <p:spPr>
          <a:xfrm>
            <a:off x="6355080" y="6163056"/>
            <a:ext cx="3895344" cy="292608"/>
          </a:xfrm>
          <a:prstGeom prst="rect">
            <a:avLst/>
          </a:prstGeom>
          <a:noFill/>
          <a:ln/>
        </p:spPr>
        <p:txBody>
          <a:bodyPr wrap="square" rtlCol="0" anchor="t"/>
          <a:lstStyle/>
          <a:p>
            <a:pPr algn="ctr" indent="0" marL="0">
              <a:buNone/>
            </a:pPr>
            <a:r>
              <a:rPr lang="en-US" sz="1050" i="1" dirty="0">
                <a:solidFill>
                  <a:srgbClr val="5B7385"/>
                </a:solidFill>
                <a:latin typeface="Calibri" pitchFamily="34" charset="0"/>
                <a:ea typeface="Calibri" pitchFamily="34" charset="-122"/>
                <a:cs typeface="Calibri" pitchFamily="34" charset="-120"/>
              </a:rPr>
              <a:t>X-C.P.: Actual vs. Predicted</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601200" cy="274320"/>
          </a:xfrm>
          <a:prstGeom prst="rect">
            <a:avLst/>
          </a:prstGeom>
          <a:noFill/>
          <a:ln/>
        </p:spPr>
        <p:txBody>
          <a:bodyPr wrap="square" rtlCol="0" anchor="ctr"/>
          <a:lstStyle/>
          <a:p>
            <a:pPr indent="0" marL="0">
              <a:buNone/>
            </a:pPr>
            <a:r>
              <a:rPr lang="en-US" sz="1150" b="1" spc="200" kern="0" dirty="0">
                <a:solidFill>
                  <a:srgbClr val="2E75B6"/>
                </a:solidFill>
                <a:latin typeface="Calibri" pitchFamily="34" charset="0"/>
                <a:ea typeface="Calibri" pitchFamily="34" charset="-122"/>
                <a:cs typeface="Calibri" pitchFamily="34" charset="-120"/>
              </a:rPr>
              <a:t>OPTIMIZER</a:t>
            </a:r>
            <a:endParaRPr lang="en-US" sz="1150" dirty="0"/>
          </a:p>
        </p:txBody>
      </p:sp>
      <p:sp>
        <p:nvSpPr>
          <p:cNvPr id="3" name="Text 1"/>
          <p:cNvSpPr/>
          <p:nvPr/>
        </p:nvSpPr>
        <p:spPr>
          <a:xfrm>
            <a:off x="548640" y="566928"/>
            <a:ext cx="10424160" cy="566928"/>
          </a:xfrm>
          <a:prstGeom prst="rect">
            <a:avLst/>
          </a:prstGeom>
          <a:noFill/>
          <a:ln/>
        </p:spPr>
        <p:txBody>
          <a:bodyPr wrap="square" rtlCol="0" anchor="ctr"/>
          <a:lstStyle/>
          <a:p>
            <a:pPr indent="0" marL="0">
              <a:buNone/>
            </a:pPr>
            <a:r>
              <a:rPr lang="en-US" sz="2600" b="1" dirty="0">
                <a:solidFill>
                  <a:srgbClr val="1F4E79"/>
                </a:solidFill>
                <a:latin typeface="Cambria" pitchFamily="34" charset="0"/>
                <a:ea typeface="Cambria" pitchFamily="34" charset="-122"/>
                <a:cs typeface="Cambria" pitchFamily="34" charset="-120"/>
              </a:rPr>
              <a:t>Differential Evolution — Configuration Optimization</a:t>
            </a:r>
            <a:endParaRPr lang="en-US" sz="2600" dirty="0"/>
          </a:p>
        </p:txBody>
      </p:sp>
      <p:sp>
        <p:nvSpPr>
          <p:cNvPr id="4" name="Shape 2"/>
          <p:cNvSpPr/>
          <p:nvPr/>
        </p:nvSpPr>
        <p:spPr>
          <a:xfrm>
            <a:off x="11475720" y="384048"/>
            <a:ext cx="420624" cy="420624"/>
          </a:xfrm>
          <a:prstGeom prst="ellipse">
            <a:avLst/>
          </a:prstGeom>
          <a:solidFill>
            <a:srgbClr val="DDEBF8"/>
          </a:solidFill>
          <a:ln/>
        </p:spPr>
      </p:sp>
      <p:sp>
        <p:nvSpPr>
          <p:cNvPr id="5" name="Text 3"/>
          <p:cNvSpPr/>
          <p:nvPr/>
        </p:nvSpPr>
        <p:spPr>
          <a:xfrm>
            <a:off x="11475720" y="384048"/>
            <a:ext cx="420624" cy="420624"/>
          </a:xfrm>
          <a:prstGeom prst="rect">
            <a:avLst/>
          </a:prstGeom>
          <a:noFill/>
          <a:ln/>
        </p:spPr>
        <p:txBody>
          <a:bodyPr wrap="square" rtlCol="0" anchor="ctr"/>
          <a:lstStyle/>
          <a:p>
            <a:pPr algn="ctr" indent="0" marL="0">
              <a:buNone/>
            </a:pPr>
            <a:r>
              <a:rPr lang="en-US" sz="1200" b="1" dirty="0">
                <a:solidFill>
                  <a:srgbClr val="1F4E79"/>
                </a:solidFill>
                <a:latin typeface="Calibri" pitchFamily="34" charset="0"/>
                <a:ea typeface="Calibri" pitchFamily="34" charset="-122"/>
                <a:cs typeface="Calibri" pitchFamily="34" charset="-120"/>
              </a:rPr>
              <a:t>05</a:t>
            </a:r>
            <a:endParaRPr lang="en-US" sz="1200" dirty="0"/>
          </a:p>
        </p:txBody>
      </p:sp>
      <p:sp>
        <p:nvSpPr>
          <p:cNvPr id="6" name="Shape 4"/>
          <p:cNvSpPr/>
          <p:nvPr/>
        </p:nvSpPr>
        <p:spPr>
          <a:xfrm>
            <a:off x="548640" y="1143000"/>
            <a:ext cx="5212080" cy="2331720"/>
          </a:xfrm>
          <a:prstGeom prst="roundRect">
            <a:avLst>
              <a:gd name="adj" fmla="val 3529"/>
            </a:avLst>
          </a:prstGeom>
          <a:solidFill>
            <a:srgbClr val="EAF3FB"/>
          </a:solidFill>
          <a:ln/>
          <a:effectLst>
            <a:outerShdw sx="100000" sy="100000" kx="0" ky="0" algn="bl" rotWithShape="0" blurRad="76200" dist="25400" dir="5400000">
              <a:srgbClr val="9CB7CC">
                <a:alpha val="28000"/>
              </a:srgbClr>
            </a:outerShdw>
          </a:effectLst>
        </p:spPr>
      </p:sp>
      <p:sp>
        <p:nvSpPr>
          <p:cNvPr id="7" name="Text 5"/>
          <p:cNvSpPr/>
          <p:nvPr/>
        </p:nvSpPr>
        <p:spPr>
          <a:xfrm>
            <a:off x="804672" y="1289304"/>
            <a:ext cx="4700016" cy="292608"/>
          </a:xfrm>
          <a:prstGeom prst="rect">
            <a:avLst/>
          </a:prstGeom>
          <a:noFill/>
          <a:ln/>
        </p:spPr>
        <p:txBody>
          <a:bodyPr wrap="square"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Problem &amp; Approach</a:t>
            </a:r>
            <a:endParaRPr lang="en-US" sz="1400" dirty="0"/>
          </a:p>
        </p:txBody>
      </p:sp>
      <p:sp>
        <p:nvSpPr>
          <p:cNvPr id="8" name="Text 6"/>
          <p:cNvSpPr/>
          <p:nvPr/>
        </p:nvSpPr>
        <p:spPr>
          <a:xfrm>
            <a:off x="804672" y="1655064"/>
            <a:ext cx="4700016" cy="1691640"/>
          </a:xfrm>
          <a:prstGeom prst="rect">
            <a:avLst/>
          </a:prstGeom>
          <a:noFill/>
          <a:ln/>
        </p:spPr>
        <p:txBody>
          <a:bodyPr wrap="square" rtlCol="0" anchor="t"/>
          <a:lstStyle/>
          <a:p>
            <a:pPr marL="177800" indent="-177800">
              <a:lnSpc>
                <a:spcPct val="108000"/>
              </a:lnSpc>
              <a:spcAft>
                <a:spcPts val="500"/>
              </a:spcAft>
              <a:buSzPct val="100000"/>
              <a:buChar char="●"/>
            </a:pPr>
            <a:r>
              <a:rPr lang="en-US" sz="1100" dirty="0">
                <a:solidFill>
                  <a:srgbClr val="24313F"/>
                </a:solidFill>
                <a:latin typeface="Calibri" pitchFamily="34" charset="0"/>
                <a:ea typeface="Calibri" pitchFamily="34" charset="-122"/>
                <a:cs typeface="Calibri" pitchFamily="34" charset="-120"/>
              </a:rPr>
              <a:t>Find the optimal aerodynamic configuration across a high-dimensional geometry design space without exhaustively simulating every candidate</a:t>
            </a:r>
            <a:endParaRPr lang="en-US" sz="1100" dirty="0"/>
          </a:p>
          <a:p>
            <a:pPr marL="177800" indent="-177800">
              <a:lnSpc>
                <a:spcPct val="108000"/>
              </a:lnSpc>
              <a:spcAft>
                <a:spcPts val="500"/>
              </a:spcAft>
              <a:buSzPct val="100000"/>
              <a:buChar char="●"/>
            </a:pPr>
            <a:r>
              <a:rPr lang="en-US" sz="1100" dirty="0">
                <a:solidFill>
                  <a:srgbClr val="24313F"/>
                </a:solidFill>
                <a:latin typeface="Calibri" pitchFamily="34" charset="0"/>
                <a:ea typeface="Calibri" pitchFamily="34" charset="-122"/>
                <a:cs typeface="Calibri" pitchFamily="34" charset="-120"/>
              </a:rPr>
              <a:t>1) Initialization — candidate geometry vectors sampled within design bounds</a:t>
            </a:r>
            <a:endParaRPr lang="en-US" sz="1100" dirty="0"/>
          </a:p>
          <a:p>
            <a:pPr marL="177800" indent="-177800">
              <a:lnSpc>
                <a:spcPct val="108000"/>
              </a:lnSpc>
              <a:spcAft>
                <a:spcPts val="500"/>
              </a:spcAft>
              <a:buSzPct val="100000"/>
              <a:buChar char="●"/>
            </a:pPr>
            <a:r>
              <a:rPr lang="en-US" sz="1100" dirty="0">
                <a:solidFill>
                  <a:srgbClr val="24313F"/>
                </a:solidFill>
                <a:latin typeface="Calibri" pitchFamily="34" charset="0"/>
                <a:ea typeface="Calibri" pitchFamily="34" charset="-122"/>
                <a:cs typeface="Calibri" pitchFamily="34" charset="-120"/>
              </a:rPr>
              <a:t>2) Mutation — v = xr1 + F·(xr2 − xr3)</a:t>
            </a:r>
            <a:endParaRPr lang="en-US" sz="1100" dirty="0"/>
          </a:p>
          <a:p>
            <a:pPr marL="177800" indent="-177800">
              <a:lnSpc>
                <a:spcPct val="108000"/>
              </a:lnSpc>
              <a:spcAft>
                <a:spcPts val="500"/>
              </a:spcAft>
              <a:buSzPct val="100000"/>
              <a:buChar char="●"/>
            </a:pPr>
            <a:r>
              <a:rPr lang="en-US" sz="1100" dirty="0">
                <a:solidFill>
                  <a:srgbClr val="24313F"/>
                </a:solidFill>
                <a:latin typeface="Calibri" pitchFamily="34" charset="0"/>
                <a:ea typeface="Calibri" pitchFamily="34" charset="-122"/>
                <a:cs typeface="Calibri" pitchFamily="34" charset="-120"/>
              </a:rPr>
              <a:t>3) Crossover — mutant &amp; target vectors combined via crossover probability (CR)</a:t>
            </a:r>
            <a:endParaRPr lang="en-US" sz="1100" dirty="0"/>
          </a:p>
          <a:p>
            <a:pPr marL="177800" indent="-177800">
              <a:lnSpc>
                <a:spcPct val="108000"/>
              </a:lnSpc>
              <a:spcAft>
                <a:spcPts val="500"/>
              </a:spcAft>
              <a:buSzPct val="100000"/>
              <a:buChar char="●"/>
            </a:pPr>
            <a:r>
              <a:rPr lang="en-US" sz="1100" dirty="0">
                <a:solidFill>
                  <a:srgbClr val="24313F"/>
                </a:solidFill>
                <a:latin typeface="Calibri" pitchFamily="34" charset="0"/>
                <a:ea typeface="Calibri" pitchFamily="34" charset="-122"/>
                <a:cs typeface="Calibri" pitchFamily="34" charset="-120"/>
              </a:rPr>
              <a:t>4) Selection — fitter of trial vs. target vector kept each generation</a:t>
            </a:r>
            <a:endParaRPr lang="en-US" sz="1100" dirty="0"/>
          </a:p>
          <a:p>
            <a:pPr marL="177800" indent="-177800">
              <a:lnSpc>
                <a:spcPct val="108000"/>
              </a:lnSpc>
              <a:spcAft>
                <a:spcPts val="500"/>
              </a:spcAft>
              <a:buSzPct val="100000"/>
              <a:buChar char="●"/>
            </a:pPr>
            <a:r>
              <a:rPr lang="en-US" sz="1100" dirty="0">
                <a:solidFill>
                  <a:srgbClr val="24313F"/>
                </a:solidFill>
                <a:latin typeface="Calibri" pitchFamily="34" charset="0"/>
                <a:ea typeface="Calibri" pitchFamily="34" charset="-122"/>
                <a:cs typeface="Calibri" pitchFamily="34" charset="-120"/>
              </a:rPr>
              <a:t>Fitness ∝ maximize CL/CD with stability constraints; terminates on generation limit or negligible fitness improvement</a:t>
            </a:r>
            <a:endParaRPr lang="en-US" sz="1100" dirty="0"/>
          </a:p>
        </p:txBody>
      </p:sp>
      <p:sp>
        <p:nvSpPr>
          <p:cNvPr id="9" name="Shape 7"/>
          <p:cNvSpPr/>
          <p:nvPr/>
        </p:nvSpPr>
        <p:spPr>
          <a:xfrm>
            <a:off x="5943600" y="1143000"/>
            <a:ext cx="5696712" cy="2331720"/>
          </a:xfrm>
          <a:prstGeom prst="roundRect">
            <a:avLst>
              <a:gd name="adj" fmla="val 3137"/>
            </a:avLst>
          </a:prstGeom>
          <a:solidFill>
            <a:srgbClr val="FFFFFF"/>
          </a:solidFill>
          <a:ln w="12700">
            <a:solidFill>
              <a:srgbClr val="C9DDF0"/>
            </a:solidFill>
            <a:prstDash val="solid"/>
          </a:ln>
          <a:effectLst>
            <a:outerShdw sx="100000" sy="100000" kx="0" ky="0" algn="bl" rotWithShape="0" blurRad="76200" dist="25400" dir="5400000">
              <a:srgbClr val="9CB7CC">
                <a:alpha val="30000"/>
              </a:srgbClr>
            </a:outerShdw>
          </a:effectLst>
        </p:spPr>
      </p:sp>
      <p:pic>
        <p:nvPicPr>
          <p:cNvPr id="10" name="Image 0" descr="/home/claude/ppt/assets/image7_clean.png">    </p:cNvPr>
          <p:cNvPicPr>
            <a:picLocks noChangeAspect="1"/>
          </p:cNvPicPr>
          <p:nvPr/>
        </p:nvPicPr>
        <p:blipFill>
          <a:blip r:embed="rId1"/>
          <a:stretch>
            <a:fillRect/>
          </a:stretch>
        </p:blipFill>
        <p:spPr>
          <a:xfrm>
            <a:off x="7291030" y="1252728"/>
            <a:ext cx="3001853" cy="1819656"/>
          </a:xfrm>
          <a:prstGeom prst="rect">
            <a:avLst/>
          </a:prstGeom>
        </p:spPr>
      </p:pic>
      <p:sp>
        <p:nvSpPr>
          <p:cNvPr id="11" name="Text 8"/>
          <p:cNvSpPr/>
          <p:nvPr/>
        </p:nvSpPr>
        <p:spPr>
          <a:xfrm>
            <a:off x="6053328" y="3145536"/>
            <a:ext cx="5477256" cy="292608"/>
          </a:xfrm>
          <a:prstGeom prst="rect">
            <a:avLst/>
          </a:prstGeom>
          <a:noFill/>
          <a:ln/>
        </p:spPr>
        <p:txBody>
          <a:bodyPr wrap="square" rtlCol="0" anchor="t"/>
          <a:lstStyle/>
          <a:p>
            <a:pPr algn="ctr" indent="0" marL="0">
              <a:buNone/>
            </a:pPr>
            <a:r>
              <a:rPr lang="en-US" sz="1050" i="1" dirty="0">
                <a:solidFill>
                  <a:srgbClr val="5B7385"/>
                </a:solidFill>
                <a:latin typeface="Calibri" pitchFamily="34" charset="0"/>
                <a:ea typeface="Calibri" pitchFamily="34" charset="-122"/>
                <a:cs typeface="Calibri" pitchFamily="34" charset="-120"/>
              </a:rPr>
              <a:t>Optimization Result — Best &amp; Average Fitness per Generation</a:t>
            </a:r>
            <a:endParaRPr lang="en-US" sz="1050" dirty="0"/>
          </a:p>
        </p:txBody>
      </p:sp>
      <p:sp>
        <p:nvSpPr>
          <p:cNvPr id="12" name="Text 9"/>
          <p:cNvSpPr/>
          <p:nvPr/>
        </p:nvSpPr>
        <p:spPr>
          <a:xfrm>
            <a:off x="548640" y="3675888"/>
            <a:ext cx="9144000" cy="256032"/>
          </a:xfrm>
          <a:prstGeom prst="rect">
            <a:avLst/>
          </a:prstGeom>
          <a:noFill/>
          <a:ln/>
        </p:spPr>
        <p:txBody>
          <a:bodyPr wrap="square" rtlCol="0" anchor="ctr"/>
          <a:lstStyle/>
          <a:p>
            <a:pPr indent="0" marL="0">
              <a:buNone/>
            </a:pPr>
            <a:r>
              <a:rPr lang="en-US" sz="1200" b="1" spc="120" kern="0" dirty="0">
                <a:solidFill>
                  <a:srgbClr val="2E75B6"/>
                </a:solidFill>
                <a:latin typeface="Calibri" pitchFamily="34" charset="0"/>
                <a:ea typeface="Calibri" pitchFamily="34" charset="-122"/>
                <a:cs typeface="Calibri" pitchFamily="34" charset="-120"/>
              </a:rPr>
              <a:t>FITNESS INPUTS, CONSTRAINTS &amp; OUTPUT CONFIGURATION</a:t>
            </a:r>
            <a:endParaRPr lang="en-US" sz="1200" dirty="0"/>
          </a:p>
        </p:txBody>
      </p:sp>
      <p:sp>
        <p:nvSpPr>
          <p:cNvPr id="13" name="Shape 10"/>
          <p:cNvSpPr/>
          <p:nvPr/>
        </p:nvSpPr>
        <p:spPr>
          <a:xfrm>
            <a:off x="548640" y="4005072"/>
            <a:ext cx="2212848" cy="566928"/>
          </a:xfrm>
          <a:prstGeom prst="roundRect">
            <a:avLst>
              <a:gd name="adj" fmla="val 9677"/>
            </a:avLst>
          </a:prstGeom>
          <a:solidFill>
            <a:srgbClr val="D5E8F8"/>
          </a:solidFill>
          <a:ln w="9525">
            <a:solidFill>
              <a:srgbClr val="C9DDF0"/>
            </a:solidFill>
            <a:prstDash val="solid"/>
          </a:ln>
        </p:spPr>
      </p:sp>
      <p:sp>
        <p:nvSpPr>
          <p:cNvPr id="14" name="Text 11"/>
          <p:cNvSpPr/>
          <p:nvPr/>
        </p:nvSpPr>
        <p:spPr>
          <a:xfrm>
            <a:off x="621792" y="4050792"/>
            <a:ext cx="2066544" cy="255118"/>
          </a:xfrm>
          <a:prstGeom prst="rect">
            <a:avLst/>
          </a:prstGeom>
          <a:noFill/>
          <a:ln/>
        </p:spPr>
        <p:txBody>
          <a:bodyPr wrap="square" rtlCol="0" anchor="t"/>
          <a:lstStyle/>
          <a:p>
            <a:pPr indent="0" marL="0">
              <a:buNone/>
            </a:pPr>
            <a:r>
              <a:rPr lang="en-US" sz="870" dirty="0">
                <a:solidFill>
                  <a:srgbClr val="5B7385"/>
                </a:solidFill>
                <a:latin typeface="Calibri" pitchFamily="34" charset="0"/>
                <a:ea typeface="Calibri" pitchFamily="34" charset="-122"/>
                <a:cs typeface="Calibri" pitchFamily="34" charset="-120"/>
              </a:rPr>
              <a:t>Nose length</a:t>
            </a:r>
            <a:endParaRPr lang="en-US" sz="870" dirty="0"/>
          </a:p>
        </p:txBody>
      </p:sp>
      <p:sp>
        <p:nvSpPr>
          <p:cNvPr id="15" name="Text 12"/>
          <p:cNvSpPr/>
          <p:nvPr/>
        </p:nvSpPr>
        <p:spPr>
          <a:xfrm>
            <a:off x="621792" y="4243182"/>
            <a:ext cx="2066544" cy="283464"/>
          </a:xfrm>
          <a:prstGeom prst="rect">
            <a:avLst/>
          </a:prstGeom>
          <a:noFill/>
          <a:ln/>
        </p:spPr>
        <p:txBody>
          <a:bodyPr wrap="square" rtlCol="0" anchor="t"/>
          <a:lstStyle/>
          <a:p>
            <a:pPr indent="0" marL="0">
              <a:buNone/>
            </a:pPr>
            <a:r>
              <a:rPr lang="en-US" sz="1200" b="1" dirty="0">
                <a:solidFill>
                  <a:srgbClr val="1F4E79"/>
                </a:solidFill>
                <a:latin typeface="Calibri" pitchFamily="34" charset="0"/>
                <a:ea typeface="Calibri" pitchFamily="34" charset="-122"/>
                <a:cs typeface="Calibri" pitchFamily="34" charset="-120"/>
              </a:rPr>
              <a:t>178.81</a:t>
            </a:r>
            <a:endParaRPr lang="en-US" sz="1200" dirty="0"/>
          </a:p>
        </p:txBody>
      </p:sp>
      <p:sp>
        <p:nvSpPr>
          <p:cNvPr id="16" name="Shape 13"/>
          <p:cNvSpPr/>
          <p:nvPr/>
        </p:nvSpPr>
        <p:spPr>
          <a:xfrm>
            <a:off x="2843784" y="4005072"/>
            <a:ext cx="2212848" cy="566928"/>
          </a:xfrm>
          <a:prstGeom prst="roundRect">
            <a:avLst>
              <a:gd name="adj" fmla="val 9677"/>
            </a:avLst>
          </a:prstGeom>
          <a:solidFill>
            <a:srgbClr val="D5E8F8"/>
          </a:solidFill>
          <a:ln w="9525">
            <a:solidFill>
              <a:srgbClr val="C9DDF0"/>
            </a:solidFill>
            <a:prstDash val="solid"/>
          </a:ln>
        </p:spPr>
      </p:sp>
      <p:sp>
        <p:nvSpPr>
          <p:cNvPr id="17" name="Text 14"/>
          <p:cNvSpPr/>
          <p:nvPr/>
        </p:nvSpPr>
        <p:spPr>
          <a:xfrm>
            <a:off x="2916936" y="4050792"/>
            <a:ext cx="2066544" cy="255118"/>
          </a:xfrm>
          <a:prstGeom prst="rect">
            <a:avLst/>
          </a:prstGeom>
          <a:noFill/>
          <a:ln/>
        </p:spPr>
        <p:txBody>
          <a:bodyPr wrap="square" rtlCol="0" anchor="t"/>
          <a:lstStyle/>
          <a:p>
            <a:pPr indent="0" marL="0">
              <a:buNone/>
            </a:pPr>
            <a:r>
              <a:rPr lang="en-US" sz="870" dirty="0">
                <a:solidFill>
                  <a:srgbClr val="5B7385"/>
                </a:solidFill>
                <a:latin typeface="Calibri" pitchFamily="34" charset="0"/>
                <a:ea typeface="Calibri" pitchFamily="34" charset="-122"/>
                <a:cs typeface="Calibri" pitchFamily="34" charset="-120"/>
              </a:rPr>
              <a:t>Body length</a:t>
            </a:r>
            <a:endParaRPr lang="en-US" sz="870" dirty="0"/>
          </a:p>
        </p:txBody>
      </p:sp>
      <p:sp>
        <p:nvSpPr>
          <p:cNvPr id="18" name="Text 15"/>
          <p:cNvSpPr/>
          <p:nvPr/>
        </p:nvSpPr>
        <p:spPr>
          <a:xfrm>
            <a:off x="2916936" y="4243182"/>
            <a:ext cx="2066544" cy="283464"/>
          </a:xfrm>
          <a:prstGeom prst="rect">
            <a:avLst/>
          </a:prstGeom>
          <a:noFill/>
          <a:ln/>
        </p:spPr>
        <p:txBody>
          <a:bodyPr wrap="square" rtlCol="0" anchor="t"/>
          <a:lstStyle/>
          <a:p>
            <a:pPr indent="0" marL="0">
              <a:buNone/>
            </a:pPr>
            <a:r>
              <a:rPr lang="en-US" sz="1200" b="1" dirty="0">
                <a:solidFill>
                  <a:srgbClr val="1F4E79"/>
                </a:solidFill>
                <a:latin typeface="Calibri" pitchFamily="34" charset="0"/>
                <a:ea typeface="Calibri" pitchFamily="34" charset="-122"/>
                <a:cs typeface="Calibri" pitchFamily="34" charset="-120"/>
              </a:rPr>
              <a:t>2450.30</a:t>
            </a:r>
            <a:endParaRPr lang="en-US" sz="1200" dirty="0"/>
          </a:p>
        </p:txBody>
      </p:sp>
      <p:sp>
        <p:nvSpPr>
          <p:cNvPr id="19" name="Shape 16"/>
          <p:cNvSpPr/>
          <p:nvPr/>
        </p:nvSpPr>
        <p:spPr>
          <a:xfrm>
            <a:off x="5138928" y="4005072"/>
            <a:ext cx="2212848" cy="566928"/>
          </a:xfrm>
          <a:prstGeom prst="roundRect">
            <a:avLst>
              <a:gd name="adj" fmla="val 9677"/>
            </a:avLst>
          </a:prstGeom>
          <a:solidFill>
            <a:srgbClr val="D5E8F8"/>
          </a:solidFill>
          <a:ln w="9525">
            <a:solidFill>
              <a:srgbClr val="C9DDF0"/>
            </a:solidFill>
            <a:prstDash val="solid"/>
          </a:ln>
        </p:spPr>
      </p:sp>
      <p:sp>
        <p:nvSpPr>
          <p:cNvPr id="20" name="Text 17"/>
          <p:cNvSpPr/>
          <p:nvPr/>
        </p:nvSpPr>
        <p:spPr>
          <a:xfrm>
            <a:off x="5212080" y="4050792"/>
            <a:ext cx="2066544" cy="255118"/>
          </a:xfrm>
          <a:prstGeom prst="rect">
            <a:avLst/>
          </a:prstGeom>
          <a:noFill/>
          <a:ln/>
        </p:spPr>
        <p:txBody>
          <a:bodyPr wrap="square" rtlCol="0" anchor="t"/>
          <a:lstStyle/>
          <a:p>
            <a:pPr indent="0" marL="0">
              <a:buNone/>
            </a:pPr>
            <a:r>
              <a:rPr lang="en-US" sz="870" dirty="0">
                <a:solidFill>
                  <a:srgbClr val="5B7385"/>
                </a:solidFill>
                <a:latin typeface="Calibri" pitchFamily="34" charset="0"/>
                <a:ea typeface="Calibri" pitchFamily="34" charset="-122"/>
                <a:cs typeface="Calibri" pitchFamily="34" charset="-120"/>
              </a:rPr>
              <a:t>Wing LE</a:t>
            </a:r>
            <a:endParaRPr lang="en-US" sz="870" dirty="0"/>
          </a:p>
        </p:txBody>
      </p:sp>
      <p:sp>
        <p:nvSpPr>
          <p:cNvPr id="21" name="Text 18"/>
          <p:cNvSpPr/>
          <p:nvPr/>
        </p:nvSpPr>
        <p:spPr>
          <a:xfrm>
            <a:off x="5212080" y="4243182"/>
            <a:ext cx="2066544" cy="283464"/>
          </a:xfrm>
          <a:prstGeom prst="rect">
            <a:avLst/>
          </a:prstGeom>
          <a:noFill/>
          <a:ln/>
        </p:spPr>
        <p:txBody>
          <a:bodyPr wrap="square" rtlCol="0" anchor="t"/>
          <a:lstStyle/>
          <a:p>
            <a:pPr indent="0" marL="0">
              <a:buNone/>
            </a:pPr>
            <a:r>
              <a:rPr lang="en-US" sz="1200" b="1" dirty="0">
                <a:solidFill>
                  <a:srgbClr val="1F4E79"/>
                </a:solidFill>
                <a:latin typeface="Calibri" pitchFamily="34" charset="0"/>
                <a:ea typeface="Calibri" pitchFamily="34" charset="-122"/>
                <a:cs typeface="Calibri" pitchFamily="34" charset="-120"/>
              </a:rPr>
              <a:t>1668.85</a:t>
            </a:r>
            <a:endParaRPr lang="en-US" sz="1200" dirty="0"/>
          </a:p>
        </p:txBody>
      </p:sp>
      <p:sp>
        <p:nvSpPr>
          <p:cNvPr id="22" name="Shape 19"/>
          <p:cNvSpPr/>
          <p:nvPr/>
        </p:nvSpPr>
        <p:spPr>
          <a:xfrm>
            <a:off x="7434072" y="4005072"/>
            <a:ext cx="2212848" cy="566928"/>
          </a:xfrm>
          <a:prstGeom prst="roundRect">
            <a:avLst>
              <a:gd name="adj" fmla="val 9677"/>
            </a:avLst>
          </a:prstGeom>
          <a:solidFill>
            <a:srgbClr val="D5E8F8"/>
          </a:solidFill>
          <a:ln w="9525">
            <a:solidFill>
              <a:srgbClr val="C9DDF0"/>
            </a:solidFill>
            <a:prstDash val="solid"/>
          </a:ln>
        </p:spPr>
      </p:sp>
      <p:sp>
        <p:nvSpPr>
          <p:cNvPr id="23" name="Text 20"/>
          <p:cNvSpPr/>
          <p:nvPr/>
        </p:nvSpPr>
        <p:spPr>
          <a:xfrm>
            <a:off x="7507224" y="4050792"/>
            <a:ext cx="2066544" cy="255118"/>
          </a:xfrm>
          <a:prstGeom prst="rect">
            <a:avLst/>
          </a:prstGeom>
          <a:noFill/>
          <a:ln/>
        </p:spPr>
        <p:txBody>
          <a:bodyPr wrap="square" rtlCol="0" anchor="t"/>
          <a:lstStyle/>
          <a:p>
            <a:pPr indent="0" marL="0">
              <a:buNone/>
            </a:pPr>
            <a:r>
              <a:rPr lang="en-US" sz="870" dirty="0">
                <a:solidFill>
                  <a:srgbClr val="5B7385"/>
                </a:solidFill>
                <a:latin typeface="Calibri" pitchFamily="34" charset="0"/>
                <a:ea typeface="Calibri" pitchFamily="34" charset="-122"/>
                <a:cs typeface="Calibri" pitchFamily="34" charset="-120"/>
              </a:rPr>
              <a:t>Root chord</a:t>
            </a:r>
            <a:endParaRPr lang="en-US" sz="870" dirty="0"/>
          </a:p>
        </p:txBody>
      </p:sp>
      <p:sp>
        <p:nvSpPr>
          <p:cNvPr id="24" name="Text 21"/>
          <p:cNvSpPr/>
          <p:nvPr/>
        </p:nvSpPr>
        <p:spPr>
          <a:xfrm>
            <a:off x="7507224" y="4243182"/>
            <a:ext cx="2066544" cy="283464"/>
          </a:xfrm>
          <a:prstGeom prst="rect">
            <a:avLst/>
          </a:prstGeom>
          <a:noFill/>
          <a:ln/>
        </p:spPr>
        <p:txBody>
          <a:bodyPr wrap="square" rtlCol="0" anchor="t"/>
          <a:lstStyle/>
          <a:p>
            <a:pPr indent="0" marL="0">
              <a:buNone/>
            </a:pPr>
            <a:r>
              <a:rPr lang="en-US" sz="1200" b="1" dirty="0">
                <a:solidFill>
                  <a:srgbClr val="1F4E79"/>
                </a:solidFill>
                <a:latin typeface="Calibri" pitchFamily="34" charset="0"/>
                <a:ea typeface="Calibri" pitchFamily="34" charset="-122"/>
                <a:cs typeface="Calibri" pitchFamily="34" charset="-120"/>
              </a:rPr>
              <a:t>526.97</a:t>
            </a:r>
            <a:endParaRPr lang="en-US" sz="1200" dirty="0"/>
          </a:p>
        </p:txBody>
      </p:sp>
      <p:sp>
        <p:nvSpPr>
          <p:cNvPr id="25" name="Shape 22"/>
          <p:cNvSpPr/>
          <p:nvPr/>
        </p:nvSpPr>
        <p:spPr>
          <a:xfrm>
            <a:off x="9729216" y="4005072"/>
            <a:ext cx="2212848" cy="566928"/>
          </a:xfrm>
          <a:prstGeom prst="roundRect">
            <a:avLst>
              <a:gd name="adj" fmla="val 9677"/>
            </a:avLst>
          </a:prstGeom>
          <a:solidFill>
            <a:srgbClr val="D5E8F8"/>
          </a:solidFill>
          <a:ln w="9525">
            <a:solidFill>
              <a:srgbClr val="C9DDF0"/>
            </a:solidFill>
            <a:prstDash val="solid"/>
          </a:ln>
        </p:spPr>
      </p:sp>
      <p:sp>
        <p:nvSpPr>
          <p:cNvPr id="26" name="Text 23"/>
          <p:cNvSpPr/>
          <p:nvPr/>
        </p:nvSpPr>
        <p:spPr>
          <a:xfrm>
            <a:off x="9802368" y="4050792"/>
            <a:ext cx="2066544" cy="255118"/>
          </a:xfrm>
          <a:prstGeom prst="rect">
            <a:avLst/>
          </a:prstGeom>
          <a:noFill/>
          <a:ln/>
        </p:spPr>
        <p:txBody>
          <a:bodyPr wrap="square" rtlCol="0" anchor="t"/>
          <a:lstStyle/>
          <a:p>
            <a:pPr indent="0" marL="0">
              <a:buNone/>
            </a:pPr>
            <a:r>
              <a:rPr lang="en-US" sz="870" dirty="0">
                <a:solidFill>
                  <a:srgbClr val="5B7385"/>
                </a:solidFill>
                <a:latin typeface="Calibri" pitchFamily="34" charset="0"/>
                <a:ea typeface="Calibri" pitchFamily="34" charset="-122"/>
                <a:cs typeface="Calibri" pitchFamily="34" charset="-120"/>
              </a:rPr>
              <a:t>Tip chord</a:t>
            </a:r>
            <a:endParaRPr lang="en-US" sz="870" dirty="0"/>
          </a:p>
        </p:txBody>
      </p:sp>
      <p:sp>
        <p:nvSpPr>
          <p:cNvPr id="27" name="Text 24"/>
          <p:cNvSpPr/>
          <p:nvPr/>
        </p:nvSpPr>
        <p:spPr>
          <a:xfrm>
            <a:off x="9802368" y="4243182"/>
            <a:ext cx="2066544" cy="283464"/>
          </a:xfrm>
          <a:prstGeom prst="rect">
            <a:avLst/>
          </a:prstGeom>
          <a:noFill/>
          <a:ln/>
        </p:spPr>
        <p:txBody>
          <a:bodyPr wrap="square" rtlCol="0" anchor="t"/>
          <a:lstStyle/>
          <a:p>
            <a:pPr indent="0" marL="0">
              <a:buNone/>
            </a:pPr>
            <a:r>
              <a:rPr lang="en-US" sz="1200" b="1" dirty="0">
                <a:solidFill>
                  <a:srgbClr val="1F4E79"/>
                </a:solidFill>
                <a:latin typeface="Calibri" pitchFamily="34" charset="0"/>
                <a:ea typeface="Calibri" pitchFamily="34" charset="-122"/>
                <a:cs typeface="Calibri" pitchFamily="34" charset="-120"/>
              </a:rPr>
              <a:t>879.67</a:t>
            </a:r>
            <a:endParaRPr lang="en-US" sz="1200" dirty="0"/>
          </a:p>
        </p:txBody>
      </p:sp>
      <p:sp>
        <p:nvSpPr>
          <p:cNvPr id="28" name="Shape 25"/>
          <p:cNvSpPr/>
          <p:nvPr/>
        </p:nvSpPr>
        <p:spPr>
          <a:xfrm>
            <a:off x="548640" y="4654296"/>
            <a:ext cx="2212848" cy="566928"/>
          </a:xfrm>
          <a:prstGeom prst="roundRect">
            <a:avLst>
              <a:gd name="adj" fmla="val 9677"/>
            </a:avLst>
          </a:prstGeom>
          <a:solidFill>
            <a:srgbClr val="D5E8F8"/>
          </a:solidFill>
          <a:ln w="9525">
            <a:solidFill>
              <a:srgbClr val="C9DDF0"/>
            </a:solidFill>
            <a:prstDash val="solid"/>
          </a:ln>
        </p:spPr>
      </p:sp>
      <p:sp>
        <p:nvSpPr>
          <p:cNvPr id="29" name="Text 26"/>
          <p:cNvSpPr/>
          <p:nvPr/>
        </p:nvSpPr>
        <p:spPr>
          <a:xfrm>
            <a:off x="621792" y="4700016"/>
            <a:ext cx="2066544" cy="255118"/>
          </a:xfrm>
          <a:prstGeom prst="rect">
            <a:avLst/>
          </a:prstGeom>
          <a:noFill/>
          <a:ln/>
        </p:spPr>
        <p:txBody>
          <a:bodyPr wrap="square" rtlCol="0" anchor="t"/>
          <a:lstStyle/>
          <a:p>
            <a:pPr indent="0" marL="0">
              <a:buNone/>
            </a:pPr>
            <a:r>
              <a:rPr lang="en-US" sz="870" dirty="0">
                <a:solidFill>
                  <a:srgbClr val="5B7385"/>
                </a:solidFill>
                <a:latin typeface="Calibri" pitchFamily="34" charset="0"/>
                <a:ea typeface="Calibri" pitchFamily="34" charset="-122"/>
                <a:cs typeface="Calibri" pitchFamily="34" charset="-120"/>
              </a:rPr>
              <a:t>Semi-span</a:t>
            </a:r>
            <a:endParaRPr lang="en-US" sz="870" dirty="0"/>
          </a:p>
        </p:txBody>
      </p:sp>
      <p:sp>
        <p:nvSpPr>
          <p:cNvPr id="30" name="Text 27"/>
          <p:cNvSpPr/>
          <p:nvPr/>
        </p:nvSpPr>
        <p:spPr>
          <a:xfrm>
            <a:off x="621792" y="4892406"/>
            <a:ext cx="2066544" cy="283464"/>
          </a:xfrm>
          <a:prstGeom prst="rect">
            <a:avLst/>
          </a:prstGeom>
          <a:noFill/>
          <a:ln/>
        </p:spPr>
        <p:txBody>
          <a:bodyPr wrap="square" rtlCol="0" anchor="t"/>
          <a:lstStyle/>
          <a:p>
            <a:pPr indent="0" marL="0">
              <a:buNone/>
            </a:pPr>
            <a:r>
              <a:rPr lang="en-US" sz="1200" b="1" dirty="0">
                <a:solidFill>
                  <a:srgbClr val="1F4E79"/>
                </a:solidFill>
                <a:latin typeface="Calibri" pitchFamily="34" charset="0"/>
                <a:ea typeface="Calibri" pitchFamily="34" charset="-122"/>
                <a:cs typeface="Calibri" pitchFamily="34" charset="-120"/>
              </a:rPr>
              <a:t>1134.95</a:t>
            </a:r>
            <a:endParaRPr lang="en-US" sz="1200" dirty="0"/>
          </a:p>
        </p:txBody>
      </p:sp>
      <p:sp>
        <p:nvSpPr>
          <p:cNvPr id="31" name="Shape 28"/>
          <p:cNvSpPr/>
          <p:nvPr/>
        </p:nvSpPr>
        <p:spPr>
          <a:xfrm>
            <a:off x="2843784" y="4654296"/>
            <a:ext cx="2212848" cy="566928"/>
          </a:xfrm>
          <a:prstGeom prst="roundRect">
            <a:avLst>
              <a:gd name="adj" fmla="val 9677"/>
            </a:avLst>
          </a:prstGeom>
          <a:solidFill>
            <a:srgbClr val="D5E8F8"/>
          </a:solidFill>
          <a:ln w="9525">
            <a:solidFill>
              <a:srgbClr val="C9DDF0"/>
            </a:solidFill>
            <a:prstDash val="solid"/>
          </a:ln>
        </p:spPr>
      </p:sp>
      <p:sp>
        <p:nvSpPr>
          <p:cNvPr id="32" name="Text 29"/>
          <p:cNvSpPr/>
          <p:nvPr/>
        </p:nvSpPr>
        <p:spPr>
          <a:xfrm>
            <a:off x="2916936" y="4700016"/>
            <a:ext cx="2066544" cy="255118"/>
          </a:xfrm>
          <a:prstGeom prst="rect">
            <a:avLst/>
          </a:prstGeom>
          <a:noFill/>
          <a:ln/>
        </p:spPr>
        <p:txBody>
          <a:bodyPr wrap="square" rtlCol="0" anchor="t"/>
          <a:lstStyle/>
          <a:p>
            <a:pPr indent="0" marL="0">
              <a:buNone/>
            </a:pPr>
            <a:r>
              <a:rPr lang="en-US" sz="870" dirty="0">
                <a:solidFill>
                  <a:srgbClr val="5B7385"/>
                </a:solidFill>
                <a:latin typeface="Calibri" pitchFamily="34" charset="0"/>
                <a:ea typeface="Calibri" pitchFamily="34" charset="-122"/>
                <a:cs typeface="Calibri" pitchFamily="34" charset="-120"/>
              </a:rPr>
              <a:t>Root thickness</a:t>
            </a:r>
            <a:endParaRPr lang="en-US" sz="870" dirty="0"/>
          </a:p>
        </p:txBody>
      </p:sp>
      <p:sp>
        <p:nvSpPr>
          <p:cNvPr id="33" name="Text 30"/>
          <p:cNvSpPr/>
          <p:nvPr/>
        </p:nvSpPr>
        <p:spPr>
          <a:xfrm>
            <a:off x="2916936" y="4892406"/>
            <a:ext cx="2066544" cy="283464"/>
          </a:xfrm>
          <a:prstGeom prst="rect">
            <a:avLst/>
          </a:prstGeom>
          <a:noFill/>
          <a:ln/>
        </p:spPr>
        <p:txBody>
          <a:bodyPr wrap="square" rtlCol="0" anchor="t"/>
          <a:lstStyle/>
          <a:p>
            <a:pPr indent="0" marL="0">
              <a:buNone/>
            </a:pPr>
            <a:r>
              <a:rPr lang="en-US" sz="1200" b="1" dirty="0">
                <a:solidFill>
                  <a:srgbClr val="1F4E79"/>
                </a:solidFill>
                <a:latin typeface="Calibri" pitchFamily="34" charset="0"/>
                <a:ea typeface="Calibri" pitchFamily="34" charset="-122"/>
                <a:cs typeface="Calibri" pitchFamily="34" charset="-120"/>
              </a:rPr>
              <a:t>54.87</a:t>
            </a:r>
            <a:endParaRPr lang="en-US" sz="1200" dirty="0"/>
          </a:p>
        </p:txBody>
      </p:sp>
      <p:sp>
        <p:nvSpPr>
          <p:cNvPr id="34" name="Shape 31"/>
          <p:cNvSpPr/>
          <p:nvPr/>
        </p:nvSpPr>
        <p:spPr>
          <a:xfrm>
            <a:off x="5138928" y="4654296"/>
            <a:ext cx="2212848" cy="566928"/>
          </a:xfrm>
          <a:prstGeom prst="roundRect">
            <a:avLst>
              <a:gd name="adj" fmla="val 9677"/>
            </a:avLst>
          </a:prstGeom>
          <a:solidFill>
            <a:srgbClr val="D5E8F8"/>
          </a:solidFill>
          <a:ln w="9525">
            <a:solidFill>
              <a:srgbClr val="C9DDF0"/>
            </a:solidFill>
            <a:prstDash val="solid"/>
          </a:ln>
        </p:spPr>
      </p:sp>
      <p:sp>
        <p:nvSpPr>
          <p:cNvPr id="35" name="Text 32"/>
          <p:cNvSpPr/>
          <p:nvPr/>
        </p:nvSpPr>
        <p:spPr>
          <a:xfrm>
            <a:off x="5212080" y="4700016"/>
            <a:ext cx="2066544" cy="255118"/>
          </a:xfrm>
          <a:prstGeom prst="rect">
            <a:avLst/>
          </a:prstGeom>
          <a:noFill/>
          <a:ln/>
        </p:spPr>
        <p:txBody>
          <a:bodyPr wrap="square" rtlCol="0" anchor="t"/>
          <a:lstStyle/>
          <a:p>
            <a:pPr indent="0" marL="0">
              <a:buNone/>
            </a:pPr>
            <a:r>
              <a:rPr lang="en-US" sz="870" dirty="0">
                <a:solidFill>
                  <a:srgbClr val="5B7385"/>
                </a:solidFill>
                <a:latin typeface="Calibri" pitchFamily="34" charset="0"/>
                <a:ea typeface="Calibri" pitchFamily="34" charset="-122"/>
                <a:cs typeface="Calibri" pitchFamily="34" charset="-120"/>
              </a:rPr>
              <a:t>Tip thickness</a:t>
            </a:r>
            <a:endParaRPr lang="en-US" sz="870" dirty="0"/>
          </a:p>
        </p:txBody>
      </p:sp>
      <p:sp>
        <p:nvSpPr>
          <p:cNvPr id="36" name="Text 33"/>
          <p:cNvSpPr/>
          <p:nvPr/>
        </p:nvSpPr>
        <p:spPr>
          <a:xfrm>
            <a:off x="5212080" y="4892406"/>
            <a:ext cx="2066544" cy="283464"/>
          </a:xfrm>
          <a:prstGeom prst="rect">
            <a:avLst/>
          </a:prstGeom>
          <a:noFill/>
          <a:ln/>
        </p:spPr>
        <p:txBody>
          <a:bodyPr wrap="square" rtlCol="0" anchor="t"/>
          <a:lstStyle/>
          <a:p>
            <a:pPr indent="0" marL="0">
              <a:buNone/>
            </a:pPr>
            <a:r>
              <a:rPr lang="en-US" sz="1200" b="1" dirty="0">
                <a:solidFill>
                  <a:srgbClr val="1F4E79"/>
                </a:solidFill>
                <a:latin typeface="Calibri" pitchFamily="34" charset="0"/>
                <a:ea typeface="Calibri" pitchFamily="34" charset="-122"/>
                <a:cs typeface="Calibri" pitchFamily="34" charset="-120"/>
              </a:rPr>
              <a:t>10.00</a:t>
            </a:r>
            <a:endParaRPr lang="en-US" sz="1200" dirty="0"/>
          </a:p>
        </p:txBody>
      </p:sp>
      <p:sp>
        <p:nvSpPr>
          <p:cNvPr id="37" name="Shape 34"/>
          <p:cNvSpPr/>
          <p:nvPr/>
        </p:nvSpPr>
        <p:spPr>
          <a:xfrm>
            <a:off x="7434072" y="4654296"/>
            <a:ext cx="2212848" cy="566928"/>
          </a:xfrm>
          <a:prstGeom prst="roundRect">
            <a:avLst>
              <a:gd name="adj" fmla="val 9677"/>
            </a:avLst>
          </a:prstGeom>
          <a:solidFill>
            <a:srgbClr val="D5E8F8"/>
          </a:solidFill>
          <a:ln w="9525">
            <a:solidFill>
              <a:srgbClr val="C9DDF0"/>
            </a:solidFill>
            <a:prstDash val="solid"/>
          </a:ln>
        </p:spPr>
      </p:sp>
      <p:sp>
        <p:nvSpPr>
          <p:cNvPr id="38" name="Text 35"/>
          <p:cNvSpPr/>
          <p:nvPr/>
        </p:nvSpPr>
        <p:spPr>
          <a:xfrm>
            <a:off x="7507224" y="4700016"/>
            <a:ext cx="2066544" cy="255118"/>
          </a:xfrm>
          <a:prstGeom prst="rect">
            <a:avLst/>
          </a:prstGeom>
          <a:noFill/>
          <a:ln/>
        </p:spPr>
        <p:txBody>
          <a:bodyPr wrap="square" rtlCol="0" anchor="t"/>
          <a:lstStyle/>
          <a:p>
            <a:pPr indent="0" marL="0">
              <a:buNone/>
            </a:pPr>
            <a:r>
              <a:rPr lang="en-US" sz="870" dirty="0">
                <a:solidFill>
                  <a:srgbClr val="5B7385"/>
                </a:solidFill>
                <a:latin typeface="Calibri" pitchFamily="34" charset="0"/>
                <a:ea typeface="Calibri" pitchFamily="34" charset="-122"/>
                <a:cs typeface="Calibri" pitchFamily="34" charset="-120"/>
              </a:rPr>
              <a:t>Wing sweep</a:t>
            </a:r>
            <a:endParaRPr lang="en-US" sz="870" dirty="0"/>
          </a:p>
        </p:txBody>
      </p:sp>
      <p:sp>
        <p:nvSpPr>
          <p:cNvPr id="39" name="Text 36"/>
          <p:cNvSpPr/>
          <p:nvPr/>
        </p:nvSpPr>
        <p:spPr>
          <a:xfrm>
            <a:off x="7507224" y="4892406"/>
            <a:ext cx="2066544" cy="283464"/>
          </a:xfrm>
          <a:prstGeom prst="rect">
            <a:avLst/>
          </a:prstGeom>
          <a:noFill/>
          <a:ln/>
        </p:spPr>
        <p:txBody>
          <a:bodyPr wrap="square" rtlCol="0" anchor="t"/>
          <a:lstStyle/>
          <a:p>
            <a:pPr indent="0" marL="0">
              <a:buNone/>
            </a:pPr>
            <a:r>
              <a:rPr lang="en-US" sz="1200" b="1" dirty="0">
                <a:solidFill>
                  <a:srgbClr val="1F4E79"/>
                </a:solidFill>
                <a:latin typeface="Calibri" pitchFamily="34" charset="0"/>
                <a:ea typeface="Calibri" pitchFamily="34" charset="-122"/>
                <a:cs typeface="Calibri" pitchFamily="34" charset="-120"/>
              </a:rPr>
              <a:t>16.48</a:t>
            </a:r>
            <a:endParaRPr lang="en-US" sz="1200" dirty="0"/>
          </a:p>
        </p:txBody>
      </p:sp>
      <p:sp>
        <p:nvSpPr>
          <p:cNvPr id="40" name="Shape 37"/>
          <p:cNvSpPr/>
          <p:nvPr/>
        </p:nvSpPr>
        <p:spPr>
          <a:xfrm>
            <a:off x="9729216" y="4654296"/>
            <a:ext cx="2212848" cy="566928"/>
          </a:xfrm>
          <a:prstGeom prst="roundRect">
            <a:avLst>
              <a:gd name="adj" fmla="val 9677"/>
            </a:avLst>
          </a:prstGeom>
          <a:solidFill>
            <a:srgbClr val="D5E8F8"/>
          </a:solidFill>
          <a:ln w="9525">
            <a:solidFill>
              <a:srgbClr val="C9DDF0"/>
            </a:solidFill>
            <a:prstDash val="solid"/>
          </a:ln>
        </p:spPr>
      </p:sp>
      <p:sp>
        <p:nvSpPr>
          <p:cNvPr id="41" name="Text 38"/>
          <p:cNvSpPr/>
          <p:nvPr/>
        </p:nvSpPr>
        <p:spPr>
          <a:xfrm>
            <a:off x="9802368" y="4700016"/>
            <a:ext cx="2066544" cy="255118"/>
          </a:xfrm>
          <a:prstGeom prst="rect">
            <a:avLst/>
          </a:prstGeom>
          <a:noFill/>
          <a:ln/>
        </p:spPr>
        <p:txBody>
          <a:bodyPr wrap="square" rtlCol="0" anchor="t"/>
          <a:lstStyle/>
          <a:p>
            <a:pPr indent="0" marL="0">
              <a:buNone/>
            </a:pPr>
            <a:r>
              <a:rPr lang="en-US" sz="870" dirty="0">
                <a:solidFill>
                  <a:srgbClr val="5B7385"/>
                </a:solidFill>
                <a:latin typeface="Calibri" pitchFamily="34" charset="0"/>
                <a:ea typeface="Calibri" pitchFamily="34" charset="-122"/>
                <a:cs typeface="Calibri" pitchFamily="34" charset="-120"/>
              </a:rPr>
              <a:t>Tail LE</a:t>
            </a:r>
            <a:endParaRPr lang="en-US" sz="870" dirty="0"/>
          </a:p>
        </p:txBody>
      </p:sp>
      <p:sp>
        <p:nvSpPr>
          <p:cNvPr id="42" name="Text 39"/>
          <p:cNvSpPr/>
          <p:nvPr/>
        </p:nvSpPr>
        <p:spPr>
          <a:xfrm>
            <a:off x="9802368" y="4892406"/>
            <a:ext cx="2066544" cy="283464"/>
          </a:xfrm>
          <a:prstGeom prst="rect">
            <a:avLst/>
          </a:prstGeom>
          <a:noFill/>
          <a:ln/>
        </p:spPr>
        <p:txBody>
          <a:bodyPr wrap="square" rtlCol="0" anchor="t"/>
          <a:lstStyle/>
          <a:p>
            <a:pPr indent="0" marL="0">
              <a:buNone/>
            </a:pPr>
            <a:r>
              <a:rPr lang="en-US" sz="1200" b="1" dirty="0">
                <a:solidFill>
                  <a:srgbClr val="1F4E79"/>
                </a:solidFill>
                <a:latin typeface="Calibri" pitchFamily="34" charset="0"/>
                <a:ea typeface="Calibri" pitchFamily="34" charset="-122"/>
                <a:cs typeface="Calibri" pitchFamily="34" charset="-120"/>
              </a:rPr>
              <a:t>2846.45</a:t>
            </a:r>
            <a:endParaRPr lang="en-US" sz="1200" dirty="0"/>
          </a:p>
        </p:txBody>
      </p:sp>
      <p:sp>
        <p:nvSpPr>
          <p:cNvPr id="43" name="Shape 40"/>
          <p:cNvSpPr/>
          <p:nvPr/>
        </p:nvSpPr>
        <p:spPr>
          <a:xfrm>
            <a:off x="548640" y="5303520"/>
            <a:ext cx="2212848" cy="566928"/>
          </a:xfrm>
          <a:prstGeom prst="roundRect">
            <a:avLst>
              <a:gd name="adj" fmla="val 9677"/>
            </a:avLst>
          </a:prstGeom>
          <a:solidFill>
            <a:srgbClr val="D5E8F8"/>
          </a:solidFill>
          <a:ln w="9525">
            <a:solidFill>
              <a:srgbClr val="C9DDF0"/>
            </a:solidFill>
            <a:prstDash val="solid"/>
          </a:ln>
        </p:spPr>
      </p:sp>
      <p:sp>
        <p:nvSpPr>
          <p:cNvPr id="44" name="Text 41"/>
          <p:cNvSpPr/>
          <p:nvPr/>
        </p:nvSpPr>
        <p:spPr>
          <a:xfrm>
            <a:off x="621792" y="5349240"/>
            <a:ext cx="2066544" cy="255118"/>
          </a:xfrm>
          <a:prstGeom prst="rect">
            <a:avLst/>
          </a:prstGeom>
          <a:noFill/>
          <a:ln/>
        </p:spPr>
        <p:txBody>
          <a:bodyPr wrap="square" rtlCol="0" anchor="t"/>
          <a:lstStyle/>
          <a:p>
            <a:pPr indent="0" marL="0">
              <a:buNone/>
            </a:pPr>
            <a:r>
              <a:rPr lang="en-US" sz="870" dirty="0">
                <a:solidFill>
                  <a:srgbClr val="5B7385"/>
                </a:solidFill>
                <a:latin typeface="Calibri" pitchFamily="34" charset="0"/>
                <a:ea typeface="Calibri" pitchFamily="34" charset="-122"/>
                <a:cs typeface="Calibri" pitchFamily="34" charset="-120"/>
              </a:rPr>
              <a:t>Tail root chord</a:t>
            </a:r>
            <a:endParaRPr lang="en-US" sz="870" dirty="0"/>
          </a:p>
        </p:txBody>
      </p:sp>
      <p:sp>
        <p:nvSpPr>
          <p:cNvPr id="45" name="Text 42"/>
          <p:cNvSpPr/>
          <p:nvPr/>
        </p:nvSpPr>
        <p:spPr>
          <a:xfrm>
            <a:off x="621792" y="5541630"/>
            <a:ext cx="2066544" cy="283464"/>
          </a:xfrm>
          <a:prstGeom prst="rect">
            <a:avLst/>
          </a:prstGeom>
          <a:noFill/>
          <a:ln/>
        </p:spPr>
        <p:txBody>
          <a:bodyPr wrap="square" rtlCol="0" anchor="t"/>
          <a:lstStyle/>
          <a:p>
            <a:pPr indent="0" marL="0">
              <a:buNone/>
            </a:pPr>
            <a:r>
              <a:rPr lang="en-US" sz="1200" b="1" dirty="0">
                <a:solidFill>
                  <a:srgbClr val="1F4E79"/>
                </a:solidFill>
                <a:latin typeface="Calibri" pitchFamily="34" charset="0"/>
                <a:ea typeface="Calibri" pitchFamily="34" charset="-122"/>
                <a:cs typeface="Calibri" pitchFamily="34" charset="-120"/>
              </a:rPr>
              <a:t>241.98</a:t>
            </a:r>
            <a:endParaRPr lang="en-US" sz="1200" dirty="0"/>
          </a:p>
        </p:txBody>
      </p:sp>
      <p:sp>
        <p:nvSpPr>
          <p:cNvPr id="46" name="Shape 43"/>
          <p:cNvSpPr/>
          <p:nvPr/>
        </p:nvSpPr>
        <p:spPr>
          <a:xfrm>
            <a:off x="2843784" y="5303520"/>
            <a:ext cx="2212848" cy="566928"/>
          </a:xfrm>
          <a:prstGeom prst="roundRect">
            <a:avLst>
              <a:gd name="adj" fmla="val 9677"/>
            </a:avLst>
          </a:prstGeom>
          <a:solidFill>
            <a:srgbClr val="D5E8F8"/>
          </a:solidFill>
          <a:ln w="9525">
            <a:solidFill>
              <a:srgbClr val="C9DDF0"/>
            </a:solidFill>
            <a:prstDash val="solid"/>
          </a:ln>
        </p:spPr>
      </p:sp>
      <p:sp>
        <p:nvSpPr>
          <p:cNvPr id="47" name="Text 44"/>
          <p:cNvSpPr/>
          <p:nvPr/>
        </p:nvSpPr>
        <p:spPr>
          <a:xfrm>
            <a:off x="2916936" y="5349240"/>
            <a:ext cx="2066544" cy="255118"/>
          </a:xfrm>
          <a:prstGeom prst="rect">
            <a:avLst/>
          </a:prstGeom>
          <a:noFill/>
          <a:ln/>
        </p:spPr>
        <p:txBody>
          <a:bodyPr wrap="square" rtlCol="0" anchor="t"/>
          <a:lstStyle/>
          <a:p>
            <a:pPr indent="0" marL="0">
              <a:buNone/>
            </a:pPr>
            <a:r>
              <a:rPr lang="en-US" sz="870" dirty="0">
                <a:solidFill>
                  <a:srgbClr val="5B7385"/>
                </a:solidFill>
                <a:latin typeface="Calibri" pitchFamily="34" charset="0"/>
                <a:ea typeface="Calibri" pitchFamily="34" charset="-122"/>
                <a:cs typeface="Calibri" pitchFamily="34" charset="-120"/>
              </a:rPr>
              <a:t>Tail tip chord</a:t>
            </a:r>
            <a:endParaRPr lang="en-US" sz="870" dirty="0"/>
          </a:p>
        </p:txBody>
      </p:sp>
      <p:sp>
        <p:nvSpPr>
          <p:cNvPr id="48" name="Text 45"/>
          <p:cNvSpPr/>
          <p:nvPr/>
        </p:nvSpPr>
        <p:spPr>
          <a:xfrm>
            <a:off x="2916936" y="5541630"/>
            <a:ext cx="2066544" cy="283464"/>
          </a:xfrm>
          <a:prstGeom prst="rect">
            <a:avLst/>
          </a:prstGeom>
          <a:noFill/>
          <a:ln/>
        </p:spPr>
        <p:txBody>
          <a:bodyPr wrap="square" rtlCol="0" anchor="t"/>
          <a:lstStyle/>
          <a:p>
            <a:pPr indent="0" marL="0">
              <a:buNone/>
            </a:pPr>
            <a:r>
              <a:rPr lang="en-US" sz="1200" b="1" dirty="0">
                <a:solidFill>
                  <a:srgbClr val="1F4E79"/>
                </a:solidFill>
                <a:latin typeface="Calibri" pitchFamily="34" charset="0"/>
                <a:ea typeface="Calibri" pitchFamily="34" charset="-122"/>
                <a:cs typeface="Calibri" pitchFamily="34" charset="-120"/>
              </a:rPr>
              <a:t>79.58</a:t>
            </a:r>
            <a:endParaRPr lang="en-US" sz="1200" dirty="0"/>
          </a:p>
        </p:txBody>
      </p:sp>
      <p:sp>
        <p:nvSpPr>
          <p:cNvPr id="49" name="Shape 46"/>
          <p:cNvSpPr/>
          <p:nvPr/>
        </p:nvSpPr>
        <p:spPr>
          <a:xfrm>
            <a:off x="5138928" y="5303520"/>
            <a:ext cx="2212848" cy="566928"/>
          </a:xfrm>
          <a:prstGeom prst="roundRect">
            <a:avLst>
              <a:gd name="adj" fmla="val 9677"/>
            </a:avLst>
          </a:prstGeom>
          <a:solidFill>
            <a:srgbClr val="D5E8F8"/>
          </a:solidFill>
          <a:ln w="9525">
            <a:solidFill>
              <a:srgbClr val="C9DDF0"/>
            </a:solidFill>
            <a:prstDash val="solid"/>
          </a:ln>
        </p:spPr>
      </p:sp>
      <p:sp>
        <p:nvSpPr>
          <p:cNvPr id="50" name="Text 47"/>
          <p:cNvSpPr/>
          <p:nvPr/>
        </p:nvSpPr>
        <p:spPr>
          <a:xfrm>
            <a:off x="5212080" y="5349240"/>
            <a:ext cx="2066544" cy="255118"/>
          </a:xfrm>
          <a:prstGeom prst="rect">
            <a:avLst/>
          </a:prstGeom>
          <a:noFill/>
          <a:ln/>
        </p:spPr>
        <p:txBody>
          <a:bodyPr wrap="square" rtlCol="0" anchor="t"/>
          <a:lstStyle/>
          <a:p>
            <a:pPr indent="0" marL="0">
              <a:buNone/>
            </a:pPr>
            <a:r>
              <a:rPr lang="en-US" sz="870" dirty="0">
                <a:solidFill>
                  <a:srgbClr val="5B7385"/>
                </a:solidFill>
                <a:latin typeface="Calibri" pitchFamily="34" charset="0"/>
                <a:ea typeface="Calibri" pitchFamily="34" charset="-122"/>
                <a:cs typeface="Calibri" pitchFamily="34" charset="-120"/>
              </a:rPr>
              <a:t>Tail semi-span</a:t>
            </a:r>
            <a:endParaRPr lang="en-US" sz="870" dirty="0"/>
          </a:p>
        </p:txBody>
      </p:sp>
      <p:sp>
        <p:nvSpPr>
          <p:cNvPr id="51" name="Text 48"/>
          <p:cNvSpPr/>
          <p:nvPr/>
        </p:nvSpPr>
        <p:spPr>
          <a:xfrm>
            <a:off x="5212080" y="5541630"/>
            <a:ext cx="2066544" cy="283464"/>
          </a:xfrm>
          <a:prstGeom prst="rect">
            <a:avLst/>
          </a:prstGeom>
          <a:noFill/>
          <a:ln/>
        </p:spPr>
        <p:txBody>
          <a:bodyPr wrap="square" rtlCol="0" anchor="t"/>
          <a:lstStyle/>
          <a:p>
            <a:pPr indent="0" marL="0">
              <a:buNone/>
            </a:pPr>
            <a:r>
              <a:rPr lang="en-US" sz="1200" b="1" dirty="0">
                <a:solidFill>
                  <a:srgbClr val="1F4E79"/>
                </a:solidFill>
                <a:latin typeface="Calibri" pitchFamily="34" charset="0"/>
                <a:ea typeface="Calibri" pitchFamily="34" charset="-122"/>
                <a:cs typeface="Calibri" pitchFamily="34" charset="-120"/>
              </a:rPr>
              <a:t>12.05</a:t>
            </a:r>
            <a:endParaRPr lang="en-US" sz="1200" dirty="0"/>
          </a:p>
        </p:txBody>
      </p:sp>
      <p:sp>
        <p:nvSpPr>
          <p:cNvPr id="52" name="Shape 49"/>
          <p:cNvSpPr/>
          <p:nvPr/>
        </p:nvSpPr>
        <p:spPr>
          <a:xfrm>
            <a:off x="7434072" y="5303520"/>
            <a:ext cx="2212848" cy="566928"/>
          </a:xfrm>
          <a:prstGeom prst="roundRect">
            <a:avLst>
              <a:gd name="adj" fmla="val 9677"/>
            </a:avLst>
          </a:prstGeom>
          <a:solidFill>
            <a:srgbClr val="D5E8F8"/>
          </a:solidFill>
          <a:ln w="9525">
            <a:solidFill>
              <a:srgbClr val="C9DDF0"/>
            </a:solidFill>
            <a:prstDash val="solid"/>
          </a:ln>
        </p:spPr>
      </p:sp>
      <p:sp>
        <p:nvSpPr>
          <p:cNvPr id="53" name="Text 50"/>
          <p:cNvSpPr/>
          <p:nvPr/>
        </p:nvSpPr>
        <p:spPr>
          <a:xfrm>
            <a:off x="7507224" y="5349240"/>
            <a:ext cx="2066544" cy="255118"/>
          </a:xfrm>
          <a:prstGeom prst="rect">
            <a:avLst/>
          </a:prstGeom>
          <a:noFill/>
          <a:ln/>
        </p:spPr>
        <p:txBody>
          <a:bodyPr wrap="square" rtlCol="0" anchor="t"/>
          <a:lstStyle/>
          <a:p>
            <a:pPr indent="0" marL="0">
              <a:buNone/>
            </a:pPr>
            <a:r>
              <a:rPr lang="en-US" sz="870" dirty="0">
                <a:solidFill>
                  <a:srgbClr val="5B7385"/>
                </a:solidFill>
                <a:latin typeface="Calibri" pitchFamily="34" charset="0"/>
                <a:ea typeface="Calibri" pitchFamily="34" charset="-122"/>
                <a:cs typeface="Calibri" pitchFamily="34" charset="-120"/>
              </a:rPr>
              <a:t>Tail root th.</a:t>
            </a:r>
            <a:endParaRPr lang="en-US" sz="870" dirty="0"/>
          </a:p>
        </p:txBody>
      </p:sp>
      <p:sp>
        <p:nvSpPr>
          <p:cNvPr id="54" name="Text 51"/>
          <p:cNvSpPr/>
          <p:nvPr/>
        </p:nvSpPr>
        <p:spPr>
          <a:xfrm>
            <a:off x="7507224" y="5541630"/>
            <a:ext cx="2066544" cy="283464"/>
          </a:xfrm>
          <a:prstGeom prst="rect">
            <a:avLst/>
          </a:prstGeom>
          <a:noFill/>
          <a:ln/>
        </p:spPr>
        <p:txBody>
          <a:bodyPr wrap="square" rtlCol="0" anchor="t"/>
          <a:lstStyle/>
          <a:p>
            <a:pPr indent="0" marL="0">
              <a:buNone/>
            </a:pPr>
            <a:r>
              <a:rPr lang="en-US" sz="1200" b="1" dirty="0">
                <a:solidFill>
                  <a:srgbClr val="1F4E79"/>
                </a:solidFill>
                <a:latin typeface="Calibri" pitchFamily="34" charset="0"/>
                <a:ea typeface="Calibri" pitchFamily="34" charset="-122"/>
                <a:cs typeface="Calibri" pitchFamily="34" charset="-120"/>
              </a:rPr>
              <a:t>84.12</a:t>
            </a:r>
            <a:endParaRPr lang="en-US" sz="1200" dirty="0"/>
          </a:p>
        </p:txBody>
      </p:sp>
      <p:sp>
        <p:nvSpPr>
          <p:cNvPr id="55" name="Shape 52"/>
          <p:cNvSpPr/>
          <p:nvPr/>
        </p:nvSpPr>
        <p:spPr>
          <a:xfrm>
            <a:off x="9729216" y="5303520"/>
            <a:ext cx="2212848" cy="566928"/>
          </a:xfrm>
          <a:prstGeom prst="roundRect">
            <a:avLst>
              <a:gd name="adj" fmla="val 9677"/>
            </a:avLst>
          </a:prstGeom>
          <a:solidFill>
            <a:srgbClr val="D5E8F8"/>
          </a:solidFill>
          <a:ln w="9525">
            <a:solidFill>
              <a:srgbClr val="C9DDF0"/>
            </a:solidFill>
            <a:prstDash val="solid"/>
          </a:ln>
        </p:spPr>
      </p:sp>
      <p:sp>
        <p:nvSpPr>
          <p:cNvPr id="56" name="Text 53"/>
          <p:cNvSpPr/>
          <p:nvPr/>
        </p:nvSpPr>
        <p:spPr>
          <a:xfrm>
            <a:off x="9802368" y="5349240"/>
            <a:ext cx="2066544" cy="255118"/>
          </a:xfrm>
          <a:prstGeom prst="rect">
            <a:avLst/>
          </a:prstGeom>
          <a:noFill/>
          <a:ln/>
        </p:spPr>
        <p:txBody>
          <a:bodyPr wrap="square" rtlCol="0" anchor="t"/>
          <a:lstStyle/>
          <a:p>
            <a:pPr indent="0" marL="0">
              <a:buNone/>
            </a:pPr>
            <a:r>
              <a:rPr lang="en-US" sz="870" dirty="0">
                <a:solidFill>
                  <a:srgbClr val="5B7385"/>
                </a:solidFill>
                <a:latin typeface="Calibri" pitchFamily="34" charset="0"/>
                <a:ea typeface="Calibri" pitchFamily="34" charset="-122"/>
                <a:cs typeface="Calibri" pitchFamily="34" charset="-120"/>
              </a:rPr>
              <a:t>Tail tip th.</a:t>
            </a:r>
            <a:endParaRPr lang="en-US" sz="870" dirty="0"/>
          </a:p>
        </p:txBody>
      </p:sp>
      <p:sp>
        <p:nvSpPr>
          <p:cNvPr id="57" name="Text 54"/>
          <p:cNvSpPr/>
          <p:nvPr/>
        </p:nvSpPr>
        <p:spPr>
          <a:xfrm>
            <a:off x="9802368" y="5541630"/>
            <a:ext cx="2066544" cy="283464"/>
          </a:xfrm>
          <a:prstGeom prst="rect">
            <a:avLst/>
          </a:prstGeom>
          <a:noFill/>
          <a:ln/>
        </p:spPr>
        <p:txBody>
          <a:bodyPr wrap="square" rtlCol="0" anchor="t"/>
          <a:lstStyle/>
          <a:p>
            <a:pPr indent="0" marL="0">
              <a:buNone/>
            </a:pPr>
            <a:r>
              <a:rPr lang="en-US" sz="1200" b="1" dirty="0">
                <a:solidFill>
                  <a:srgbClr val="1F4E79"/>
                </a:solidFill>
                <a:latin typeface="Calibri" pitchFamily="34" charset="0"/>
                <a:ea typeface="Calibri" pitchFamily="34" charset="-122"/>
                <a:cs typeface="Calibri" pitchFamily="34" charset="-120"/>
              </a:rPr>
              <a:t>81.11</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601200" cy="274320"/>
          </a:xfrm>
          <a:prstGeom prst="rect">
            <a:avLst/>
          </a:prstGeom>
          <a:noFill/>
          <a:ln/>
        </p:spPr>
        <p:txBody>
          <a:bodyPr wrap="square" rtlCol="0" anchor="ctr"/>
          <a:lstStyle/>
          <a:p>
            <a:pPr indent="0" marL="0">
              <a:buNone/>
            </a:pPr>
            <a:r>
              <a:rPr lang="en-US" sz="1150" b="1" spc="200" kern="0" dirty="0">
                <a:solidFill>
                  <a:srgbClr val="2E75B6"/>
                </a:solidFill>
                <a:latin typeface="Calibri" pitchFamily="34" charset="0"/>
                <a:ea typeface="Calibri" pitchFamily="34" charset="-122"/>
                <a:cs typeface="Calibri" pitchFamily="34" charset="-120"/>
              </a:rPr>
              <a:t>MODEL 2 · NEURAL NETWORK</a:t>
            </a:r>
            <a:endParaRPr lang="en-US" sz="1150" dirty="0"/>
          </a:p>
        </p:txBody>
      </p:sp>
      <p:sp>
        <p:nvSpPr>
          <p:cNvPr id="3" name="Text 1"/>
          <p:cNvSpPr/>
          <p:nvPr/>
        </p:nvSpPr>
        <p:spPr>
          <a:xfrm>
            <a:off x="548640" y="566928"/>
            <a:ext cx="10424160" cy="566928"/>
          </a:xfrm>
          <a:prstGeom prst="rect">
            <a:avLst/>
          </a:prstGeom>
          <a:noFill/>
          <a:ln/>
        </p:spPr>
        <p:txBody>
          <a:bodyPr wrap="square" rtlCol="0" anchor="ctr"/>
          <a:lstStyle/>
          <a:p>
            <a:pPr indent="0" marL="0">
              <a:buNone/>
            </a:pPr>
            <a:r>
              <a:rPr lang="en-US" sz="2600" b="1" dirty="0">
                <a:solidFill>
                  <a:srgbClr val="1F4E79"/>
                </a:solidFill>
                <a:latin typeface="Cambria" pitchFamily="34" charset="0"/>
                <a:ea typeface="Cambria" pitchFamily="34" charset="-122"/>
                <a:cs typeface="Cambria" pitchFamily="34" charset="-120"/>
              </a:rPr>
              <a:t>Multi-Layer Perceptron (MLP) Regressor — Predicting CN &amp; CM</a:t>
            </a:r>
            <a:endParaRPr lang="en-US" sz="2600" dirty="0"/>
          </a:p>
        </p:txBody>
      </p:sp>
      <p:sp>
        <p:nvSpPr>
          <p:cNvPr id="4" name="Shape 2"/>
          <p:cNvSpPr/>
          <p:nvPr/>
        </p:nvSpPr>
        <p:spPr>
          <a:xfrm>
            <a:off x="11475720" y="384048"/>
            <a:ext cx="420624" cy="420624"/>
          </a:xfrm>
          <a:prstGeom prst="ellipse">
            <a:avLst/>
          </a:prstGeom>
          <a:solidFill>
            <a:srgbClr val="DDEBF8"/>
          </a:solidFill>
          <a:ln/>
        </p:spPr>
      </p:sp>
      <p:sp>
        <p:nvSpPr>
          <p:cNvPr id="5" name="Text 3"/>
          <p:cNvSpPr/>
          <p:nvPr/>
        </p:nvSpPr>
        <p:spPr>
          <a:xfrm>
            <a:off x="11475720" y="384048"/>
            <a:ext cx="420624" cy="420624"/>
          </a:xfrm>
          <a:prstGeom prst="rect">
            <a:avLst/>
          </a:prstGeom>
          <a:noFill/>
          <a:ln/>
        </p:spPr>
        <p:txBody>
          <a:bodyPr wrap="square" rtlCol="0" anchor="ctr"/>
          <a:lstStyle/>
          <a:p>
            <a:pPr algn="ctr" indent="0" marL="0">
              <a:buNone/>
            </a:pPr>
            <a:r>
              <a:rPr lang="en-US" sz="1200" b="1" dirty="0">
                <a:solidFill>
                  <a:srgbClr val="1F4E79"/>
                </a:solidFill>
                <a:latin typeface="Calibri" pitchFamily="34" charset="0"/>
                <a:ea typeface="Calibri" pitchFamily="34" charset="-122"/>
                <a:cs typeface="Calibri" pitchFamily="34" charset="-120"/>
              </a:rPr>
              <a:t>06</a:t>
            </a:r>
            <a:endParaRPr lang="en-US" sz="1200" dirty="0"/>
          </a:p>
        </p:txBody>
      </p:sp>
      <p:sp>
        <p:nvSpPr>
          <p:cNvPr id="6" name="Shape 4"/>
          <p:cNvSpPr/>
          <p:nvPr/>
        </p:nvSpPr>
        <p:spPr>
          <a:xfrm>
            <a:off x="548640" y="1115568"/>
            <a:ext cx="5440680" cy="1371600"/>
          </a:xfrm>
          <a:prstGeom prst="roundRect">
            <a:avLst>
              <a:gd name="adj" fmla="val 6000"/>
            </a:avLst>
          </a:prstGeom>
          <a:solidFill>
            <a:srgbClr val="EAF3FB"/>
          </a:solidFill>
          <a:ln/>
          <a:effectLst>
            <a:outerShdw sx="100000" sy="100000" kx="0" ky="0" algn="bl" rotWithShape="0" blurRad="76200" dist="25400" dir="5400000">
              <a:srgbClr val="9CB7CC">
                <a:alpha val="28000"/>
              </a:srgbClr>
            </a:outerShdw>
          </a:effectLst>
        </p:spPr>
      </p:sp>
      <p:sp>
        <p:nvSpPr>
          <p:cNvPr id="7" name="Text 5"/>
          <p:cNvSpPr/>
          <p:nvPr/>
        </p:nvSpPr>
        <p:spPr>
          <a:xfrm>
            <a:off x="804672" y="1261872"/>
            <a:ext cx="4928616" cy="292608"/>
          </a:xfrm>
          <a:prstGeom prst="rect">
            <a:avLst/>
          </a:prstGeom>
          <a:noFill/>
          <a:ln/>
        </p:spPr>
        <p:txBody>
          <a:bodyPr wrap="square"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Problem</a:t>
            </a:r>
            <a:endParaRPr lang="en-US" sz="1400" dirty="0"/>
          </a:p>
        </p:txBody>
      </p:sp>
      <p:sp>
        <p:nvSpPr>
          <p:cNvPr id="8" name="Text 6"/>
          <p:cNvSpPr/>
          <p:nvPr/>
        </p:nvSpPr>
        <p:spPr>
          <a:xfrm>
            <a:off x="804672" y="1627632"/>
            <a:ext cx="4928616" cy="731520"/>
          </a:xfrm>
          <a:prstGeom prst="rect">
            <a:avLst/>
          </a:prstGeom>
          <a:noFill/>
          <a:ln/>
        </p:spPr>
        <p:txBody>
          <a:bodyPr wrap="square" rtlCol="0" anchor="t"/>
          <a:lstStyle/>
          <a:p>
            <a:pPr marL="177800" indent="-177800">
              <a:lnSpc>
                <a:spcPct val="108000"/>
              </a:lnSpc>
              <a:spcAft>
                <a:spcPts val="500"/>
              </a:spcAft>
              <a:buSzPct val="100000"/>
              <a:buChar char="●"/>
            </a:pPr>
            <a:r>
              <a:rPr lang="en-US" sz="1100" dirty="0">
                <a:solidFill>
                  <a:srgbClr val="24313F"/>
                </a:solidFill>
                <a:latin typeface="Calibri" pitchFamily="34" charset="0"/>
                <a:ea typeface="Calibri" pitchFamily="34" charset="-122"/>
                <a:cs typeface="Calibri" pitchFamily="34" charset="-120"/>
              </a:rPr>
              <a:t>CFD simulations &amp; wind-tunnel testing for force/moment coefficients are expensive and slow</a:t>
            </a:r>
            <a:endParaRPr lang="en-US" sz="1100" dirty="0"/>
          </a:p>
          <a:p>
            <a:pPr marL="177800" indent="-177800">
              <a:lnSpc>
                <a:spcPct val="108000"/>
              </a:lnSpc>
              <a:spcAft>
                <a:spcPts val="500"/>
              </a:spcAft>
              <a:buSzPct val="100000"/>
              <a:buChar char="●"/>
            </a:pPr>
            <a:r>
              <a:rPr lang="en-US" sz="1100" dirty="0">
                <a:solidFill>
                  <a:srgbClr val="24313F"/>
                </a:solidFill>
                <a:latin typeface="Calibri" pitchFamily="34" charset="0"/>
                <a:ea typeface="Calibri" pitchFamily="34" charset="-122"/>
                <a:cs typeface="Calibri" pitchFamily="34" charset="-120"/>
              </a:rPr>
              <a:t>Goal: predict Normal Force Coefficient (CN) and Pitching Moment Coefficient (CM) directly from geometric and flight parameters</a:t>
            </a:r>
            <a:endParaRPr lang="en-US" sz="1100" dirty="0"/>
          </a:p>
        </p:txBody>
      </p:sp>
      <p:sp>
        <p:nvSpPr>
          <p:cNvPr id="9" name="Shape 7"/>
          <p:cNvSpPr/>
          <p:nvPr/>
        </p:nvSpPr>
        <p:spPr>
          <a:xfrm>
            <a:off x="6199632" y="1115568"/>
            <a:ext cx="5440680" cy="1371600"/>
          </a:xfrm>
          <a:prstGeom prst="roundRect">
            <a:avLst>
              <a:gd name="adj" fmla="val 6000"/>
            </a:avLst>
          </a:prstGeom>
          <a:solidFill>
            <a:srgbClr val="DDEBF8"/>
          </a:solidFill>
          <a:ln/>
          <a:effectLst>
            <a:outerShdw sx="100000" sy="100000" kx="0" ky="0" algn="bl" rotWithShape="0" blurRad="76200" dist="25400" dir="5400000">
              <a:srgbClr val="9CB7CC">
                <a:alpha val="28000"/>
              </a:srgbClr>
            </a:outerShdw>
          </a:effectLst>
        </p:spPr>
      </p:sp>
      <p:sp>
        <p:nvSpPr>
          <p:cNvPr id="10" name="Text 8"/>
          <p:cNvSpPr/>
          <p:nvPr/>
        </p:nvSpPr>
        <p:spPr>
          <a:xfrm>
            <a:off x="6455664" y="1261872"/>
            <a:ext cx="4928616" cy="292608"/>
          </a:xfrm>
          <a:prstGeom prst="rect">
            <a:avLst/>
          </a:prstGeom>
          <a:noFill/>
          <a:ln/>
        </p:spPr>
        <p:txBody>
          <a:bodyPr wrap="square"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Approach</a:t>
            </a:r>
            <a:endParaRPr lang="en-US" sz="1400" dirty="0"/>
          </a:p>
        </p:txBody>
      </p:sp>
      <p:sp>
        <p:nvSpPr>
          <p:cNvPr id="11" name="Text 9"/>
          <p:cNvSpPr/>
          <p:nvPr/>
        </p:nvSpPr>
        <p:spPr>
          <a:xfrm>
            <a:off x="6455664" y="1627632"/>
            <a:ext cx="4928616" cy="731520"/>
          </a:xfrm>
          <a:prstGeom prst="rect">
            <a:avLst/>
          </a:prstGeom>
          <a:noFill/>
          <a:ln/>
        </p:spPr>
        <p:txBody>
          <a:bodyPr wrap="square" rtlCol="0" anchor="t"/>
          <a:lstStyle/>
          <a:p>
            <a:pPr marL="177800" indent="-177800">
              <a:lnSpc>
                <a:spcPct val="108000"/>
              </a:lnSpc>
              <a:spcAft>
                <a:spcPts val="500"/>
              </a:spcAft>
              <a:buSzPct val="100000"/>
              <a:buChar char="●"/>
            </a:pPr>
            <a:r>
              <a:rPr lang="en-US" sz="1050" dirty="0">
                <a:solidFill>
                  <a:srgbClr val="24313F"/>
                </a:solidFill>
                <a:latin typeface="Calibri" pitchFamily="34" charset="0"/>
                <a:ea typeface="Calibri" pitchFamily="34" charset="-122"/>
                <a:cs typeface="Calibri" pitchFamily="34" charset="-120"/>
              </a:rPr>
              <a:t>6 input features: ALPHA, MACH, X-C.P., nose length, semi-span, wing sweep</a:t>
            </a:r>
            <a:endParaRPr lang="en-US" sz="1050" dirty="0"/>
          </a:p>
          <a:p>
            <a:pPr marL="177800" indent="-177800">
              <a:lnSpc>
                <a:spcPct val="108000"/>
              </a:lnSpc>
              <a:spcAft>
                <a:spcPts val="500"/>
              </a:spcAft>
              <a:buSzPct val="100000"/>
              <a:buChar char="●"/>
            </a:pPr>
            <a:r>
              <a:rPr lang="en-US" sz="1050" dirty="0">
                <a:solidFill>
                  <a:srgbClr val="24313F"/>
                </a:solidFill>
                <a:latin typeface="Calibri" pitchFamily="34" charset="0"/>
                <a:ea typeface="Calibri" pitchFamily="34" charset="-122"/>
                <a:cs typeface="Calibri" pitchFamily="34" charset="-120"/>
              </a:rPr>
              <a:t>Architecture: Dense(64, ReLU) → Dense(64, ReLU) → Output (2 neurons: CN, CM)</a:t>
            </a:r>
            <a:endParaRPr lang="en-US" sz="1050" dirty="0"/>
          </a:p>
          <a:p>
            <a:pPr marL="177800" indent="-177800">
              <a:lnSpc>
                <a:spcPct val="108000"/>
              </a:lnSpc>
              <a:spcAft>
                <a:spcPts val="500"/>
              </a:spcAft>
              <a:buSzPct val="100000"/>
              <a:buChar char="●"/>
            </a:pPr>
            <a:r>
              <a:rPr lang="en-US" sz="1050" dirty="0">
                <a:solidFill>
                  <a:srgbClr val="24313F"/>
                </a:solidFill>
                <a:latin typeface="Calibri" pitchFamily="34" charset="0"/>
                <a:ea typeface="Calibri" pitchFamily="34" charset="-122"/>
                <a:cs typeface="Calibri" pitchFamily="34" charset="-120"/>
              </a:rPr>
              <a:t>Adam optimizer · 500 epochs · split 64% / 16% / 20% (train / val / test, seed 42) · StandardScaler normalization</a:t>
            </a:r>
            <a:endParaRPr lang="en-US" sz="1050" dirty="0"/>
          </a:p>
        </p:txBody>
      </p:sp>
      <p:sp>
        <p:nvSpPr>
          <p:cNvPr id="12" name="Text 10"/>
          <p:cNvSpPr/>
          <p:nvPr/>
        </p:nvSpPr>
        <p:spPr>
          <a:xfrm>
            <a:off x="548640" y="2606040"/>
            <a:ext cx="4572000" cy="237744"/>
          </a:xfrm>
          <a:prstGeom prst="rect">
            <a:avLst/>
          </a:prstGeom>
          <a:noFill/>
          <a:ln/>
        </p:spPr>
        <p:txBody>
          <a:bodyPr wrap="square" rtlCol="0" anchor="ctr"/>
          <a:lstStyle/>
          <a:p>
            <a:pPr indent="0" marL="0">
              <a:buNone/>
            </a:pPr>
            <a:r>
              <a:rPr lang="en-US" sz="1200" b="1" spc="150" kern="0" dirty="0">
                <a:solidFill>
                  <a:srgbClr val="2E75B6"/>
                </a:solidFill>
                <a:latin typeface="Calibri" pitchFamily="34" charset="0"/>
                <a:ea typeface="Calibri" pitchFamily="34" charset="-122"/>
                <a:cs typeface="Calibri" pitchFamily="34" charset="-120"/>
              </a:rPr>
              <a:t>RESULTS</a:t>
            </a:r>
            <a:endParaRPr lang="en-US" sz="1200" dirty="0"/>
          </a:p>
        </p:txBody>
      </p:sp>
      <p:sp>
        <p:nvSpPr>
          <p:cNvPr id="13" name="Shape 11"/>
          <p:cNvSpPr/>
          <p:nvPr/>
        </p:nvSpPr>
        <p:spPr>
          <a:xfrm>
            <a:off x="548640" y="2871216"/>
            <a:ext cx="2651760" cy="749808"/>
          </a:xfrm>
          <a:prstGeom prst="roundRect">
            <a:avLst>
              <a:gd name="adj" fmla="val 9756"/>
            </a:avLst>
          </a:prstGeom>
          <a:solidFill>
            <a:srgbClr val="D5E8F8"/>
          </a:solidFill>
          <a:ln w="9525">
            <a:solidFill>
              <a:srgbClr val="C9DDF0"/>
            </a:solidFill>
            <a:prstDash val="solid"/>
          </a:ln>
        </p:spPr>
      </p:sp>
      <p:sp>
        <p:nvSpPr>
          <p:cNvPr id="14" name="Text 12"/>
          <p:cNvSpPr/>
          <p:nvPr/>
        </p:nvSpPr>
        <p:spPr>
          <a:xfrm>
            <a:off x="658368" y="2944368"/>
            <a:ext cx="2432304" cy="237744"/>
          </a:xfrm>
          <a:prstGeom prst="rect">
            <a:avLst/>
          </a:prstGeom>
          <a:noFill/>
          <a:ln/>
        </p:spPr>
        <p:txBody>
          <a:bodyPr wrap="square" rtlCol="0" anchor="ctr"/>
          <a:lstStyle/>
          <a:p>
            <a:pPr indent="0" marL="0">
              <a:buNone/>
            </a:pPr>
            <a:r>
              <a:rPr lang="en-US" sz="1150" b="1" dirty="0">
                <a:solidFill>
                  <a:srgbClr val="1F4E79"/>
                </a:solidFill>
                <a:latin typeface="Calibri" pitchFamily="34" charset="0"/>
                <a:ea typeface="Calibri" pitchFamily="34" charset="-122"/>
                <a:cs typeface="Calibri" pitchFamily="34" charset="-120"/>
              </a:rPr>
              <a:t>CN — Training</a:t>
            </a:r>
            <a:endParaRPr lang="en-US" sz="1150" dirty="0"/>
          </a:p>
        </p:txBody>
      </p:sp>
      <p:sp>
        <p:nvSpPr>
          <p:cNvPr id="15" name="Text 13"/>
          <p:cNvSpPr/>
          <p:nvPr/>
        </p:nvSpPr>
        <p:spPr>
          <a:xfrm>
            <a:off x="658368" y="3182112"/>
            <a:ext cx="2432304" cy="365760"/>
          </a:xfrm>
          <a:prstGeom prst="rect">
            <a:avLst/>
          </a:prstGeom>
          <a:noFill/>
          <a:ln/>
        </p:spPr>
        <p:txBody>
          <a:bodyPr wrap="square" rtlCol="0" anchor="t"/>
          <a:lstStyle/>
          <a:p>
            <a:pPr indent="0" marL="0">
              <a:lnSpc>
                <a:spcPct val="112000"/>
              </a:lnSpc>
              <a:buNone/>
            </a:pPr>
            <a:r>
              <a:rPr lang="en-US" sz="1050" dirty="0">
                <a:solidFill>
                  <a:srgbClr val="24313F"/>
                </a:solidFill>
                <a:latin typeface="Calibri" pitchFamily="34" charset="0"/>
                <a:ea typeface="Calibri" pitchFamily="34" charset="-122"/>
                <a:cs typeface="Calibri" pitchFamily="34" charset="-120"/>
              </a:rPr>
              <a:t>MAE 0.0481   RMSE 0.0606</a:t>
            </a:r>
            <a:endParaRPr lang="en-US" sz="1050" dirty="0"/>
          </a:p>
          <a:p>
            <a:pPr indent="0" marL="0">
              <a:lnSpc>
                <a:spcPct val="112000"/>
              </a:lnSpc>
              <a:buNone/>
            </a:pPr>
            <a:r>
              <a:rPr lang="en-US" sz="1050" dirty="0">
                <a:solidFill>
                  <a:srgbClr val="24313F"/>
                </a:solidFill>
                <a:latin typeface="Calibri" pitchFamily="34" charset="0"/>
                <a:ea typeface="Calibri" pitchFamily="34" charset="-122"/>
                <a:cs typeface="Calibri" pitchFamily="34" charset="-120"/>
              </a:rPr>
              <a:t>R² 0.9997</a:t>
            </a:r>
            <a:endParaRPr lang="en-US" sz="1050" dirty="0"/>
          </a:p>
        </p:txBody>
      </p:sp>
      <p:sp>
        <p:nvSpPr>
          <p:cNvPr id="16" name="Shape 14"/>
          <p:cNvSpPr/>
          <p:nvPr/>
        </p:nvSpPr>
        <p:spPr>
          <a:xfrm>
            <a:off x="3337560" y="2871216"/>
            <a:ext cx="2651760" cy="749808"/>
          </a:xfrm>
          <a:prstGeom prst="roundRect">
            <a:avLst>
              <a:gd name="adj" fmla="val 9756"/>
            </a:avLst>
          </a:prstGeom>
          <a:solidFill>
            <a:srgbClr val="D5E8F8"/>
          </a:solidFill>
          <a:ln w="9525">
            <a:solidFill>
              <a:srgbClr val="C9DDF0"/>
            </a:solidFill>
            <a:prstDash val="solid"/>
          </a:ln>
        </p:spPr>
      </p:sp>
      <p:sp>
        <p:nvSpPr>
          <p:cNvPr id="17" name="Text 15"/>
          <p:cNvSpPr/>
          <p:nvPr/>
        </p:nvSpPr>
        <p:spPr>
          <a:xfrm>
            <a:off x="3447288" y="2944368"/>
            <a:ext cx="2432304" cy="237744"/>
          </a:xfrm>
          <a:prstGeom prst="rect">
            <a:avLst/>
          </a:prstGeom>
          <a:noFill/>
          <a:ln/>
        </p:spPr>
        <p:txBody>
          <a:bodyPr wrap="square" rtlCol="0" anchor="ctr"/>
          <a:lstStyle/>
          <a:p>
            <a:pPr indent="0" marL="0">
              <a:buNone/>
            </a:pPr>
            <a:r>
              <a:rPr lang="en-US" sz="1150" b="1" dirty="0">
                <a:solidFill>
                  <a:srgbClr val="1F4E79"/>
                </a:solidFill>
                <a:latin typeface="Calibri" pitchFamily="34" charset="0"/>
                <a:ea typeface="Calibri" pitchFamily="34" charset="-122"/>
                <a:cs typeface="Calibri" pitchFamily="34" charset="-120"/>
              </a:rPr>
              <a:t>CM — Training</a:t>
            </a:r>
            <a:endParaRPr lang="en-US" sz="1150" dirty="0"/>
          </a:p>
        </p:txBody>
      </p:sp>
      <p:sp>
        <p:nvSpPr>
          <p:cNvPr id="18" name="Text 16"/>
          <p:cNvSpPr/>
          <p:nvPr/>
        </p:nvSpPr>
        <p:spPr>
          <a:xfrm>
            <a:off x="3447288" y="3182112"/>
            <a:ext cx="2432304" cy="365760"/>
          </a:xfrm>
          <a:prstGeom prst="rect">
            <a:avLst/>
          </a:prstGeom>
          <a:noFill/>
          <a:ln/>
        </p:spPr>
        <p:txBody>
          <a:bodyPr wrap="square" rtlCol="0" anchor="t"/>
          <a:lstStyle/>
          <a:p>
            <a:pPr indent="0" marL="0">
              <a:lnSpc>
                <a:spcPct val="112000"/>
              </a:lnSpc>
              <a:buNone/>
            </a:pPr>
            <a:r>
              <a:rPr lang="en-US" sz="1050" dirty="0">
                <a:solidFill>
                  <a:srgbClr val="24313F"/>
                </a:solidFill>
                <a:latin typeface="Calibri" pitchFamily="34" charset="0"/>
                <a:ea typeface="Calibri" pitchFamily="34" charset="-122"/>
                <a:cs typeface="Calibri" pitchFamily="34" charset="-120"/>
              </a:rPr>
              <a:t>MAE 0.2686   RMSE 0.3418</a:t>
            </a:r>
            <a:endParaRPr lang="en-US" sz="1050" dirty="0"/>
          </a:p>
          <a:p>
            <a:pPr indent="0" marL="0">
              <a:lnSpc>
                <a:spcPct val="112000"/>
              </a:lnSpc>
              <a:buNone/>
            </a:pPr>
            <a:r>
              <a:rPr lang="en-US" sz="1050" dirty="0">
                <a:solidFill>
                  <a:srgbClr val="24313F"/>
                </a:solidFill>
                <a:latin typeface="Calibri" pitchFamily="34" charset="0"/>
                <a:ea typeface="Calibri" pitchFamily="34" charset="-122"/>
                <a:cs typeface="Calibri" pitchFamily="34" charset="-120"/>
              </a:rPr>
              <a:t>R² 0.9996</a:t>
            </a:r>
            <a:endParaRPr lang="en-US" sz="1050" dirty="0"/>
          </a:p>
        </p:txBody>
      </p:sp>
      <p:sp>
        <p:nvSpPr>
          <p:cNvPr id="19" name="Shape 17"/>
          <p:cNvSpPr/>
          <p:nvPr/>
        </p:nvSpPr>
        <p:spPr>
          <a:xfrm>
            <a:off x="6126480" y="2871216"/>
            <a:ext cx="2651760" cy="749808"/>
          </a:xfrm>
          <a:prstGeom prst="roundRect">
            <a:avLst>
              <a:gd name="adj" fmla="val 9756"/>
            </a:avLst>
          </a:prstGeom>
          <a:solidFill>
            <a:srgbClr val="D5E8F8"/>
          </a:solidFill>
          <a:ln w="9525">
            <a:solidFill>
              <a:srgbClr val="C9DDF0"/>
            </a:solidFill>
            <a:prstDash val="solid"/>
          </a:ln>
        </p:spPr>
      </p:sp>
      <p:sp>
        <p:nvSpPr>
          <p:cNvPr id="20" name="Text 18"/>
          <p:cNvSpPr/>
          <p:nvPr/>
        </p:nvSpPr>
        <p:spPr>
          <a:xfrm>
            <a:off x="6236208" y="2944368"/>
            <a:ext cx="2432304" cy="237744"/>
          </a:xfrm>
          <a:prstGeom prst="rect">
            <a:avLst/>
          </a:prstGeom>
          <a:noFill/>
          <a:ln/>
        </p:spPr>
        <p:txBody>
          <a:bodyPr wrap="square" rtlCol="0" anchor="ctr"/>
          <a:lstStyle/>
          <a:p>
            <a:pPr indent="0" marL="0">
              <a:buNone/>
            </a:pPr>
            <a:r>
              <a:rPr lang="en-US" sz="1150" b="1" dirty="0">
                <a:solidFill>
                  <a:srgbClr val="1F4E79"/>
                </a:solidFill>
                <a:latin typeface="Calibri" pitchFamily="34" charset="0"/>
                <a:ea typeface="Calibri" pitchFamily="34" charset="-122"/>
                <a:cs typeface="Calibri" pitchFamily="34" charset="-120"/>
              </a:rPr>
              <a:t>CN — Test</a:t>
            </a:r>
            <a:endParaRPr lang="en-US" sz="1150" dirty="0"/>
          </a:p>
        </p:txBody>
      </p:sp>
      <p:sp>
        <p:nvSpPr>
          <p:cNvPr id="21" name="Text 19"/>
          <p:cNvSpPr/>
          <p:nvPr/>
        </p:nvSpPr>
        <p:spPr>
          <a:xfrm>
            <a:off x="6236208" y="3182112"/>
            <a:ext cx="2432304" cy="365760"/>
          </a:xfrm>
          <a:prstGeom prst="rect">
            <a:avLst/>
          </a:prstGeom>
          <a:noFill/>
          <a:ln/>
        </p:spPr>
        <p:txBody>
          <a:bodyPr wrap="square" rtlCol="0" anchor="t"/>
          <a:lstStyle/>
          <a:p>
            <a:pPr indent="0" marL="0">
              <a:lnSpc>
                <a:spcPct val="112000"/>
              </a:lnSpc>
              <a:buNone/>
            </a:pPr>
            <a:r>
              <a:rPr lang="en-US" sz="1050" dirty="0">
                <a:solidFill>
                  <a:srgbClr val="24313F"/>
                </a:solidFill>
                <a:latin typeface="Calibri" pitchFamily="34" charset="0"/>
                <a:ea typeface="Calibri" pitchFamily="34" charset="-122"/>
                <a:cs typeface="Calibri" pitchFamily="34" charset="-120"/>
              </a:rPr>
              <a:t>MAE 0.0561   RMSE 0.0744</a:t>
            </a:r>
            <a:endParaRPr lang="en-US" sz="1050" dirty="0"/>
          </a:p>
          <a:p>
            <a:pPr indent="0" marL="0">
              <a:lnSpc>
                <a:spcPct val="112000"/>
              </a:lnSpc>
              <a:buNone/>
            </a:pPr>
            <a:r>
              <a:rPr lang="en-US" sz="1050" dirty="0">
                <a:solidFill>
                  <a:srgbClr val="24313F"/>
                </a:solidFill>
                <a:latin typeface="Calibri" pitchFamily="34" charset="0"/>
                <a:ea typeface="Calibri" pitchFamily="34" charset="-122"/>
                <a:cs typeface="Calibri" pitchFamily="34" charset="-120"/>
              </a:rPr>
              <a:t>R² 0.9995</a:t>
            </a:r>
            <a:endParaRPr lang="en-US" sz="1050" dirty="0"/>
          </a:p>
        </p:txBody>
      </p:sp>
      <p:sp>
        <p:nvSpPr>
          <p:cNvPr id="22" name="Shape 20"/>
          <p:cNvSpPr/>
          <p:nvPr/>
        </p:nvSpPr>
        <p:spPr>
          <a:xfrm>
            <a:off x="8915400" y="2871216"/>
            <a:ext cx="2651760" cy="749808"/>
          </a:xfrm>
          <a:prstGeom prst="roundRect">
            <a:avLst>
              <a:gd name="adj" fmla="val 9756"/>
            </a:avLst>
          </a:prstGeom>
          <a:solidFill>
            <a:srgbClr val="D5E8F8"/>
          </a:solidFill>
          <a:ln w="9525">
            <a:solidFill>
              <a:srgbClr val="C9DDF0"/>
            </a:solidFill>
            <a:prstDash val="solid"/>
          </a:ln>
        </p:spPr>
      </p:sp>
      <p:sp>
        <p:nvSpPr>
          <p:cNvPr id="23" name="Text 21"/>
          <p:cNvSpPr/>
          <p:nvPr/>
        </p:nvSpPr>
        <p:spPr>
          <a:xfrm>
            <a:off x="9025128" y="2944368"/>
            <a:ext cx="2432304" cy="237744"/>
          </a:xfrm>
          <a:prstGeom prst="rect">
            <a:avLst/>
          </a:prstGeom>
          <a:noFill/>
          <a:ln/>
        </p:spPr>
        <p:txBody>
          <a:bodyPr wrap="square" rtlCol="0" anchor="ctr"/>
          <a:lstStyle/>
          <a:p>
            <a:pPr indent="0" marL="0">
              <a:buNone/>
            </a:pPr>
            <a:r>
              <a:rPr lang="en-US" sz="1150" b="1" dirty="0">
                <a:solidFill>
                  <a:srgbClr val="1F4E79"/>
                </a:solidFill>
                <a:latin typeface="Calibri" pitchFamily="34" charset="0"/>
                <a:ea typeface="Calibri" pitchFamily="34" charset="-122"/>
                <a:cs typeface="Calibri" pitchFamily="34" charset="-120"/>
              </a:rPr>
              <a:t>CM — Test</a:t>
            </a:r>
            <a:endParaRPr lang="en-US" sz="1150" dirty="0"/>
          </a:p>
        </p:txBody>
      </p:sp>
      <p:sp>
        <p:nvSpPr>
          <p:cNvPr id="24" name="Text 22"/>
          <p:cNvSpPr/>
          <p:nvPr/>
        </p:nvSpPr>
        <p:spPr>
          <a:xfrm>
            <a:off x="9025128" y="3182112"/>
            <a:ext cx="2432304" cy="365760"/>
          </a:xfrm>
          <a:prstGeom prst="rect">
            <a:avLst/>
          </a:prstGeom>
          <a:noFill/>
          <a:ln/>
        </p:spPr>
        <p:txBody>
          <a:bodyPr wrap="square" rtlCol="0" anchor="t"/>
          <a:lstStyle/>
          <a:p>
            <a:pPr indent="0" marL="0">
              <a:lnSpc>
                <a:spcPct val="112000"/>
              </a:lnSpc>
              <a:buNone/>
            </a:pPr>
            <a:r>
              <a:rPr lang="en-US" sz="1050" dirty="0">
                <a:solidFill>
                  <a:srgbClr val="24313F"/>
                </a:solidFill>
                <a:latin typeface="Calibri" pitchFamily="34" charset="0"/>
                <a:ea typeface="Calibri" pitchFamily="34" charset="-122"/>
                <a:cs typeface="Calibri" pitchFamily="34" charset="-120"/>
              </a:rPr>
              <a:t>MAE 0.3059   RMSE 0.4050</a:t>
            </a:r>
            <a:endParaRPr lang="en-US" sz="1050" dirty="0"/>
          </a:p>
          <a:p>
            <a:pPr indent="0" marL="0">
              <a:lnSpc>
                <a:spcPct val="112000"/>
              </a:lnSpc>
              <a:buNone/>
            </a:pPr>
            <a:r>
              <a:rPr lang="en-US" sz="1050" dirty="0">
                <a:solidFill>
                  <a:srgbClr val="24313F"/>
                </a:solidFill>
                <a:latin typeface="Calibri" pitchFamily="34" charset="0"/>
                <a:ea typeface="Calibri" pitchFamily="34" charset="-122"/>
                <a:cs typeface="Calibri" pitchFamily="34" charset="-120"/>
              </a:rPr>
              <a:t>R² 0.9995</a:t>
            </a:r>
            <a:endParaRPr lang="en-US" sz="1050" dirty="0"/>
          </a:p>
        </p:txBody>
      </p:sp>
      <p:sp>
        <p:nvSpPr>
          <p:cNvPr id="25" name="Shape 23"/>
          <p:cNvSpPr/>
          <p:nvPr/>
        </p:nvSpPr>
        <p:spPr>
          <a:xfrm>
            <a:off x="548640" y="3794760"/>
            <a:ext cx="3584448" cy="2697480"/>
          </a:xfrm>
          <a:prstGeom prst="roundRect">
            <a:avLst>
              <a:gd name="adj" fmla="val 2712"/>
            </a:avLst>
          </a:prstGeom>
          <a:solidFill>
            <a:srgbClr val="FFFFFF"/>
          </a:solidFill>
          <a:ln w="12700">
            <a:solidFill>
              <a:srgbClr val="C9DDF0"/>
            </a:solidFill>
            <a:prstDash val="solid"/>
          </a:ln>
          <a:effectLst>
            <a:outerShdw sx="100000" sy="100000" kx="0" ky="0" algn="bl" rotWithShape="0" blurRad="76200" dist="25400" dir="5400000">
              <a:srgbClr val="9CB7CC">
                <a:alpha val="30000"/>
              </a:srgbClr>
            </a:outerShdw>
          </a:effectLst>
        </p:spPr>
      </p:sp>
      <p:pic>
        <p:nvPicPr>
          <p:cNvPr id="26" name="Image 0" descr="/home/claude/ppt/assets/image10_clean.png">    </p:cNvPr>
          <p:cNvPicPr>
            <a:picLocks noChangeAspect="1"/>
          </p:cNvPicPr>
          <p:nvPr/>
        </p:nvPicPr>
        <p:blipFill>
          <a:blip r:embed="rId1"/>
          <a:stretch>
            <a:fillRect/>
          </a:stretch>
        </p:blipFill>
        <p:spPr>
          <a:xfrm>
            <a:off x="806870" y="3904488"/>
            <a:ext cx="3067988" cy="2185416"/>
          </a:xfrm>
          <a:prstGeom prst="rect">
            <a:avLst/>
          </a:prstGeom>
        </p:spPr>
      </p:pic>
      <p:sp>
        <p:nvSpPr>
          <p:cNvPr id="27" name="Text 24"/>
          <p:cNvSpPr/>
          <p:nvPr/>
        </p:nvSpPr>
        <p:spPr>
          <a:xfrm>
            <a:off x="658368" y="6163056"/>
            <a:ext cx="3364992" cy="292608"/>
          </a:xfrm>
          <a:prstGeom prst="rect">
            <a:avLst/>
          </a:prstGeom>
          <a:noFill/>
          <a:ln/>
        </p:spPr>
        <p:txBody>
          <a:bodyPr wrap="square" rtlCol="0" anchor="t"/>
          <a:lstStyle/>
          <a:p>
            <a:pPr algn="ctr" indent="0" marL="0">
              <a:buNone/>
            </a:pPr>
            <a:r>
              <a:rPr lang="en-US" sz="1050" i="1" dirty="0">
                <a:solidFill>
                  <a:srgbClr val="5B7385"/>
                </a:solidFill>
                <a:latin typeface="Calibri" pitchFamily="34" charset="0"/>
                <a:ea typeface="Calibri" pitchFamily="34" charset="-122"/>
                <a:cs typeface="Calibri" pitchFamily="34" charset="-120"/>
              </a:rPr>
              <a:t>Training &amp; Validation Loss Curve (500 epochs)</a:t>
            </a:r>
            <a:endParaRPr lang="en-US" sz="1050" dirty="0"/>
          </a:p>
        </p:txBody>
      </p:sp>
      <p:sp>
        <p:nvSpPr>
          <p:cNvPr id="28" name="Shape 25"/>
          <p:cNvSpPr/>
          <p:nvPr/>
        </p:nvSpPr>
        <p:spPr>
          <a:xfrm>
            <a:off x="4265676" y="3794760"/>
            <a:ext cx="3584448" cy="2697480"/>
          </a:xfrm>
          <a:prstGeom prst="roundRect">
            <a:avLst>
              <a:gd name="adj" fmla="val 2712"/>
            </a:avLst>
          </a:prstGeom>
          <a:solidFill>
            <a:srgbClr val="FFFFFF"/>
          </a:solidFill>
          <a:ln w="12700">
            <a:solidFill>
              <a:srgbClr val="C9DDF0"/>
            </a:solidFill>
            <a:prstDash val="solid"/>
          </a:ln>
          <a:effectLst>
            <a:outerShdw sx="100000" sy="100000" kx="0" ky="0" algn="bl" rotWithShape="0" blurRad="76200" dist="25400" dir="5400000">
              <a:srgbClr val="9CB7CC">
                <a:alpha val="30000"/>
              </a:srgbClr>
            </a:outerShdw>
          </a:effectLst>
        </p:spPr>
      </p:sp>
      <p:pic>
        <p:nvPicPr>
          <p:cNvPr id="29" name="Image 1" descr="/home/claude/ppt/assets/image12_clean.png">    </p:cNvPr>
          <p:cNvPicPr>
            <a:picLocks noChangeAspect="1"/>
          </p:cNvPicPr>
          <p:nvPr/>
        </p:nvPicPr>
        <p:blipFill>
          <a:blip r:embed="rId2"/>
          <a:stretch>
            <a:fillRect/>
          </a:stretch>
        </p:blipFill>
        <p:spPr>
          <a:xfrm>
            <a:off x="4923744" y="3904488"/>
            <a:ext cx="2268311" cy="2185416"/>
          </a:xfrm>
          <a:prstGeom prst="rect">
            <a:avLst/>
          </a:prstGeom>
        </p:spPr>
      </p:pic>
      <p:sp>
        <p:nvSpPr>
          <p:cNvPr id="30" name="Text 26"/>
          <p:cNvSpPr/>
          <p:nvPr/>
        </p:nvSpPr>
        <p:spPr>
          <a:xfrm>
            <a:off x="4375404" y="6163056"/>
            <a:ext cx="3364992" cy="292608"/>
          </a:xfrm>
          <a:prstGeom prst="rect">
            <a:avLst/>
          </a:prstGeom>
          <a:noFill/>
          <a:ln/>
        </p:spPr>
        <p:txBody>
          <a:bodyPr wrap="square" rtlCol="0" anchor="t"/>
          <a:lstStyle/>
          <a:p>
            <a:pPr algn="ctr" indent="0" marL="0">
              <a:buNone/>
            </a:pPr>
            <a:r>
              <a:rPr lang="en-US" sz="1050" i="1" dirty="0">
                <a:solidFill>
                  <a:srgbClr val="5B7385"/>
                </a:solidFill>
                <a:latin typeface="Calibri" pitchFamily="34" charset="0"/>
                <a:ea typeface="Calibri" pitchFamily="34" charset="-122"/>
                <a:cs typeface="Calibri" pitchFamily="34" charset="-120"/>
              </a:rPr>
              <a:t>CN: Actual vs. Predicted</a:t>
            </a:r>
            <a:endParaRPr lang="en-US" sz="1050" dirty="0"/>
          </a:p>
        </p:txBody>
      </p:sp>
      <p:sp>
        <p:nvSpPr>
          <p:cNvPr id="31" name="Shape 27"/>
          <p:cNvSpPr/>
          <p:nvPr/>
        </p:nvSpPr>
        <p:spPr>
          <a:xfrm>
            <a:off x="7982712" y="3794760"/>
            <a:ext cx="3584448" cy="2697480"/>
          </a:xfrm>
          <a:prstGeom prst="roundRect">
            <a:avLst>
              <a:gd name="adj" fmla="val 2712"/>
            </a:avLst>
          </a:prstGeom>
          <a:solidFill>
            <a:srgbClr val="FFFFFF"/>
          </a:solidFill>
          <a:ln w="12700">
            <a:solidFill>
              <a:srgbClr val="C9DDF0"/>
            </a:solidFill>
            <a:prstDash val="solid"/>
          </a:ln>
          <a:effectLst>
            <a:outerShdw sx="100000" sy="100000" kx="0" ky="0" algn="bl" rotWithShape="0" blurRad="76200" dist="25400" dir="5400000">
              <a:srgbClr val="9CB7CC">
                <a:alpha val="30000"/>
              </a:srgbClr>
            </a:outerShdw>
          </a:effectLst>
        </p:spPr>
      </p:sp>
      <p:pic>
        <p:nvPicPr>
          <p:cNvPr id="32" name="Image 2" descr="/home/claude/ppt/assets/image13_clean.png">    </p:cNvPr>
          <p:cNvPicPr>
            <a:picLocks noChangeAspect="1"/>
          </p:cNvPicPr>
          <p:nvPr/>
        </p:nvPicPr>
        <p:blipFill>
          <a:blip r:embed="rId3"/>
          <a:stretch>
            <a:fillRect/>
          </a:stretch>
        </p:blipFill>
        <p:spPr>
          <a:xfrm>
            <a:off x="8624818" y="3904488"/>
            <a:ext cx="2300236" cy="2185416"/>
          </a:xfrm>
          <a:prstGeom prst="rect">
            <a:avLst/>
          </a:prstGeom>
        </p:spPr>
      </p:pic>
      <p:sp>
        <p:nvSpPr>
          <p:cNvPr id="33" name="Text 28"/>
          <p:cNvSpPr/>
          <p:nvPr/>
        </p:nvSpPr>
        <p:spPr>
          <a:xfrm>
            <a:off x="8092440" y="6163056"/>
            <a:ext cx="3364992" cy="292608"/>
          </a:xfrm>
          <a:prstGeom prst="rect">
            <a:avLst/>
          </a:prstGeom>
          <a:noFill/>
          <a:ln/>
        </p:spPr>
        <p:txBody>
          <a:bodyPr wrap="square" rtlCol="0" anchor="t"/>
          <a:lstStyle/>
          <a:p>
            <a:pPr algn="ctr" indent="0" marL="0">
              <a:buNone/>
            </a:pPr>
            <a:r>
              <a:rPr lang="en-US" sz="1050" i="1" dirty="0">
                <a:solidFill>
                  <a:srgbClr val="5B7385"/>
                </a:solidFill>
                <a:latin typeface="Calibri" pitchFamily="34" charset="0"/>
                <a:ea typeface="Calibri" pitchFamily="34" charset="-122"/>
                <a:cs typeface="Calibri" pitchFamily="34" charset="-120"/>
              </a:rPr>
              <a:t>CM: Actual vs. Predicted</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601200" cy="274320"/>
          </a:xfrm>
          <a:prstGeom prst="rect">
            <a:avLst/>
          </a:prstGeom>
          <a:noFill/>
          <a:ln/>
        </p:spPr>
        <p:txBody>
          <a:bodyPr wrap="square" rtlCol="0" anchor="ctr"/>
          <a:lstStyle/>
          <a:p>
            <a:pPr indent="0" marL="0">
              <a:buNone/>
            </a:pPr>
            <a:r>
              <a:rPr lang="en-US" sz="1150" b="1" spc="200" kern="0" dirty="0">
                <a:solidFill>
                  <a:srgbClr val="2E75B6"/>
                </a:solidFill>
                <a:latin typeface="Calibri" pitchFamily="34" charset="0"/>
                <a:ea typeface="Calibri" pitchFamily="34" charset="-122"/>
                <a:cs typeface="Calibri" pitchFamily="34" charset="-120"/>
              </a:rPr>
              <a:t>MODEL 3 · ENSEMBLE</a:t>
            </a:r>
            <a:endParaRPr lang="en-US" sz="1150" dirty="0"/>
          </a:p>
        </p:txBody>
      </p:sp>
      <p:sp>
        <p:nvSpPr>
          <p:cNvPr id="3" name="Text 1"/>
          <p:cNvSpPr/>
          <p:nvPr/>
        </p:nvSpPr>
        <p:spPr>
          <a:xfrm>
            <a:off x="548640" y="566928"/>
            <a:ext cx="10424160" cy="566928"/>
          </a:xfrm>
          <a:prstGeom prst="rect">
            <a:avLst/>
          </a:prstGeom>
          <a:noFill/>
          <a:ln/>
        </p:spPr>
        <p:txBody>
          <a:bodyPr wrap="square" rtlCol="0" anchor="ctr"/>
          <a:lstStyle/>
          <a:p>
            <a:pPr indent="0" marL="0">
              <a:buNone/>
            </a:pPr>
            <a:r>
              <a:rPr lang="en-US" sz="2600" b="1" dirty="0">
                <a:solidFill>
                  <a:srgbClr val="1F4E79"/>
                </a:solidFill>
                <a:latin typeface="Cambria" pitchFamily="34" charset="0"/>
                <a:ea typeface="Cambria" pitchFamily="34" charset="-122"/>
                <a:cs typeface="Cambria" pitchFamily="34" charset="-120"/>
              </a:rPr>
              <a:t>Ensemble XGBoost — Why, What &amp; How</a:t>
            </a:r>
            <a:endParaRPr lang="en-US" sz="2600" dirty="0"/>
          </a:p>
        </p:txBody>
      </p:sp>
      <p:sp>
        <p:nvSpPr>
          <p:cNvPr id="4" name="Shape 2"/>
          <p:cNvSpPr/>
          <p:nvPr/>
        </p:nvSpPr>
        <p:spPr>
          <a:xfrm>
            <a:off x="11475720" y="384048"/>
            <a:ext cx="420624" cy="420624"/>
          </a:xfrm>
          <a:prstGeom prst="ellipse">
            <a:avLst/>
          </a:prstGeom>
          <a:solidFill>
            <a:srgbClr val="DDEBF8"/>
          </a:solidFill>
          <a:ln/>
        </p:spPr>
      </p:sp>
      <p:sp>
        <p:nvSpPr>
          <p:cNvPr id="5" name="Text 3"/>
          <p:cNvSpPr/>
          <p:nvPr/>
        </p:nvSpPr>
        <p:spPr>
          <a:xfrm>
            <a:off x="11475720" y="384048"/>
            <a:ext cx="420624" cy="420624"/>
          </a:xfrm>
          <a:prstGeom prst="rect">
            <a:avLst/>
          </a:prstGeom>
          <a:noFill/>
          <a:ln/>
        </p:spPr>
        <p:txBody>
          <a:bodyPr wrap="square" rtlCol="0" anchor="ctr"/>
          <a:lstStyle/>
          <a:p>
            <a:pPr algn="ctr" indent="0" marL="0">
              <a:buNone/>
            </a:pPr>
            <a:r>
              <a:rPr lang="en-US" sz="1200" b="1" dirty="0">
                <a:solidFill>
                  <a:srgbClr val="1F4E79"/>
                </a:solidFill>
                <a:latin typeface="Calibri" pitchFamily="34" charset="0"/>
                <a:ea typeface="Calibri" pitchFamily="34" charset="-122"/>
                <a:cs typeface="Calibri" pitchFamily="34" charset="-120"/>
              </a:rPr>
              <a:t>07</a:t>
            </a:r>
            <a:endParaRPr lang="en-US" sz="1200" dirty="0"/>
          </a:p>
        </p:txBody>
      </p:sp>
      <p:sp>
        <p:nvSpPr>
          <p:cNvPr id="6" name="Shape 4"/>
          <p:cNvSpPr/>
          <p:nvPr/>
        </p:nvSpPr>
        <p:spPr>
          <a:xfrm>
            <a:off x="548640" y="1170432"/>
            <a:ext cx="3520440" cy="2450592"/>
          </a:xfrm>
          <a:prstGeom prst="roundRect">
            <a:avLst>
              <a:gd name="adj" fmla="val 3358"/>
            </a:avLst>
          </a:prstGeom>
          <a:solidFill>
            <a:srgbClr val="EAF3FB"/>
          </a:solidFill>
          <a:ln/>
          <a:effectLst>
            <a:outerShdw sx="100000" sy="100000" kx="0" ky="0" algn="bl" rotWithShape="0" blurRad="76200" dist="25400" dir="5400000">
              <a:srgbClr val="9CB7CC">
                <a:alpha val="28000"/>
              </a:srgbClr>
            </a:outerShdw>
          </a:effectLst>
        </p:spPr>
      </p:sp>
      <p:sp>
        <p:nvSpPr>
          <p:cNvPr id="7" name="Text 5"/>
          <p:cNvSpPr/>
          <p:nvPr/>
        </p:nvSpPr>
        <p:spPr>
          <a:xfrm>
            <a:off x="804672" y="1316736"/>
            <a:ext cx="3008376" cy="292608"/>
          </a:xfrm>
          <a:prstGeom prst="rect">
            <a:avLst/>
          </a:prstGeom>
          <a:noFill/>
          <a:ln/>
        </p:spPr>
        <p:txBody>
          <a:bodyPr wrap="square"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Why Ensemble?</a:t>
            </a:r>
            <a:endParaRPr lang="en-US" sz="1400" dirty="0"/>
          </a:p>
        </p:txBody>
      </p:sp>
      <p:sp>
        <p:nvSpPr>
          <p:cNvPr id="8" name="Text 6"/>
          <p:cNvSpPr/>
          <p:nvPr/>
        </p:nvSpPr>
        <p:spPr>
          <a:xfrm>
            <a:off x="804672" y="1682496"/>
            <a:ext cx="3008376" cy="1810512"/>
          </a:xfrm>
          <a:prstGeom prst="rect">
            <a:avLst/>
          </a:prstGeom>
          <a:noFill/>
          <a:ln/>
        </p:spPr>
        <p:txBody>
          <a:bodyPr wrap="square" rtlCol="0" anchor="t"/>
          <a:lstStyle/>
          <a:p>
            <a:pPr marL="177800" indent="-177800">
              <a:lnSpc>
                <a:spcPct val="108000"/>
              </a:lnSpc>
              <a:spcAft>
                <a:spcPts val="500"/>
              </a:spcAft>
              <a:buSzPct val="100000"/>
              <a:buChar char="●"/>
            </a:pPr>
            <a:r>
              <a:rPr lang="en-US" sz="1100" dirty="0">
                <a:solidFill>
                  <a:srgbClr val="24313F"/>
                </a:solidFill>
                <a:latin typeface="Calibri" pitchFamily="34" charset="0"/>
                <a:ea typeface="Calibri" pitchFamily="34" charset="-122"/>
                <a:cs typeface="Calibri" pitchFamily="34" charset="-120"/>
              </a:rPr>
              <a:t>Aerodynamic relationships are highly nonlinear, feature-interactive, piecewise smooth, and sometimes discontinuous near stall regions</a:t>
            </a:r>
            <a:endParaRPr lang="en-US" sz="1100" dirty="0"/>
          </a:p>
          <a:p>
            <a:pPr marL="177800" indent="-177800">
              <a:lnSpc>
                <a:spcPct val="108000"/>
              </a:lnSpc>
              <a:spcAft>
                <a:spcPts val="500"/>
              </a:spcAft>
              <a:buSzPct val="100000"/>
              <a:buChar char="●"/>
            </a:pPr>
            <a:r>
              <a:rPr lang="en-US" sz="1100" dirty="0">
                <a:solidFill>
                  <a:srgbClr val="24313F"/>
                </a:solidFill>
                <a:latin typeface="Calibri" pitchFamily="34" charset="0"/>
                <a:ea typeface="Calibri" pitchFamily="34" charset="-122"/>
                <a:cs typeface="Calibri" pitchFamily="34" charset="-120"/>
              </a:rPr>
              <a:t>A single model can be sensitive to random initialization</a:t>
            </a:r>
            <a:endParaRPr lang="en-US" sz="1100" dirty="0"/>
          </a:p>
          <a:p>
            <a:pPr marL="177800" indent="-177800">
              <a:lnSpc>
                <a:spcPct val="108000"/>
              </a:lnSpc>
              <a:spcAft>
                <a:spcPts val="500"/>
              </a:spcAft>
              <a:buSzPct val="100000"/>
              <a:buChar char="●"/>
            </a:pPr>
            <a:r>
              <a:rPr lang="en-US" sz="1100" dirty="0">
                <a:solidFill>
                  <a:srgbClr val="24313F"/>
                </a:solidFill>
                <a:latin typeface="Calibri" pitchFamily="34" charset="0"/>
                <a:ea typeface="Calibri" pitchFamily="34" charset="-122"/>
                <a:cs typeface="Calibri" pitchFamily="34" charset="-120"/>
              </a:rPr>
              <a:t>Averaging multiple independently-seeded models reduces variance, initialization sensitivity, and overfitting noise</a:t>
            </a:r>
            <a:endParaRPr lang="en-US" sz="1100" dirty="0"/>
          </a:p>
        </p:txBody>
      </p:sp>
      <p:sp>
        <p:nvSpPr>
          <p:cNvPr id="9" name="Shape 7"/>
          <p:cNvSpPr/>
          <p:nvPr/>
        </p:nvSpPr>
        <p:spPr>
          <a:xfrm>
            <a:off x="4206240" y="1170432"/>
            <a:ext cx="3520440" cy="2450592"/>
          </a:xfrm>
          <a:prstGeom prst="roundRect">
            <a:avLst>
              <a:gd name="adj" fmla="val 3358"/>
            </a:avLst>
          </a:prstGeom>
          <a:solidFill>
            <a:srgbClr val="DDEBF8"/>
          </a:solidFill>
          <a:ln/>
          <a:effectLst>
            <a:outerShdw sx="100000" sy="100000" kx="0" ky="0" algn="bl" rotWithShape="0" blurRad="76200" dist="25400" dir="5400000">
              <a:srgbClr val="9CB7CC">
                <a:alpha val="28000"/>
              </a:srgbClr>
            </a:outerShdw>
          </a:effectLst>
        </p:spPr>
      </p:sp>
      <p:sp>
        <p:nvSpPr>
          <p:cNvPr id="10" name="Text 8"/>
          <p:cNvSpPr/>
          <p:nvPr/>
        </p:nvSpPr>
        <p:spPr>
          <a:xfrm>
            <a:off x="4462272" y="1316736"/>
            <a:ext cx="3008376" cy="292608"/>
          </a:xfrm>
          <a:prstGeom prst="rect">
            <a:avLst/>
          </a:prstGeom>
          <a:noFill/>
          <a:ln/>
        </p:spPr>
        <p:txBody>
          <a:bodyPr wrap="square"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What Is Taken (Features)</a:t>
            </a:r>
            <a:endParaRPr lang="en-US" sz="1400" dirty="0"/>
          </a:p>
        </p:txBody>
      </p:sp>
      <p:sp>
        <p:nvSpPr>
          <p:cNvPr id="11" name="Text 9"/>
          <p:cNvSpPr/>
          <p:nvPr/>
        </p:nvSpPr>
        <p:spPr>
          <a:xfrm>
            <a:off x="4462272" y="1682496"/>
            <a:ext cx="3008376" cy="1810512"/>
          </a:xfrm>
          <a:prstGeom prst="rect">
            <a:avLst/>
          </a:prstGeom>
          <a:noFill/>
          <a:ln/>
        </p:spPr>
        <p:txBody>
          <a:bodyPr wrap="square" rtlCol="0" anchor="t"/>
          <a:lstStyle/>
          <a:p>
            <a:pPr marL="177800" indent="-177800">
              <a:lnSpc>
                <a:spcPct val="108000"/>
              </a:lnSpc>
              <a:spcAft>
                <a:spcPts val="500"/>
              </a:spcAft>
              <a:buSzPct val="100000"/>
              <a:buChar char="●"/>
            </a:pPr>
            <a:r>
              <a:rPr lang="en-US" sz="1030" dirty="0">
                <a:solidFill>
                  <a:srgbClr val="24313F"/>
                </a:solidFill>
                <a:latin typeface="Calibri" pitchFamily="34" charset="0"/>
                <a:ea typeface="Calibri" pitchFamily="34" charset="-122"/>
                <a:cs typeface="Calibri" pitchFamily="34" charset="-120"/>
              </a:rPr>
              <a:t>Geometry: nose length, body length</a:t>
            </a:r>
            <a:endParaRPr lang="en-US" sz="1030" dirty="0"/>
          </a:p>
          <a:p>
            <a:pPr marL="177800" indent="-177800">
              <a:lnSpc>
                <a:spcPct val="108000"/>
              </a:lnSpc>
              <a:spcAft>
                <a:spcPts val="500"/>
              </a:spcAft>
              <a:buSzPct val="100000"/>
              <a:buChar char="●"/>
            </a:pPr>
            <a:r>
              <a:rPr lang="en-US" sz="1030" dirty="0">
                <a:solidFill>
                  <a:srgbClr val="24313F"/>
                </a:solidFill>
                <a:latin typeface="Calibri" pitchFamily="34" charset="0"/>
                <a:ea typeface="Calibri" pitchFamily="34" charset="-122"/>
                <a:cs typeface="Calibri" pitchFamily="34" charset="-120"/>
              </a:rPr>
              <a:t>Wing: LE, root/tip chord, semi-span</a:t>
            </a:r>
            <a:endParaRPr lang="en-US" sz="1030" dirty="0"/>
          </a:p>
          <a:p>
            <a:pPr marL="177800" indent="-177800">
              <a:lnSpc>
                <a:spcPct val="108000"/>
              </a:lnSpc>
              <a:spcAft>
                <a:spcPts val="500"/>
              </a:spcAft>
              <a:buSzPct val="100000"/>
              <a:buChar char="●"/>
            </a:pPr>
            <a:r>
              <a:rPr lang="en-US" sz="1030" dirty="0">
                <a:solidFill>
                  <a:srgbClr val="24313F"/>
                </a:solidFill>
                <a:latin typeface="Calibri" pitchFamily="34" charset="0"/>
                <a:ea typeface="Calibri" pitchFamily="34" charset="-122"/>
                <a:cs typeface="Calibri" pitchFamily="34" charset="-120"/>
              </a:rPr>
              <a:t>Thickness: root/tip th. · Sweep: wing sweep</a:t>
            </a:r>
            <a:endParaRPr lang="en-US" sz="1030" dirty="0"/>
          </a:p>
          <a:p>
            <a:pPr marL="177800" indent="-177800">
              <a:lnSpc>
                <a:spcPct val="108000"/>
              </a:lnSpc>
              <a:spcAft>
                <a:spcPts val="500"/>
              </a:spcAft>
              <a:buSzPct val="100000"/>
              <a:buChar char="●"/>
            </a:pPr>
            <a:r>
              <a:rPr lang="en-US" sz="1030" dirty="0">
                <a:solidFill>
                  <a:srgbClr val="24313F"/>
                </a:solidFill>
                <a:latin typeface="Calibri" pitchFamily="34" charset="0"/>
                <a:ea typeface="Calibri" pitchFamily="34" charset="-122"/>
                <a:cs typeface="Calibri" pitchFamily="34" charset="-120"/>
              </a:rPr>
              <a:t>Tail: LE, root/tip chord, semi-span, thickness</a:t>
            </a:r>
            <a:endParaRPr lang="en-US" sz="1030" dirty="0"/>
          </a:p>
          <a:p>
            <a:pPr marL="177800" indent="-177800">
              <a:lnSpc>
                <a:spcPct val="108000"/>
              </a:lnSpc>
              <a:spcAft>
                <a:spcPts val="500"/>
              </a:spcAft>
              <a:buSzPct val="100000"/>
              <a:buChar char="●"/>
            </a:pPr>
            <a:r>
              <a:rPr lang="en-US" sz="1030" dirty="0">
                <a:solidFill>
                  <a:srgbClr val="24313F"/>
                </a:solidFill>
                <a:latin typeface="Calibri" pitchFamily="34" charset="0"/>
                <a:ea typeface="Calibri" pitchFamily="34" charset="-122"/>
                <a:cs typeface="Calibri" pitchFamily="34" charset="-120"/>
              </a:rPr>
              <a:t>Flight state: MACH, ALPHA, ALT</a:t>
            </a:r>
            <a:endParaRPr lang="en-US" sz="1030" dirty="0"/>
          </a:p>
          <a:p>
            <a:pPr marL="177800" indent="-177800">
              <a:lnSpc>
                <a:spcPct val="108000"/>
              </a:lnSpc>
              <a:spcAft>
                <a:spcPts val="500"/>
              </a:spcAft>
              <a:buSzPct val="100000"/>
              <a:buChar char="●"/>
            </a:pPr>
            <a:r>
              <a:rPr lang="en-US" sz="1030" dirty="0">
                <a:solidFill>
                  <a:srgbClr val="24313F"/>
                </a:solidFill>
                <a:latin typeface="Calibri" pitchFamily="34" charset="0"/>
                <a:ea typeface="Calibri" pitchFamily="34" charset="-122"/>
                <a:cs typeface="Calibri" pitchFamily="34" charset="-120"/>
              </a:rPr>
              <a:t>Targets: CL, CD, X-C.P. (own ensemble each)</a:t>
            </a:r>
            <a:endParaRPr lang="en-US" sz="1030" dirty="0"/>
          </a:p>
        </p:txBody>
      </p:sp>
      <p:sp>
        <p:nvSpPr>
          <p:cNvPr id="12" name="Shape 10"/>
          <p:cNvSpPr/>
          <p:nvPr/>
        </p:nvSpPr>
        <p:spPr>
          <a:xfrm>
            <a:off x="7863840" y="1170432"/>
            <a:ext cx="3776472" cy="2450592"/>
          </a:xfrm>
          <a:prstGeom prst="roundRect">
            <a:avLst>
              <a:gd name="adj" fmla="val 3358"/>
            </a:avLst>
          </a:prstGeom>
          <a:solidFill>
            <a:srgbClr val="EAF3FB"/>
          </a:solidFill>
          <a:ln/>
          <a:effectLst>
            <a:outerShdw sx="100000" sy="100000" kx="0" ky="0" algn="bl" rotWithShape="0" blurRad="76200" dist="25400" dir="5400000">
              <a:srgbClr val="9CB7CC">
                <a:alpha val="28000"/>
              </a:srgbClr>
            </a:outerShdw>
          </a:effectLst>
        </p:spPr>
      </p:sp>
      <p:sp>
        <p:nvSpPr>
          <p:cNvPr id="13" name="Text 11"/>
          <p:cNvSpPr/>
          <p:nvPr/>
        </p:nvSpPr>
        <p:spPr>
          <a:xfrm>
            <a:off x="8119872" y="1316736"/>
            <a:ext cx="3264408" cy="292608"/>
          </a:xfrm>
          <a:prstGeom prst="rect">
            <a:avLst/>
          </a:prstGeom>
          <a:noFill/>
          <a:ln/>
        </p:spPr>
        <p:txBody>
          <a:bodyPr wrap="square"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How the Output Comes</a:t>
            </a:r>
            <a:endParaRPr lang="en-US" sz="1400" dirty="0"/>
          </a:p>
        </p:txBody>
      </p:sp>
      <p:sp>
        <p:nvSpPr>
          <p:cNvPr id="14" name="Text 12"/>
          <p:cNvSpPr/>
          <p:nvPr/>
        </p:nvSpPr>
        <p:spPr>
          <a:xfrm>
            <a:off x="8119872" y="1682496"/>
            <a:ext cx="3264408" cy="1810512"/>
          </a:xfrm>
          <a:prstGeom prst="rect">
            <a:avLst/>
          </a:prstGeom>
          <a:noFill/>
          <a:ln/>
        </p:spPr>
        <p:txBody>
          <a:bodyPr wrap="square" rtlCol="0" anchor="t"/>
          <a:lstStyle/>
          <a:p>
            <a:pPr marL="177800" indent="-177800">
              <a:lnSpc>
                <a:spcPct val="108000"/>
              </a:lnSpc>
              <a:spcAft>
                <a:spcPts val="500"/>
              </a:spcAft>
              <a:buSzPct val="100000"/>
              <a:buChar char="●"/>
            </a:pPr>
            <a:r>
              <a:rPr lang="en-US" sz="1060" dirty="0">
                <a:solidFill>
                  <a:srgbClr val="24313F"/>
                </a:solidFill>
                <a:latin typeface="Calibri" pitchFamily="34" charset="0"/>
                <a:ea typeface="Calibri" pitchFamily="34" charset="-122"/>
                <a:cs typeface="Calibri" pitchFamily="34" charset="-120"/>
              </a:rPr>
              <a:t>5 XGBoost regressors trained per target with seeds 10, 20, 30, 40, 50</a:t>
            </a:r>
            <a:endParaRPr lang="en-US" sz="1060" dirty="0"/>
          </a:p>
          <a:p>
            <a:pPr marL="177800" indent="-177800">
              <a:lnSpc>
                <a:spcPct val="108000"/>
              </a:lnSpc>
              <a:spcAft>
                <a:spcPts val="500"/>
              </a:spcAft>
              <a:buSzPct val="100000"/>
              <a:buChar char="●"/>
            </a:pPr>
            <a:r>
              <a:rPr lang="en-US" sz="1060" dirty="0">
                <a:solidFill>
                  <a:srgbClr val="24313F"/>
                </a:solidFill>
                <a:latin typeface="Calibri" pitchFamily="34" charset="0"/>
                <a:ea typeface="Calibri" pitchFamily="34" charset="-122"/>
                <a:cs typeface="Calibri" pitchFamily="34" charset="-120"/>
              </a:rPr>
              <a:t>Same 80% training data &amp; hyperparameters as the single model</a:t>
            </a:r>
            <a:endParaRPr lang="en-US" sz="1060" dirty="0"/>
          </a:p>
          <a:p>
            <a:pPr marL="177800" indent="-177800">
              <a:lnSpc>
                <a:spcPct val="108000"/>
              </a:lnSpc>
              <a:spcAft>
                <a:spcPts val="500"/>
              </a:spcAft>
              <a:buSzPct val="100000"/>
              <a:buChar char="●"/>
            </a:pPr>
            <a:r>
              <a:rPr lang="en-US" sz="1060" dirty="0">
                <a:solidFill>
                  <a:srgbClr val="24313F"/>
                </a:solidFill>
                <a:latin typeface="Calibri" pitchFamily="34" charset="0"/>
                <a:ea typeface="Calibri" pitchFamily="34" charset="-122"/>
                <a:cs typeface="Calibri" pitchFamily="34" charset="-120"/>
              </a:rPr>
              <a:t>Final prediction is the mean of the 5 model outputs (see formula below)</a:t>
            </a:r>
            <a:endParaRPr lang="en-US" sz="1060" dirty="0"/>
          </a:p>
        </p:txBody>
      </p:sp>
      <p:sp>
        <p:nvSpPr>
          <p:cNvPr id="15" name="Shape 13"/>
          <p:cNvSpPr/>
          <p:nvPr/>
        </p:nvSpPr>
        <p:spPr>
          <a:xfrm>
            <a:off x="548640" y="3822192"/>
            <a:ext cx="3520440" cy="2121408"/>
          </a:xfrm>
          <a:prstGeom prst="roundRect">
            <a:avLst>
              <a:gd name="adj" fmla="val 3879"/>
            </a:avLst>
          </a:prstGeom>
          <a:solidFill>
            <a:srgbClr val="DDEBF8"/>
          </a:solidFill>
          <a:ln/>
          <a:effectLst>
            <a:outerShdw sx="100000" sy="100000" kx="0" ky="0" algn="bl" rotWithShape="0" blurRad="76200" dist="25400" dir="5400000">
              <a:srgbClr val="9CB7CC">
                <a:alpha val="28000"/>
              </a:srgbClr>
            </a:outerShdw>
          </a:effectLst>
        </p:spPr>
      </p:sp>
      <p:sp>
        <p:nvSpPr>
          <p:cNvPr id="16" name="Text 14"/>
          <p:cNvSpPr/>
          <p:nvPr/>
        </p:nvSpPr>
        <p:spPr>
          <a:xfrm>
            <a:off x="804672" y="3968496"/>
            <a:ext cx="3017520" cy="292608"/>
          </a:xfrm>
          <a:prstGeom prst="rect">
            <a:avLst/>
          </a:prstGeom>
          <a:noFill/>
          <a:ln/>
        </p:spPr>
        <p:txBody>
          <a:bodyPr wrap="square"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Ensemble Prediction Formula</a:t>
            </a:r>
            <a:endParaRPr lang="en-US" sz="1400" dirty="0"/>
          </a:p>
        </p:txBody>
      </p:sp>
      <p:pic>
        <p:nvPicPr>
          <p:cNvPr id="17" name="Image 0" descr="/home/claude/ppt/assets/image14_clean.png">    </p:cNvPr>
          <p:cNvPicPr>
            <a:picLocks noChangeAspect="1"/>
          </p:cNvPicPr>
          <p:nvPr/>
        </p:nvPicPr>
        <p:blipFill>
          <a:blip r:embed="rId1"/>
          <a:stretch>
            <a:fillRect/>
          </a:stretch>
        </p:blipFill>
        <p:spPr>
          <a:xfrm>
            <a:off x="1051560" y="4709160"/>
            <a:ext cx="2377440" cy="877824"/>
          </a:xfrm>
          <a:prstGeom prst="rect">
            <a:avLst/>
          </a:prstGeom>
        </p:spPr>
      </p:pic>
      <p:sp>
        <p:nvSpPr>
          <p:cNvPr id="18" name="Shape 15"/>
          <p:cNvSpPr/>
          <p:nvPr/>
        </p:nvSpPr>
        <p:spPr>
          <a:xfrm>
            <a:off x="4206240" y="3822192"/>
            <a:ext cx="7434072" cy="2121408"/>
          </a:xfrm>
          <a:prstGeom prst="roundRect">
            <a:avLst>
              <a:gd name="adj" fmla="val 3879"/>
            </a:avLst>
          </a:prstGeom>
          <a:solidFill>
            <a:srgbClr val="EAF3FB"/>
          </a:solidFill>
          <a:ln/>
          <a:effectLst>
            <a:outerShdw sx="100000" sy="100000" kx="0" ky="0" algn="bl" rotWithShape="0" blurRad="76200" dist="25400" dir="5400000">
              <a:srgbClr val="9CB7CC">
                <a:alpha val="28000"/>
              </a:srgbClr>
            </a:outerShdw>
          </a:effectLst>
        </p:spPr>
      </p:sp>
      <p:sp>
        <p:nvSpPr>
          <p:cNvPr id="19" name="Text 16"/>
          <p:cNvSpPr/>
          <p:nvPr/>
        </p:nvSpPr>
        <p:spPr>
          <a:xfrm>
            <a:off x="4462272" y="3968496"/>
            <a:ext cx="6922008" cy="292608"/>
          </a:xfrm>
          <a:prstGeom prst="rect">
            <a:avLst/>
          </a:prstGeom>
          <a:noFill/>
          <a:ln/>
        </p:spPr>
        <p:txBody>
          <a:bodyPr wrap="square"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Effect</a:t>
            </a:r>
            <a:endParaRPr lang="en-US" sz="1400" dirty="0"/>
          </a:p>
        </p:txBody>
      </p:sp>
      <p:sp>
        <p:nvSpPr>
          <p:cNvPr id="20" name="Text 17"/>
          <p:cNvSpPr/>
          <p:nvPr/>
        </p:nvSpPr>
        <p:spPr>
          <a:xfrm>
            <a:off x="4462272" y="4334256"/>
            <a:ext cx="6922008" cy="1481328"/>
          </a:xfrm>
          <a:prstGeom prst="rect">
            <a:avLst/>
          </a:prstGeom>
          <a:noFill/>
          <a:ln/>
        </p:spPr>
        <p:txBody>
          <a:bodyPr wrap="square" rtlCol="0" anchor="t"/>
          <a:lstStyle/>
          <a:p>
            <a:pPr indent="0" marL="0">
              <a:lnSpc>
                <a:spcPct val="114000"/>
              </a:lnSpc>
              <a:buNone/>
            </a:pPr>
            <a:r>
              <a:rPr lang="en-US" sz="1200" dirty="0">
                <a:solidFill>
                  <a:srgbClr val="24313F"/>
                </a:solidFill>
                <a:latin typeface="Calibri" pitchFamily="34" charset="0"/>
                <a:ea typeface="Calibri" pitchFamily="34" charset="-122"/>
                <a:cs typeface="Calibri" pitchFamily="34" charset="-120"/>
              </a:rPr>
              <a:t>This reduces prediction variance, sensitivity to random initialization, and overfitting noise — giving a smoother, more reliable surrogate than any single XGBoost model. XGBoost is well suited as the base learner because it captures nonlinear feature interactions, is robust to outliers, is less sensitive to feature scaling, and generalizes strongly on tabular aerodynamic data.</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601200" cy="274320"/>
          </a:xfrm>
          <a:prstGeom prst="rect">
            <a:avLst/>
          </a:prstGeom>
          <a:noFill/>
          <a:ln/>
        </p:spPr>
        <p:txBody>
          <a:bodyPr wrap="square" rtlCol="0" anchor="ctr"/>
          <a:lstStyle/>
          <a:p>
            <a:pPr indent="0" marL="0">
              <a:buNone/>
            </a:pPr>
            <a:r>
              <a:rPr lang="en-US" sz="1150" b="1" spc="200" kern="0" dirty="0">
                <a:solidFill>
                  <a:srgbClr val="2E75B6"/>
                </a:solidFill>
                <a:latin typeface="Calibri" pitchFamily="34" charset="0"/>
                <a:ea typeface="Calibri" pitchFamily="34" charset="-122"/>
                <a:cs typeface="Calibri" pitchFamily="34" charset="-120"/>
              </a:rPr>
              <a:t>MODEL 3 · ENSEMBLE</a:t>
            </a:r>
            <a:endParaRPr lang="en-US" sz="1150" dirty="0"/>
          </a:p>
        </p:txBody>
      </p:sp>
      <p:sp>
        <p:nvSpPr>
          <p:cNvPr id="3" name="Text 1"/>
          <p:cNvSpPr/>
          <p:nvPr/>
        </p:nvSpPr>
        <p:spPr>
          <a:xfrm>
            <a:off x="548640" y="566928"/>
            <a:ext cx="10424160" cy="566928"/>
          </a:xfrm>
          <a:prstGeom prst="rect">
            <a:avLst/>
          </a:prstGeom>
          <a:noFill/>
          <a:ln/>
        </p:spPr>
        <p:txBody>
          <a:bodyPr wrap="square" rtlCol="0" anchor="ctr"/>
          <a:lstStyle/>
          <a:p>
            <a:pPr indent="0" marL="0">
              <a:buNone/>
            </a:pPr>
            <a:r>
              <a:rPr lang="en-US" sz="2600" b="1" dirty="0">
                <a:solidFill>
                  <a:srgbClr val="1F4E79"/>
                </a:solidFill>
                <a:latin typeface="Cambria" pitchFamily="34" charset="0"/>
                <a:ea typeface="Cambria" pitchFamily="34" charset="-122"/>
                <a:cs typeface="Cambria" pitchFamily="34" charset="-120"/>
              </a:rPr>
              <a:t>Ensemble XGBoost — Results</a:t>
            </a:r>
            <a:endParaRPr lang="en-US" sz="2600" dirty="0"/>
          </a:p>
        </p:txBody>
      </p:sp>
      <p:sp>
        <p:nvSpPr>
          <p:cNvPr id="4" name="Shape 2"/>
          <p:cNvSpPr/>
          <p:nvPr/>
        </p:nvSpPr>
        <p:spPr>
          <a:xfrm>
            <a:off x="11475720" y="384048"/>
            <a:ext cx="420624" cy="420624"/>
          </a:xfrm>
          <a:prstGeom prst="ellipse">
            <a:avLst/>
          </a:prstGeom>
          <a:solidFill>
            <a:srgbClr val="DDEBF8"/>
          </a:solidFill>
          <a:ln/>
        </p:spPr>
      </p:sp>
      <p:sp>
        <p:nvSpPr>
          <p:cNvPr id="5" name="Text 3"/>
          <p:cNvSpPr/>
          <p:nvPr/>
        </p:nvSpPr>
        <p:spPr>
          <a:xfrm>
            <a:off x="11475720" y="384048"/>
            <a:ext cx="420624" cy="420624"/>
          </a:xfrm>
          <a:prstGeom prst="rect">
            <a:avLst/>
          </a:prstGeom>
          <a:noFill/>
          <a:ln/>
        </p:spPr>
        <p:txBody>
          <a:bodyPr wrap="square" rtlCol="0" anchor="ctr"/>
          <a:lstStyle/>
          <a:p>
            <a:pPr algn="ctr" indent="0" marL="0">
              <a:buNone/>
            </a:pPr>
            <a:r>
              <a:rPr lang="en-US" sz="1200" b="1" dirty="0">
                <a:solidFill>
                  <a:srgbClr val="1F4E79"/>
                </a:solidFill>
                <a:latin typeface="Calibri" pitchFamily="34" charset="0"/>
                <a:ea typeface="Calibri" pitchFamily="34" charset="-122"/>
                <a:cs typeface="Calibri" pitchFamily="34" charset="-120"/>
              </a:rPr>
              <a:t>08</a:t>
            </a:r>
            <a:endParaRPr lang="en-US" sz="1200" dirty="0"/>
          </a:p>
        </p:txBody>
      </p:sp>
      <p:sp>
        <p:nvSpPr>
          <p:cNvPr id="6" name="Text 4"/>
          <p:cNvSpPr/>
          <p:nvPr/>
        </p:nvSpPr>
        <p:spPr>
          <a:xfrm>
            <a:off x="548640" y="1115568"/>
            <a:ext cx="7315200" cy="256032"/>
          </a:xfrm>
          <a:prstGeom prst="rect">
            <a:avLst/>
          </a:prstGeom>
          <a:noFill/>
          <a:ln/>
        </p:spPr>
        <p:txBody>
          <a:bodyPr wrap="square" rtlCol="0" anchor="ctr"/>
          <a:lstStyle/>
          <a:p>
            <a:pPr indent="0" marL="0">
              <a:buNone/>
            </a:pPr>
            <a:r>
              <a:rPr lang="en-US" sz="1200" b="1" spc="120" kern="0" dirty="0">
                <a:solidFill>
                  <a:srgbClr val="2E75B6"/>
                </a:solidFill>
                <a:latin typeface="Calibri" pitchFamily="34" charset="0"/>
                <a:ea typeface="Calibri" pitchFamily="34" charset="-122"/>
                <a:cs typeface="Calibri" pitchFamily="34" charset="-120"/>
              </a:rPr>
              <a:t>PERFORMANCE (5-MODEL AVERAGE)</a:t>
            </a:r>
            <a:endParaRPr lang="en-US" sz="1200" dirty="0"/>
          </a:p>
        </p:txBody>
      </p:sp>
      <p:sp>
        <p:nvSpPr>
          <p:cNvPr id="7" name="Shape 5"/>
          <p:cNvSpPr/>
          <p:nvPr/>
        </p:nvSpPr>
        <p:spPr>
          <a:xfrm>
            <a:off x="548640" y="1417320"/>
            <a:ext cx="1764792" cy="896112"/>
          </a:xfrm>
          <a:prstGeom prst="roundRect">
            <a:avLst>
              <a:gd name="adj" fmla="val 8163"/>
            </a:avLst>
          </a:prstGeom>
          <a:solidFill>
            <a:srgbClr val="D5E8F8"/>
          </a:solidFill>
          <a:ln w="9525">
            <a:solidFill>
              <a:srgbClr val="C9DDF0"/>
            </a:solidFill>
            <a:prstDash val="solid"/>
          </a:ln>
        </p:spPr>
      </p:sp>
      <p:sp>
        <p:nvSpPr>
          <p:cNvPr id="8" name="Text 6"/>
          <p:cNvSpPr/>
          <p:nvPr/>
        </p:nvSpPr>
        <p:spPr>
          <a:xfrm>
            <a:off x="658368" y="1490472"/>
            <a:ext cx="1545336" cy="237744"/>
          </a:xfrm>
          <a:prstGeom prst="rect">
            <a:avLst/>
          </a:prstGeom>
          <a:noFill/>
          <a:ln/>
        </p:spPr>
        <p:txBody>
          <a:bodyPr wrap="square" rtlCol="0" anchor="ctr"/>
          <a:lstStyle/>
          <a:p>
            <a:pPr indent="0" marL="0">
              <a:buNone/>
            </a:pPr>
            <a:r>
              <a:rPr lang="en-US" sz="1150" b="1" dirty="0">
                <a:solidFill>
                  <a:srgbClr val="1F4E79"/>
                </a:solidFill>
                <a:latin typeface="Calibri" pitchFamily="34" charset="0"/>
                <a:ea typeface="Calibri" pitchFamily="34" charset="-122"/>
                <a:cs typeface="Calibri" pitchFamily="34" charset="-120"/>
              </a:rPr>
              <a:t>CL — Train</a:t>
            </a:r>
            <a:endParaRPr lang="en-US" sz="1150" dirty="0"/>
          </a:p>
        </p:txBody>
      </p:sp>
      <p:sp>
        <p:nvSpPr>
          <p:cNvPr id="9" name="Text 7"/>
          <p:cNvSpPr/>
          <p:nvPr/>
        </p:nvSpPr>
        <p:spPr>
          <a:xfrm>
            <a:off x="658368" y="1728216"/>
            <a:ext cx="1545336" cy="512064"/>
          </a:xfrm>
          <a:prstGeom prst="rect">
            <a:avLst/>
          </a:prstGeom>
          <a:noFill/>
          <a:ln/>
        </p:spPr>
        <p:txBody>
          <a:bodyPr wrap="square" rtlCol="0" anchor="t"/>
          <a:lstStyle/>
          <a:p>
            <a:pPr indent="0" marL="0">
              <a:lnSpc>
                <a:spcPct val="112000"/>
              </a:lnSpc>
              <a:buNone/>
            </a:pPr>
            <a:r>
              <a:rPr lang="en-US" sz="1050" dirty="0">
                <a:solidFill>
                  <a:srgbClr val="24313F"/>
                </a:solidFill>
                <a:latin typeface="Calibri" pitchFamily="34" charset="0"/>
                <a:ea typeface="Calibri" pitchFamily="34" charset="-122"/>
                <a:cs typeface="Calibri" pitchFamily="34" charset="-120"/>
              </a:rPr>
              <a:t>MAE 0.0128</a:t>
            </a:r>
            <a:endParaRPr lang="en-US" sz="1050" dirty="0"/>
          </a:p>
          <a:p>
            <a:pPr indent="0" marL="0">
              <a:lnSpc>
                <a:spcPct val="112000"/>
              </a:lnSpc>
              <a:buNone/>
            </a:pPr>
            <a:r>
              <a:rPr lang="en-US" sz="1050" dirty="0">
                <a:solidFill>
                  <a:srgbClr val="24313F"/>
                </a:solidFill>
                <a:latin typeface="Calibri" pitchFamily="34" charset="0"/>
                <a:ea typeface="Calibri" pitchFamily="34" charset="-122"/>
                <a:cs typeface="Calibri" pitchFamily="34" charset="-120"/>
              </a:rPr>
              <a:t>RMSE 0.0196</a:t>
            </a:r>
            <a:endParaRPr lang="en-US" sz="1050" dirty="0"/>
          </a:p>
          <a:p>
            <a:pPr indent="0" marL="0">
              <a:lnSpc>
                <a:spcPct val="112000"/>
              </a:lnSpc>
              <a:buNone/>
            </a:pPr>
            <a:r>
              <a:rPr lang="en-US" sz="1050" dirty="0">
                <a:solidFill>
                  <a:srgbClr val="24313F"/>
                </a:solidFill>
                <a:latin typeface="Calibri" pitchFamily="34" charset="0"/>
                <a:ea typeface="Calibri" pitchFamily="34" charset="-122"/>
                <a:cs typeface="Calibri" pitchFamily="34" charset="-120"/>
              </a:rPr>
              <a:t>R² 1.0000</a:t>
            </a:r>
            <a:endParaRPr lang="en-US" sz="1050" dirty="0"/>
          </a:p>
        </p:txBody>
      </p:sp>
      <p:sp>
        <p:nvSpPr>
          <p:cNvPr id="10" name="Shape 8"/>
          <p:cNvSpPr/>
          <p:nvPr/>
        </p:nvSpPr>
        <p:spPr>
          <a:xfrm>
            <a:off x="2432304" y="1417320"/>
            <a:ext cx="1764792" cy="896112"/>
          </a:xfrm>
          <a:prstGeom prst="roundRect">
            <a:avLst>
              <a:gd name="adj" fmla="val 8163"/>
            </a:avLst>
          </a:prstGeom>
          <a:solidFill>
            <a:srgbClr val="D5E8F8"/>
          </a:solidFill>
          <a:ln w="9525">
            <a:solidFill>
              <a:srgbClr val="C9DDF0"/>
            </a:solidFill>
            <a:prstDash val="solid"/>
          </a:ln>
        </p:spPr>
      </p:sp>
      <p:sp>
        <p:nvSpPr>
          <p:cNvPr id="11" name="Text 9"/>
          <p:cNvSpPr/>
          <p:nvPr/>
        </p:nvSpPr>
        <p:spPr>
          <a:xfrm>
            <a:off x="2542032" y="1490472"/>
            <a:ext cx="1545336" cy="237744"/>
          </a:xfrm>
          <a:prstGeom prst="rect">
            <a:avLst/>
          </a:prstGeom>
          <a:noFill/>
          <a:ln/>
        </p:spPr>
        <p:txBody>
          <a:bodyPr wrap="square" rtlCol="0" anchor="ctr"/>
          <a:lstStyle/>
          <a:p>
            <a:pPr indent="0" marL="0">
              <a:buNone/>
            </a:pPr>
            <a:r>
              <a:rPr lang="en-US" sz="1150" b="1" dirty="0">
                <a:solidFill>
                  <a:srgbClr val="1F4E79"/>
                </a:solidFill>
                <a:latin typeface="Calibri" pitchFamily="34" charset="0"/>
                <a:ea typeface="Calibri" pitchFamily="34" charset="-122"/>
                <a:cs typeface="Calibri" pitchFamily="34" charset="-120"/>
              </a:rPr>
              <a:t>CD — Train</a:t>
            </a:r>
            <a:endParaRPr lang="en-US" sz="1150" dirty="0"/>
          </a:p>
        </p:txBody>
      </p:sp>
      <p:sp>
        <p:nvSpPr>
          <p:cNvPr id="12" name="Text 10"/>
          <p:cNvSpPr/>
          <p:nvPr/>
        </p:nvSpPr>
        <p:spPr>
          <a:xfrm>
            <a:off x="2542032" y="1728216"/>
            <a:ext cx="1545336" cy="512064"/>
          </a:xfrm>
          <a:prstGeom prst="rect">
            <a:avLst/>
          </a:prstGeom>
          <a:noFill/>
          <a:ln/>
        </p:spPr>
        <p:txBody>
          <a:bodyPr wrap="square" rtlCol="0" anchor="t"/>
          <a:lstStyle/>
          <a:p>
            <a:pPr indent="0" marL="0">
              <a:lnSpc>
                <a:spcPct val="112000"/>
              </a:lnSpc>
              <a:buNone/>
            </a:pPr>
            <a:r>
              <a:rPr lang="en-US" sz="1050" dirty="0">
                <a:solidFill>
                  <a:srgbClr val="24313F"/>
                </a:solidFill>
                <a:latin typeface="Calibri" pitchFamily="34" charset="0"/>
                <a:ea typeface="Calibri" pitchFamily="34" charset="-122"/>
                <a:cs typeface="Calibri" pitchFamily="34" charset="-120"/>
              </a:rPr>
              <a:t>MAE 0.0044</a:t>
            </a:r>
            <a:endParaRPr lang="en-US" sz="1050" dirty="0"/>
          </a:p>
          <a:p>
            <a:pPr indent="0" marL="0">
              <a:lnSpc>
                <a:spcPct val="112000"/>
              </a:lnSpc>
              <a:buNone/>
            </a:pPr>
            <a:r>
              <a:rPr lang="en-US" sz="1050" dirty="0">
                <a:solidFill>
                  <a:srgbClr val="24313F"/>
                </a:solidFill>
                <a:latin typeface="Calibri" pitchFamily="34" charset="0"/>
                <a:ea typeface="Calibri" pitchFamily="34" charset="-122"/>
                <a:cs typeface="Calibri" pitchFamily="34" charset="-120"/>
              </a:rPr>
              <a:t>RMSE 0.0072</a:t>
            </a:r>
            <a:endParaRPr lang="en-US" sz="1050" dirty="0"/>
          </a:p>
          <a:p>
            <a:pPr indent="0" marL="0">
              <a:lnSpc>
                <a:spcPct val="112000"/>
              </a:lnSpc>
              <a:buNone/>
            </a:pPr>
            <a:r>
              <a:rPr lang="en-US" sz="1050" dirty="0">
                <a:solidFill>
                  <a:srgbClr val="24313F"/>
                </a:solidFill>
                <a:latin typeface="Calibri" pitchFamily="34" charset="0"/>
                <a:ea typeface="Calibri" pitchFamily="34" charset="-122"/>
                <a:cs typeface="Calibri" pitchFamily="34" charset="-120"/>
              </a:rPr>
              <a:t>R² 1.0000</a:t>
            </a:r>
            <a:endParaRPr lang="en-US" sz="1050" dirty="0"/>
          </a:p>
        </p:txBody>
      </p:sp>
      <p:sp>
        <p:nvSpPr>
          <p:cNvPr id="13" name="Shape 11"/>
          <p:cNvSpPr/>
          <p:nvPr/>
        </p:nvSpPr>
        <p:spPr>
          <a:xfrm>
            <a:off x="4315968" y="1417320"/>
            <a:ext cx="1764792" cy="896112"/>
          </a:xfrm>
          <a:prstGeom prst="roundRect">
            <a:avLst>
              <a:gd name="adj" fmla="val 8163"/>
            </a:avLst>
          </a:prstGeom>
          <a:solidFill>
            <a:srgbClr val="D5E8F8"/>
          </a:solidFill>
          <a:ln w="9525">
            <a:solidFill>
              <a:srgbClr val="C9DDF0"/>
            </a:solidFill>
            <a:prstDash val="solid"/>
          </a:ln>
        </p:spPr>
      </p:sp>
      <p:sp>
        <p:nvSpPr>
          <p:cNvPr id="14" name="Text 12"/>
          <p:cNvSpPr/>
          <p:nvPr/>
        </p:nvSpPr>
        <p:spPr>
          <a:xfrm>
            <a:off x="4425696" y="1490472"/>
            <a:ext cx="1545336" cy="237744"/>
          </a:xfrm>
          <a:prstGeom prst="rect">
            <a:avLst/>
          </a:prstGeom>
          <a:noFill/>
          <a:ln/>
        </p:spPr>
        <p:txBody>
          <a:bodyPr wrap="square" rtlCol="0" anchor="ctr"/>
          <a:lstStyle/>
          <a:p>
            <a:pPr indent="0" marL="0">
              <a:buNone/>
            </a:pPr>
            <a:r>
              <a:rPr lang="en-US" sz="1150" b="1" dirty="0">
                <a:solidFill>
                  <a:srgbClr val="1F4E79"/>
                </a:solidFill>
                <a:latin typeface="Calibri" pitchFamily="34" charset="0"/>
                <a:ea typeface="Calibri" pitchFamily="34" charset="-122"/>
                <a:cs typeface="Calibri" pitchFamily="34" charset="-120"/>
              </a:rPr>
              <a:t>XCP — Train</a:t>
            </a:r>
            <a:endParaRPr lang="en-US" sz="1150" dirty="0"/>
          </a:p>
        </p:txBody>
      </p:sp>
      <p:sp>
        <p:nvSpPr>
          <p:cNvPr id="15" name="Text 13"/>
          <p:cNvSpPr/>
          <p:nvPr/>
        </p:nvSpPr>
        <p:spPr>
          <a:xfrm>
            <a:off x="4425696" y="1728216"/>
            <a:ext cx="1545336" cy="512064"/>
          </a:xfrm>
          <a:prstGeom prst="rect">
            <a:avLst/>
          </a:prstGeom>
          <a:noFill/>
          <a:ln/>
        </p:spPr>
        <p:txBody>
          <a:bodyPr wrap="square" rtlCol="0" anchor="t"/>
          <a:lstStyle/>
          <a:p>
            <a:pPr indent="0" marL="0">
              <a:lnSpc>
                <a:spcPct val="112000"/>
              </a:lnSpc>
              <a:buNone/>
            </a:pPr>
            <a:r>
              <a:rPr lang="en-US" sz="1050" dirty="0">
                <a:solidFill>
                  <a:srgbClr val="24313F"/>
                </a:solidFill>
                <a:latin typeface="Calibri" pitchFamily="34" charset="0"/>
                <a:ea typeface="Calibri" pitchFamily="34" charset="-122"/>
                <a:cs typeface="Calibri" pitchFamily="34" charset="-120"/>
              </a:rPr>
              <a:t>MAE 0.0013</a:t>
            </a:r>
            <a:endParaRPr lang="en-US" sz="1050" dirty="0"/>
          </a:p>
          <a:p>
            <a:pPr indent="0" marL="0">
              <a:lnSpc>
                <a:spcPct val="112000"/>
              </a:lnSpc>
              <a:buNone/>
            </a:pPr>
            <a:r>
              <a:rPr lang="en-US" sz="1050" dirty="0">
                <a:solidFill>
                  <a:srgbClr val="24313F"/>
                </a:solidFill>
                <a:latin typeface="Calibri" pitchFamily="34" charset="0"/>
                <a:ea typeface="Calibri" pitchFamily="34" charset="-122"/>
                <a:cs typeface="Calibri" pitchFamily="34" charset="-120"/>
              </a:rPr>
              <a:t>RMSE 0.0022</a:t>
            </a:r>
            <a:endParaRPr lang="en-US" sz="1050" dirty="0"/>
          </a:p>
          <a:p>
            <a:pPr indent="0" marL="0">
              <a:lnSpc>
                <a:spcPct val="112000"/>
              </a:lnSpc>
              <a:buNone/>
            </a:pPr>
            <a:r>
              <a:rPr lang="en-US" sz="1050" dirty="0">
                <a:solidFill>
                  <a:srgbClr val="24313F"/>
                </a:solidFill>
                <a:latin typeface="Calibri" pitchFamily="34" charset="0"/>
                <a:ea typeface="Calibri" pitchFamily="34" charset="-122"/>
                <a:cs typeface="Calibri" pitchFamily="34" charset="-120"/>
              </a:rPr>
              <a:t>R² 1.0000</a:t>
            </a:r>
            <a:endParaRPr lang="en-US" sz="1050" dirty="0"/>
          </a:p>
        </p:txBody>
      </p:sp>
      <p:sp>
        <p:nvSpPr>
          <p:cNvPr id="16" name="Shape 14"/>
          <p:cNvSpPr/>
          <p:nvPr/>
        </p:nvSpPr>
        <p:spPr>
          <a:xfrm>
            <a:off x="6199632" y="1417320"/>
            <a:ext cx="1764792" cy="896112"/>
          </a:xfrm>
          <a:prstGeom prst="roundRect">
            <a:avLst>
              <a:gd name="adj" fmla="val 8163"/>
            </a:avLst>
          </a:prstGeom>
          <a:solidFill>
            <a:srgbClr val="D5E8F8"/>
          </a:solidFill>
          <a:ln w="9525">
            <a:solidFill>
              <a:srgbClr val="C9DDF0"/>
            </a:solidFill>
            <a:prstDash val="solid"/>
          </a:ln>
        </p:spPr>
      </p:sp>
      <p:sp>
        <p:nvSpPr>
          <p:cNvPr id="17" name="Text 15"/>
          <p:cNvSpPr/>
          <p:nvPr/>
        </p:nvSpPr>
        <p:spPr>
          <a:xfrm>
            <a:off x="6309360" y="1490472"/>
            <a:ext cx="1545336" cy="237744"/>
          </a:xfrm>
          <a:prstGeom prst="rect">
            <a:avLst/>
          </a:prstGeom>
          <a:noFill/>
          <a:ln/>
        </p:spPr>
        <p:txBody>
          <a:bodyPr wrap="square" rtlCol="0" anchor="ctr"/>
          <a:lstStyle/>
          <a:p>
            <a:pPr indent="0" marL="0">
              <a:buNone/>
            </a:pPr>
            <a:r>
              <a:rPr lang="en-US" sz="1150" b="1" dirty="0">
                <a:solidFill>
                  <a:srgbClr val="1F4E79"/>
                </a:solidFill>
                <a:latin typeface="Calibri" pitchFamily="34" charset="0"/>
                <a:ea typeface="Calibri" pitchFamily="34" charset="-122"/>
                <a:cs typeface="Calibri" pitchFamily="34" charset="-120"/>
              </a:rPr>
              <a:t>CL — Test</a:t>
            </a:r>
            <a:endParaRPr lang="en-US" sz="1150" dirty="0"/>
          </a:p>
        </p:txBody>
      </p:sp>
      <p:sp>
        <p:nvSpPr>
          <p:cNvPr id="18" name="Text 16"/>
          <p:cNvSpPr/>
          <p:nvPr/>
        </p:nvSpPr>
        <p:spPr>
          <a:xfrm>
            <a:off x="6309360" y="1728216"/>
            <a:ext cx="1545336" cy="512064"/>
          </a:xfrm>
          <a:prstGeom prst="rect">
            <a:avLst/>
          </a:prstGeom>
          <a:noFill/>
          <a:ln/>
        </p:spPr>
        <p:txBody>
          <a:bodyPr wrap="square" rtlCol="0" anchor="t"/>
          <a:lstStyle/>
          <a:p>
            <a:pPr indent="0" marL="0">
              <a:lnSpc>
                <a:spcPct val="112000"/>
              </a:lnSpc>
              <a:buNone/>
            </a:pPr>
            <a:r>
              <a:rPr lang="en-US" sz="1050" dirty="0">
                <a:solidFill>
                  <a:srgbClr val="24313F"/>
                </a:solidFill>
                <a:latin typeface="Calibri" pitchFamily="34" charset="0"/>
                <a:ea typeface="Calibri" pitchFamily="34" charset="-122"/>
                <a:cs typeface="Calibri" pitchFamily="34" charset="-120"/>
              </a:rPr>
              <a:t>MAE 0.0247</a:t>
            </a:r>
            <a:endParaRPr lang="en-US" sz="1050" dirty="0"/>
          </a:p>
          <a:p>
            <a:pPr indent="0" marL="0">
              <a:lnSpc>
                <a:spcPct val="112000"/>
              </a:lnSpc>
              <a:buNone/>
            </a:pPr>
            <a:r>
              <a:rPr lang="en-US" sz="1050" dirty="0">
                <a:solidFill>
                  <a:srgbClr val="24313F"/>
                </a:solidFill>
                <a:latin typeface="Calibri" pitchFamily="34" charset="0"/>
                <a:ea typeface="Calibri" pitchFamily="34" charset="-122"/>
                <a:cs typeface="Calibri" pitchFamily="34" charset="-120"/>
              </a:rPr>
              <a:t>RMSE 0.0438</a:t>
            </a:r>
            <a:endParaRPr lang="en-US" sz="1050" dirty="0"/>
          </a:p>
          <a:p>
            <a:pPr indent="0" marL="0">
              <a:lnSpc>
                <a:spcPct val="112000"/>
              </a:lnSpc>
              <a:buNone/>
            </a:pPr>
            <a:r>
              <a:rPr lang="en-US" sz="1050" dirty="0">
                <a:solidFill>
                  <a:srgbClr val="24313F"/>
                </a:solidFill>
                <a:latin typeface="Calibri" pitchFamily="34" charset="0"/>
                <a:ea typeface="Calibri" pitchFamily="34" charset="-122"/>
                <a:cs typeface="Calibri" pitchFamily="34" charset="-120"/>
              </a:rPr>
              <a:t>R² 0.9998</a:t>
            </a:r>
            <a:endParaRPr lang="en-US" sz="1050" dirty="0"/>
          </a:p>
        </p:txBody>
      </p:sp>
      <p:sp>
        <p:nvSpPr>
          <p:cNvPr id="19" name="Shape 17"/>
          <p:cNvSpPr/>
          <p:nvPr/>
        </p:nvSpPr>
        <p:spPr>
          <a:xfrm>
            <a:off x="8083296" y="1417320"/>
            <a:ext cx="1764792" cy="896112"/>
          </a:xfrm>
          <a:prstGeom prst="roundRect">
            <a:avLst>
              <a:gd name="adj" fmla="val 8163"/>
            </a:avLst>
          </a:prstGeom>
          <a:solidFill>
            <a:srgbClr val="D5E8F8"/>
          </a:solidFill>
          <a:ln w="9525">
            <a:solidFill>
              <a:srgbClr val="C9DDF0"/>
            </a:solidFill>
            <a:prstDash val="solid"/>
          </a:ln>
        </p:spPr>
      </p:sp>
      <p:sp>
        <p:nvSpPr>
          <p:cNvPr id="20" name="Text 18"/>
          <p:cNvSpPr/>
          <p:nvPr/>
        </p:nvSpPr>
        <p:spPr>
          <a:xfrm>
            <a:off x="8193024" y="1490472"/>
            <a:ext cx="1545336" cy="237744"/>
          </a:xfrm>
          <a:prstGeom prst="rect">
            <a:avLst/>
          </a:prstGeom>
          <a:noFill/>
          <a:ln/>
        </p:spPr>
        <p:txBody>
          <a:bodyPr wrap="square" rtlCol="0" anchor="ctr"/>
          <a:lstStyle/>
          <a:p>
            <a:pPr indent="0" marL="0">
              <a:buNone/>
            </a:pPr>
            <a:r>
              <a:rPr lang="en-US" sz="1150" b="1" dirty="0">
                <a:solidFill>
                  <a:srgbClr val="1F4E79"/>
                </a:solidFill>
                <a:latin typeface="Calibri" pitchFamily="34" charset="0"/>
                <a:ea typeface="Calibri" pitchFamily="34" charset="-122"/>
                <a:cs typeface="Calibri" pitchFamily="34" charset="-120"/>
              </a:rPr>
              <a:t>CD — Test</a:t>
            </a:r>
            <a:endParaRPr lang="en-US" sz="1150" dirty="0"/>
          </a:p>
        </p:txBody>
      </p:sp>
      <p:sp>
        <p:nvSpPr>
          <p:cNvPr id="21" name="Text 19"/>
          <p:cNvSpPr/>
          <p:nvPr/>
        </p:nvSpPr>
        <p:spPr>
          <a:xfrm>
            <a:off x="8193024" y="1728216"/>
            <a:ext cx="1545336" cy="512064"/>
          </a:xfrm>
          <a:prstGeom prst="rect">
            <a:avLst/>
          </a:prstGeom>
          <a:noFill/>
          <a:ln/>
        </p:spPr>
        <p:txBody>
          <a:bodyPr wrap="square" rtlCol="0" anchor="t"/>
          <a:lstStyle/>
          <a:p>
            <a:pPr indent="0" marL="0">
              <a:lnSpc>
                <a:spcPct val="112000"/>
              </a:lnSpc>
              <a:buNone/>
            </a:pPr>
            <a:r>
              <a:rPr lang="en-US" sz="1050" dirty="0">
                <a:solidFill>
                  <a:srgbClr val="24313F"/>
                </a:solidFill>
                <a:latin typeface="Calibri" pitchFamily="34" charset="0"/>
                <a:ea typeface="Calibri" pitchFamily="34" charset="-122"/>
                <a:cs typeface="Calibri" pitchFamily="34" charset="-120"/>
              </a:rPr>
              <a:t>MAE 0.0087</a:t>
            </a:r>
            <a:endParaRPr lang="en-US" sz="1050" dirty="0"/>
          </a:p>
          <a:p>
            <a:pPr indent="0" marL="0">
              <a:lnSpc>
                <a:spcPct val="112000"/>
              </a:lnSpc>
              <a:buNone/>
            </a:pPr>
            <a:r>
              <a:rPr lang="en-US" sz="1050" dirty="0">
                <a:solidFill>
                  <a:srgbClr val="24313F"/>
                </a:solidFill>
                <a:latin typeface="Calibri" pitchFamily="34" charset="0"/>
                <a:ea typeface="Calibri" pitchFamily="34" charset="-122"/>
                <a:cs typeface="Calibri" pitchFamily="34" charset="-120"/>
              </a:rPr>
              <a:t>RMSE 0.0174</a:t>
            </a:r>
            <a:endParaRPr lang="en-US" sz="1050" dirty="0"/>
          </a:p>
          <a:p>
            <a:pPr indent="0" marL="0">
              <a:lnSpc>
                <a:spcPct val="112000"/>
              </a:lnSpc>
              <a:buNone/>
            </a:pPr>
            <a:r>
              <a:rPr lang="en-US" sz="1050" dirty="0">
                <a:solidFill>
                  <a:srgbClr val="24313F"/>
                </a:solidFill>
                <a:latin typeface="Calibri" pitchFamily="34" charset="0"/>
                <a:ea typeface="Calibri" pitchFamily="34" charset="-122"/>
                <a:cs typeface="Calibri" pitchFamily="34" charset="-120"/>
              </a:rPr>
              <a:t>R² 0.9998</a:t>
            </a:r>
            <a:endParaRPr lang="en-US" sz="1050" dirty="0"/>
          </a:p>
        </p:txBody>
      </p:sp>
      <p:sp>
        <p:nvSpPr>
          <p:cNvPr id="22" name="Shape 20"/>
          <p:cNvSpPr/>
          <p:nvPr/>
        </p:nvSpPr>
        <p:spPr>
          <a:xfrm>
            <a:off x="9966960" y="1417320"/>
            <a:ext cx="1764792" cy="896112"/>
          </a:xfrm>
          <a:prstGeom prst="roundRect">
            <a:avLst>
              <a:gd name="adj" fmla="val 8163"/>
            </a:avLst>
          </a:prstGeom>
          <a:solidFill>
            <a:srgbClr val="D5E8F8"/>
          </a:solidFill>
          <a:ln w="9525">
            <a:solidFill>
              <a:srgbClr val="C9DDF0"/>
            </a:solidFill>
            <a:prstDash val="solid"/>
          </a:ln>
        </p:spPr>
      </p:sp>
      <p:sp>
        <p:nvSpPr>
          <p:cNvPr id="23" name="Text 21"/>
          <p:cNvSpPr/>
          <p:nvPr/>
        </p:nvSpPr>
        <p:spPr>
          <a:xfrm>
            <a:off x="10076688" y="1490472"/>
            <a:ext cx="1545336" cy="237744"/>
          </a:xfrm>
          <a:prstGeom prst="rect">
            <a:avLst/>
          </a:prstGeom>
          <a:noFill/>
          <a:ln/>
        </p:spPr>
        <p:txBody>
          <a:bodyPr wrap="square" rtlCol="0" anchor="ctr"/>
          <a:lstStyle/>
          <a:p>
            <a:pPr indent="0" marL="0">
              <a:buNone/>
            </a:pPr>
            <a:r>
              <a:rPr lang="en-US" sz="1150" b="1" dirty="0">
                <a:solidFill>
                  <a:srgbClr val="1F4E79"/>
                </a:solidFill>
                <a:latin typeface="Calibri" pitchFamily="34" charset="0"/>
                <a:ea typeface="Calibri" pitchFamily="34" charset="-122"/>
                <a:cs typeface="Calibri" pitchFamily="34" charset="-120"/>
              </a:rPr>
              <a:t>XCP — Test</a:t>
            </a:r>
            <a:endParaRPr lang="en-US" sz="1150" dirty="0"/>
          </a:p>
        </p:txBody>
      </p:sp>
      <p:sp>
        <p:nvSpPr>
          <p:cNvPr id="24" name="Text 22"/>
          <p:cNvSpPr/>
          <p:nvPr/>
        </p:nvSpPr>
        <p:spPr>
          <a:xfrm>
            <a:off x="10076688" y="1728216"/>
            <a:ext cx="1545336" cy="512064"/>
          </a:xfrm>
          <a:prstGeom prst="rect">
            <a:avLst/>
          </a:prstGeom>
          <a:noFill/>
          <a:ln/>
        </p:spPr>
        <p:txBody>
          <a:bodyPr wrap="square" rtlCol="0" anchor="t"/>
          <a:lstStyle/>
          <a:p>
            <a:pPr indent="0" marL="0">
              <a:lnSpc>
                <a:spcPct val="112000"/>
              </a:lnSpc>
              <a:buNone/>
            </a:pPr>
            <a:r>
              <a:rPr lang="en-US" sz="1050" dirty="0">
                <a:solidFill>
                  <a:srgbClr val="24313F"/>
                </a:solidFill>
                <a:latin typeface="Calibri" pitchFamily="34" charset="0"/>
                <a:ea typeface="Calibri" pitchFamily="34" charset="-122"/>
                <a:cs typeface="Calibri" pitchFamily="34" charset="-120"/>
              </a:rPr>
              <a:t>MAE 0.0021</a:t>
            </a:r>
            <a:endParaRPr lang="en-US" sz="1050" dirty="0"/>
          </a:p>
          <a:p>
            <a:pPr indent="0" marL="0">
              <a:lnSpc>
                <a:spcPct val="112000"/>
              </a:lnSpc>
              <a:buNone/>
            </a:pPr>
            <a:r>
              <a:rPr lang="en-US" sz="1050" dirty="0">
                <a:solidFill>
                  <a:srgbClr val="24313F"/>
                </a:solidFill>
                <a:latin typeface="Calibri" pitchFamily="34" charset="0"/>
                <a:ea typeface="Calibri" pitchFamily="34" charset="-122"/>
                <a:cs typeface="Calibri" pitchFamily="34" charset="-120"/>
              </a:rPr>
              <a:t>RMSE 0.0040</a:t>
            </a:r>
            <a:endParaRPr lang="en-US" sz="1050" dirty="0"/>
          </a:p>
          <a:p>
            <a:pPr indent="0" marL="0">
              <a:lnSpc>
                <a:spcPct val="112000"/>
              </a:lnSpc>
              <a:buNone/>
            </a:pPr>
            <a:r>
              <a:rPr lang="en-US" sz="1050" dirty="0">
                <a:solidFill>
                  <a:srgbClr val="24313F"/>
                </a:solidFill>
                <a:latin typeface="Calibri" pitchFamily="34" charset="0"/>
                <a:ea typeface="Calibri" pitchFamily="34" charset="-122"/>
                <a:cs typeface="Calibri" pitchFamily="34" charset="-120"/>
              </a:rPr>
              <a:t>R² 1.0000</a:t>
            </a:r>
            <a:endParaRPr lang="en-US" sz="1050" dirty="0"/>
          </a:p>
        </p:txBody>
      </p:sp>
      <p:sp>
        <p:nvSpPr>
          <p:cNvPr id="25" name="Shape 23"/>
          <p:cNvSpPr/>
          <p:nvPr/>
        </p:nvSpPr>
        <p:spPr>
          <a:xfrm>
            <a:off x="1463040" y="2606040"/>
            <a:ext cx="4480560" cy="3886200"/>
          </a:xfrm>
          <a:prstGeom prst="roundRect">
            <a:avLst>
              <a:gd name="adj" fmla="val 1882"/>
            </a:avLst>
          </a:prstGeom>
          <a:solidFill>
            <a:srgbClr val="FFFFFF"/>
          </a:solidFill>
          <a:ln w="12700">
            <a:solidFill>
              <a:srgbClr val="C9DDF0"/>
            </a:solidFill>
            <a:prstDash val="solid"/>
          </a:ln>
          <a:effectLst>
            <a:outerShdw sx="100000" sy="100000" kx="0" ky="0" algn="bl" rotWithShape="0" blurRad="76200" dist="25400" dir="5400000">
              <a:srgbClr val="9CB7CC">
                <a:alpha val="30000"/>
              </a:srgbClr>
            </a:outerShdw>
          </a:effectLst>
        </p:spPr>
      </p:sp>
      <p:pic>
        <p:nvPicPr>
          <p:cNvPr id="26" name="Image 0" descr="/home/claude/ppt/assets/image16_clean.png">    </p:cNvPr>
          <p:cNvPicPr>
            <a:picLocks noChangeAspect="1"/>
          </p:cNvPicPr>
          <p:nvPr/>
        </p:nvPicPr>
        <p:blipFill>
          <a:blip r:embed="rId1"/>
          <a:stretch>
            <a:fillRect/>
          </a:stretch>
        </p:blipFill>
        <p:spPr>
          <a:xfrm>
            <a:off x="1931460" y="2715768"/>
            <a:ext cx="3543720" cy="3374136"/>
          </a:xfrm>
          <a:prstGeom prst="rect">
            <a:avLst/>
          </a:prstGeom>
        </p:spPr>
      </p:pic>
      <p:sp>
        <p:nvSpPr>
          <p:cNvPr id="27" name="Text 24"/>
          <p:cNvSpPr/>
          <p:nvPr/>
        </p:nvSpPr>
        <p:spPr>
          <a:xfrm>
            <a:off x="1572768" y="6163056"/>
            <a:ext cx="4261104" cy="292608"/>
          </a:xfrm>
          <a:prstGeom prst="rect">
            <a:avLst/>
          </a:prstGeom>
          <a:noFill/>
          <a:ln/>
        </p:spPr>
        <p:txBody>
          <a:bodyPr wrap="square" rtlCol="0" anchor="t"/>
          <a:lstStyle/>
          <a:p>
            <a:pPr algn="ctr" indent="0" marL="0">
              <a:buNone/>
            </a:pPr>
            <a:r>
              <a:rPr lang="en-US" sz="1050" i="1" dirty="0">
                <a:solidFill>
                  <a:srgbClr val="5B7385"/>
                </a:solidFill>
                <a:latin typeface="Calibri" pitchFamily="34" charset="0"/>
                <a:ea typeface="Calibri" pitchFamily="34" charset="-122"/>
                <a:cs typeface="Calibri" pitchFamily="34" charset="-120"/>
              </a:rPr>
              <a:t>CL: Actual vs. Predicted (Ensemble)</a:t>
            </a:r>
            <a:endParaRPr lang="en-US" sz="1050" dirty="0"/>
          </a:p>
        </p:txBody>
      </p:sp>
      <p:sp>
        <p:nvSpPr>
          <p:cNvPr id="28" name="Shape 25"/>
          <p:cNvSpPr/>
          <p:nvPr/>
        </p:nvSpPr>
        <p:spPr>
          <a:xfrm>
            <a:off x="6263640" y="2606040"/>
            <a:ext cx="4480560" cy="3886200"/>
          </a:xfrm>
          <a:prstGeom prst="roundRect">
            <a:avLst>
              <a:gd name="adj" fmla="val 1882"/>
            </a:avLst>
          </a:prstGeom>
          <a:solidFill>
            <a:srgbClr val="FFFFFF"/>
          </a:solidFill>
          <a:ln w="12700">
            <a:solidFill>
              <a:srgbClr val="C9DDF0"/>
            </a:solidFill>
            <a:prstDash val="solid"/>
          </a:ln>
          <a:effectLst>
            <a:outerShdw sx="100000" sy="100000" kx="0" ky="0" algn="bl" rotWithShape="0" blurRad="76200" dist="25400" dir="5400000">
              <a:srgbClr val="9CB7CC">
                <a:alpha val="30000"/>
              </a:srgbClr>
            </a:outerShdw>
          </a:effectLst>
        </p:spPr>
      </p:sp>
      <p:pic>
        <p:nvPicPr>
          <p:cNvPr id="29" name="Image 1" descr="/home/claude/ppt/assets/image18_clean.png">    </p:cNvPr>
          <p:cNvPicPr>
            <a:picLocks noChangeAspect="1"/>
          </p:cNvPicPr>
          <p:nvPr/>
        </p:nvPicPr>
        <p:blipFill>
          <a:blip r:embed="rId2"/>
          <a:stretch>
            <a:fillRect/>
          </a:stretch>
        </p:blipFill>
        <p:spPr>
          <a:xfrm>
            <a:off x="6744008" y="2715768"/>
            <a:ext cx="3519824" cy="3374136"/>
          </a:xfrm>
          <a:prstGeom prst="rect">
            <a:avLst/>
          </a:prstGeom>
        </p:spPr>
      </p:pic>
      <p:sp>
        <p:nvSpPr>
          <p:cNvPr id="30" name="Text 26"/>
          <p:cNvSpPr/>
          <p:nvPr/>
        </p:nvSpPr>
        <p:spPr>
          <a:xfrm>
            <a:off x="6373368" y="6163056"/>
            <a:ext cx="4261104" cy="292608"/>
          </a:xfrm>
          <a:prstGeom prst="rect">
            <a:avLst/>
          </a:prstGeom>
          <a:noFill/>
          <a:ln/>
        </p:spPr>
        <p:txBody>
          <a:bodyPr wrap="square" rtlCol="0" anchor="t"/>
          <a:lstStyle/>
          <a:p>
            <a:pPr algn="ctr" indent="0" marL="0">
              <a:buNone/>
            </a:pPr>
            <a:r>
              <a:rPr lang="en-US" sz="1050" i="1" dirty="0">
                <a:solidFill>
                  <a:srgbClr val="5B7385"/>
                </a:solidFill>
                <a:latin typeface="Calibri" pitchFamily="34" charset="0"/>
                <a:ea typeface="Calibri" pitchFamily="34" charset="-122"/>
                <a:cs typeface="Calibri" pitchFamily="34" charset="-120"/>
              </a:rPr>
              <a:t>X-C.P.: Actual vs. Predicted (Ensemble)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601200" cy="274320"/>
          </a:xfrm>
          <a:prstGeom prst="rect">
            <a:avLst/>
          </a:prstGeom>
          <a:noFill/>
          <a:ln/>
        </p:spPr>
        <p:txBody>
          <a:bodyPr wrap="square" rtlCol="0" anchor="ctr"/>
          <a:lstStyle/>
          <a:p>
            <a:pPr indent="0" marL="0">
              <a:buNone/>
            </a:pPr>
            <a:r>
              <a:rPr lang="en-US" sz="1150" b="1" spc="200" kern="0" dirty="0">
                <a:solidFill>
                  <a:srgbClr val="2E75B6"/>
                </a:solidFill>
                <a:latin typeface="Calibri" pitchFamily="34" charset="0"/>
                <a:ea typeface="Calibri" pitchFamily="34" charset="-122"/>
                <a:cs typeface="Calibri" pitchFamily="34" charset="-120"/>
              </a:rPr>
              <a:t>VALIDATION</a:t>
            </a:r>
            <a:endParaRPr lang="en-US" sz="1150" dirty="0"/>
          </a:p>
        </p:txBody>
      </p:sp>
      <p:sp>
        <p:nvSpPr>
          <p:cNvPr id="3" name="Text 1"/>
          <p:cNvSpPr/>
          <p:nvPr/>
        </p:nvSpPr>
        <p:spPr>
          <a:xfrm>
            <a:off x="548640" y="566928"/>
            <a:ext cx="10424160" cy="566928"/>
          </a:xfrm>
          <a:prstGeom prst="rect">
            <a:avLst/>
          </a:prstGeom>
          <a:noFill/>
          <a:ln/>
        </p:spPr>
        <p:txBody>
          <a:bodyPr wrap="square" rtlCol="0" anchor="ctr"/>
          <a:lstStyle/>
          <a:p>
            <a:pPr indent="0" marL="0">
              <a:buNone/>
            </a:pPr>
            <a:r>
              <a:rPr lang="en-US" sz="2600" b="1" dirty="0">
                <a:solidFill>
                  <a:srgbClr val="1F4E79"/>
                </a:solidFill>
                <a:latin typeface="Cambria" pitchFamily="34" charset="0"/>
                <a:ea typeface="Cambria" pitchFamily="34" charset="-122"/>
                <a:cs typeface="Cambria" pitchFamily="34" charset="-120"/>
              </a:rPr>
              <a:t>Model Validation — CL/CD vs. Angle of Attack (α)</a:t>
            </a:r>
            <a:endParaRPr lang="en-US" sz="2600" dirty="0"/>
          </a:p>
        </p:txBody>
      </p:sp>
      <p:sp>
        <p:nvSpPr>
          <p:cNvPr id="4" name="Shape 2"/>
          <p:cNvSpPr/>
          <p:nvPr/>
        </p:nvSpPr>
        <p:spPr>
          <a:xfrm>
            <a:off x="11475720" y="384048"/>
            <a:ext cx="420624" cy="420624"/>
          </a:xfrm>
          <a:prstGeom prst="ellipse">
            <a:avLst/>
          </a:prstGeom>
          <a:solidFill>
            <a:srgbClr val="DDEBF8"/>
          </a:solidFill>
          <a:ln/>
        </p:spPr>
      </p:sp>
      <p:sp>
        <p:nvSpPr>
          <p:cNvPr id="5" name="Text 3"/>
          <p:cNvSpPr/>
          <p:nvPr/>
        </p:nvSpPr>
        <p:spPr>
          <a:xfrm>
            <a:off x="11475720" y="384048"/>
            <a:ext cx="420624" cy="420624"/>
          </a:xfrm>
          <a:prstGeom prst="rect">
            <a:avLst/>
          </a:prstGeom>
          <a:noFill/>
          <a:ln/>
        </p:spPr>
        <p:txBody>
          <a:bodyPr wrap="square" rtlCol="0" anchor="ctr"/>
          <a:lstStyle/>
          <a:p>
            <a:pPr algn="ctr" indent="0" marL="0">
              <a:buNone/>
            </a:pPr>
            <a:r>
              <a:rPr lang="en-US" sz="1200" b="1" dirty="0">
                <a:solidFill>
                  <a:srgbClr val="1F4E79"/>
                </a:solidFill>
                <a:latin typeface="Calibri" pitchFamily="34" charset="0"/>
                <a:ea typeface="Calibri" pitchFamily="34" charset="-122"/>
                <a:cs typeface="Calibri" pitchFamily="34" charset="-120"/>
              </a:rPr>
              <a:t>09</a:t>
            </a:r>
            <a:endParaRPr lang="en-US" sz="1200" dirty="0"/>
          </a:p>
        </p:txBody>
      </p:sp>
      <p:sp>
        <p:nvSpPr>
          <p:cNvPr id="6" name="Shape 4"/>
          <p:cNvSpPr/>
          <p:nvPr/>
        </p:nvSpPr>
        <p:spPr>
          <a:xfrm>
            <a:off x="548640" y="1143000"/>
            <a:ext cx="11091672" cy="896112"/>
          </a:xfrm>
          <a:prstGeom prst="roundRect">
            <a:avLst>
              <a:gd name="adj" fmla="val 9184"/>
            </a:avLst>
          </a:prstGeom>
          <a:solidFill>
            <a:srgbClr val="EAF3FB"/>
          </a:solidFill>
          <a:ln/>
          <a:effectLst>
            <a:outerShdw sx="100000" sy="100000" kx="0" ky="0" algn="bl" rotWithShape="0" blurRad="76200" dist="25400" dir="5400000">
              <a:srgbClr val="9CB7CC">
                <a:alpha val="28000"/>
              </a:srgbClr>
            </a:outerShdw>
          </a:effectLst>
        </p:spPr>
      </p:sp>
      <p:sp>
        <p:nvSpPr>
          <p:cNvPr id="7" name="Text 5"/>
          <p:cNvSpPr/>
          <p:nvPr/>
        </p:nvSpPr>
        <p:spPr>
          <a:xfrm>
            <a:off x="804672" y="1289304"/>
            <a:ext cx="10579608" cy="621792"/>
          </a:xfrm>
          <a:prstGeom prst="rect">
            <a:avLst/>
          </a:prstGeom>
          <a:noFill/>
          <a:ln/>
        </p:spPr>
        <p:txBody>
          <a:bodyPr wrap="square" rtlCol="0" anchor="t"/>
          <a:lstStyle/>
          <a:p>
            <a:pPr indent="0" marL="0">
              <a:lnSpc>
                <a:spcPct val="114000"/>
              </a:lnSpc>
              <a:buNone/>
            </a:pPr>
            <a:r>
              <a:rPr lang="en-US" sz="1180" dirty="0">
                <a:solidFill>
                  <a:srgbClr val="24313F"/>
                </a:solidFill>
                <a:latin typeface="Calibri" pitchFamily="34" charset="0"/>
                <a:ea typeface="Calibri" pitchFamily="34" charset="-122"/>
                <a:cs typeface="Calibri" pitchFamily="34" charset="-120"/>
              </a:rPr>
              <a:t>CL/CD vs. α was plotted from the trained XGBoost surrogate across different Mach numbers and altitudes, using both uniform weighting and a variable weighting scheme (higher weight near α = 4°–8°, tapering toward the extremes). Predicted values overlay actual values closely across the operating range, validating the surrogate's accuracy across the flight envelope.</a:t>
            </a:r>
            <a:endParaRPr lang="en-US" sz="1180" dirty="0"/>
          </a:p>
        </p:txBody>
      </p:sp>
      <p:sp>
        <p:nvSpPr>
          <p:cNvPr id="8" name="Shape 6"/>
          <p:cNvSpPr/>
          <p:nvPr/>
        </p:nvSpPr>
        <p:spPr>
          <a:xfrm>
            <a:off x="548640" y="2212848"/>
            <a:ext cx="5440680" cy="2331720"/>
          </a:xfrm>
          <a:prstGeom prst="roundRect">
            <a:avLst>
              <a:gd name="adj" fmla="val 3137"/>
            </a:avLst>
          </a:prstGeom>
          <a:solidFill>
            <a:srgbClr val="FFFFFF"/>
          </a:solidFill>
          <a:ln w="12700">
            <a:solidFill>
              <a:srgbClr val="C9DDF0"/>
            </a:solidFill>
            <a:prstDash val="solid"/>
          </a:ln>
          <a:effectLst>
            <a:outerShdw sx="100000" sy="100000" kx="0" ky="0" algn="bl" rotWithShape="0" blurRad="76200" dist="25400" dir="5400000">
              <a:srgbClr val="9CB7CC">
                <a:alpha val="30000"/>
              </a:srgbClr>
            </a:outerShdw>
          </a:effectLst>
        </p:spPr>
      </p:sp>
      <p:pic>
        <p:nvPicPr>
          <p:cNvPr id="9" name="Image 0" descr="/home/claude/ppt/assets/image20_clean.png">    </p:cNvPr>
          <p:cNvPicPr>
            <a:picLocks noChangeAspect="1"/>
          </p:cNvPicPr>
          <p:nvPr/>
        </p:nvPicPr>
        <p:blipFill>
          <a:blip r:embed="rId1"/>
          <a:stretch>
            <a:fillRect/>
          </a:stretch>
        </p:blipFill>
        <p:spPr>
          <a:xfrm>
            <a:off x="1838343" y="2322576"/>
            <a:ext cx="2861274" cy="1819656"/>
          </a:xfrm>
          <a:prstGeom prst="rect">
            <a:avLst/>
          </a:prstGeom>
        </p:spPr>
      </p:pic>
      <p:sp>
        <p:nvSpPr>
          <p:cNvPr id="10" name="Text 7"/>
          <p:cNvSpPr/>
          <p:nvPr/>
        </p:nvSpPr>
        <p:spPr>
          <a:xfrm>
            <a:off x="658368" y="4215384"/>
            <a:ext cx="5221224" cy="292608"/>
          </a:xfrm>
          <a:prstGeom prst="rect">
            <a:avLst/>
          </a:prstGeom>
          <a:noFill/>
          <a:ln/>
        </p:spPr>
        <p:txBody>
          <a:bodyPr wrap="square" rtlCol="0" anchor="t"/>
          <a:lstStyle/>
          <a:p>
            <a:pPr algn="ctr" indent="0" marL="0">
              <a:buNone/>
            </a:pPr>
            <a:r>
              <a:rPr lang="en-US" sz="1050" i="1" dirty="0">
                <a:solidFill>
                  <a:srgbClr val="5B7385"/>
                </a:solidFill>
                <a:latin typeface="Calibri" pitchFamily="34" charset="0"/>
                <a:ea typeface="Calibri" pitchFamily="34" charset="-122"/>
                <a:cs typeface="Calibri" pitchFamily="34" charset="-120"/>
              </a:rPr>
              <a:t>Mach = 0.5, Altitude = 0 m</a:t>
            </a:r>
            <a:endParaRPr lang="en-US" sz="1050" dirty="0"/>
          </a:p>
        </p:txBody>
      </p:sp>
      <p:sp>
        <p:nvSpPr>
          <p:cNvPr id="11" name="Shape 8"/>
          <p:cNvSpPr/>
          <p:nvPr/>
        </p:nvSpPr>
        <p:spPr>
          <a:xfrm>
            <a:off x="6199632" y="2212848"/>
            <a:ext cx="5440680" cy="2331720"/>
          </a:xfrm>
          <a:prstGeom prst="roundRect">
            <a:avLst>
              <a:gd name="adj" fmla="val 3137"/>
            </a:avLst>
          </a:prstGeom>
          <a:solidFill>
            <a:srgbClr val="FFFFFF"/>
          </a:solidFill>
          <a:ln w="12700">
            <a:solidFill>
              <a:srgbClr val="C9DDF0"/>
            </a:solidFill>
            <a:prstDash val="solid"/>
          </a:ln>
          <a:effectLst>
            <a:outerShdw sx="100000" sy="100000" kx="0" ky="0" algn="bl" rotWithShape="0" blurRad="76200" dist="25400" dir="5400000">
              <a:srgbClr val="9CB7CC">
                <a:alpha val="30000"/>
              </a:srgbClr>
            </a:outerShdw>
          </a:effectLst>
        </p:spPr>
      </p:sp>
      <p:pic>
        <p:nvPicPr>
          <p:cNvPr id="12" name="Image 1" descr="/home/claude/ppt/assets/image22_clean.png">    </p:cNvPr>
          <p:cNvPicPr>
            <a:picLocks noChangeAspect="1"/>
          </p:cNvPicPr>
          <p:nvPr/>
        </p:nvPicPr>
        <p:blipFill>
          <a:blip r:embed="rId2"/>
          <a:stretch>
            <a:fillRect/>
          </a:stretch>
        </p:blipFill>
        <p:spPr>
          <a:xfrm>
            <a:off x="7500327" y="2322576"/>
            <a:ext cx="2839291" cy="1819656"/>
          </a:xfrm>
          <a:prstGeom prst="rect">
            <a:avLst/>
          </a:prstGeom>
        </p:spPr>
      </p:pic>
      <p:sp>
        <p:nvSpPr>
          <p:cNvPr id="13" name="Text 9"/>
          <p:cNvSpPr/>
          <p:nvPr/>
        </p:nvSpPr>
        <p:spPr>
          <a:xfrm>
            <a:off x="6309360" y="4215384"/>
            <a:ext cx="5221224" cy="292608"/>
          </a:xfrm>
          <a:prstGeom prst="rect">
            <a:avLst/>
          </a:prstGeom>
          <a:noFill/>
          <a:ln/>
        </p:spPr>
        <p:txBody>
          <a:bodyPr wrap="square" rtlCol="0" anchor="t"/>
          <a:lstStyle/>
          <a:p>
            <a:pPr algn="ctr" indent="0" marL="0">
              <a:buNone/>
            </a:pPr>
            <a:r>
              <a:rPr lang="en-US" sz="1050" i="1" dirty="0">
                <a:solidFill>
                  <a:srgbClr val="5B7385"/>
                </a:solidFill>
                <a:latin typeface="Calibri" pitchFamily="34" charset="0"/>
                <a:ea typeface="Calibri" pitchFamily="34" charset="-122"/>
                <a:cs typeface="Calibri" pitchFamily="34" charset="-120"/>
              </a:rPr>
              <a:t>Mach = 0.5, Altitude = 6000 m</a:t>
            </a:r>
            <a:endParaRPr lang="en-US" sz="1050" dirty="0"/>
          </a:p>
        </p:txBody>
      </p:sp>
      <p:sp>
        <p:nvSpPr>
          <p:cNvPr id="14" name="Shape 10"/>
          <p:cNvSpPr/>
          <p:nvPr/>
        </p:nvSpPr>
        <p:spPr>
          <a:xfrm>
            <a:off x="548640" y="4727448"/>
            <a:ext cx="5440680" cy="2331720"/>
          </a:xfrm>
          <a:prstGeom prst="roundRect">
            <a:avLst>
              <a:gd name="adj" fmla="val 3137"/>
            </a:avLst>
          </a:prstGeom>
          <a:solidFill>
            <a:srgbClr val="FFFFFF"/>
          </a:solidFill>
          <a:ln w="12700">
            <a:solidFill>
              <a:srgbClr val="C9DDF0"/>
            </a:solidFill>
            <a:prstDash val="solid"/>
          </a:ln>
          <a:effectLst>
            <a:outerShdw sx="100000" sy="100000" kx="0" ky="0" algn="bl" rotWithShape="0" blurRad="76200" dist="25400" dir="5400000">
              <a:srgbClr val="9CB7CC">
                <a:alpha val="30000"/>
              </a:srgbClr>
            </a:outerShdw>
          </a:effectLst>
        </p:spPr>
      </p:sp>
      <p:pic>
        <p:nvPicPr>
          <p:cNvPr id="15" name="Image 2" descr="/home/claude/ppt/assets/image24_clean.png">    </p:cNvPr>
          <p:cNvPicPr>
            <a:picLocks noChangeAspect="1"/>
          </p:cNvPicPr>
          <p:nvPr/>
        </p:nvPicPr>
        <p:blipFill>
          <a:blip r:embed="rId3"/>
          <a:stretch>
            <a:fillRect/>
          </a:stretch>
        </p:blipFill>
        <p:spPr>
          <a:xfrm>
            <a:off x="1828552" y="4837176"/>
            <a:ext cx="2880856" cy="1819656"/>
          </a:xfrm>
          <a:prstGeom prst="rect">
            <a:avLst/>
          </a:prstGeom>
        </p:spPr>
      </p:pic>
      <p:sp>
        <p:nvSpPr>
          <p:cNvPr id="16" name="Text 11"/>
          <p:cNvSpPr/>
          <p:nvPr/>
        </p:nvSpPr>
        <p:spPr>
          <a:xfrm>
            <a:off x="658368" y="6729984"/>
            <a:ext cx="5221224" cy="292608"/>
          </a:xfrm>
          <a:prstGeom prst="rect">
            <a:avLst/>
          </a:prstGeom>
          <a:noFill/>
          <a:ln/>
        </p:spPr>
        <p:txBody>
          <a:bodyPr wrap="square" rtlCol="0" anchor="t"/>
          <a:lstStyle/>
          <a:p>
            <a:pPr algn="ctr" indent="0" marL="0">
              <a:buNone/>
            </a:pPr>
            <a:r>
              <a:rPr lang="en-US" sz="1050" i="1" dirty="0">
                <a:solidFill>
                  <a:srgbClr val="5B7385"/>
                </a:solidFill>
                <a:latin typeface="Calibri" pitchFamily="34" charset="0"/>
                <a:ea typeface="Calibri" pitchFamily="34" charset="-122"/>
                <a:cs typeface="Calibri" pitchFamily="34" charset="-120"/>
              </a:rPr>
              <a:t>Mach = 0.8, Altitude = 0 m</a:t>
            </a:r>
            <a:endParaRPr lang="en-US" sz="1050" dirty="0"/>
          </a:p>
        </p:txBody>
      </p:sp>
      <p:sp>
        <p:nvSpPr>
          <p:cNvPr id="17" name="Shape 12"/>
          <p:cNvSpPr/>
          <p:nvPr/>
        </p:nvSpPr>
        <p:spPr>
          <a:xfrm>
            <a:off x="6199632" y="4727448"/>
            <a:ext cx="5440680" cy="2331720"/>
          </a:xfrm>
          <a:prstGeom prst="roundRect">
            <a:avLst>
              <a:gd name="adj" fmla="val 3137"/>
            </a:avLst>
          </a:prstGeom>
          <a:solidFill>
            <a:srgbClr val="FFFFFF"/>
          </a:solidFill>
          <a:ln w="12700">
            <a:solidFill>
              <a:srgbClr val="C9DDF0"/>
            </a:solidFill>
            <a:prstDash val="solid"/>
          </a:ln>
          <a:effectLst>
            <a:outerShdw sx="100000" sy="100000" kx="0" ky="0" algn="bl" rotWithShape="0" blurRad="76200" dist="25400" dir="5400000">
              <a:srgbClr val="9CB7CC">
                <a:alpha val="30000"/>
              </a:srgbClr>
            </a:outerShdw>
          </a:effectLst>
        </p:spPr>
      </p:sp>
      <p:pic>
        <p:nvPicPr>
          <p:cNvPr id="18" name="Image 3" descr="/home/claude/ppt/assets/image26_clean.png">    </p:cNvPr>
          <p:cNvPicPr>
            <a:picLocks noChangeAspect="1"/>
          </p:cNvPicPr>
          <p:nvPr/>
        </p:nvPicPr>
        <p:blipFill>
          <a:blip r:embed="rId4"/>
          <a:stretch>
            <a:fillRect/>
          </a:stretch>
        </p:blipFill>
        <p:spPr>
          <a:xfrm>
            <a:off x="7491146" y="4837176"/>
            <a:ext cx="2857651" cy="1819656"/>
          </a:xfrm>
          <a:prstGeom prst="rect">
            <a:avLst/>
          </a:prstGeom>
        </p:spPr>
      </p:pic>
      <p:sp>
        <p:nvSpPr>
          <p:cNvPr id="19" name="Text 13"/>
          <p:cNvSpPr/>
          <p:nvPr/>
        </p:nvSpPr>
        <p:spPr>
          <a:xfrm>
            <a:off x="6309360" y="6729984"/>
            <a:ext cx="5221224" cy="292608"/>
          </a:xfrm>
          <a:prstGeom prst="rect">
            <a:avLst/>
          </a:prstGeom>
          <a:noFill/>
          <a:ln/>
        </p:spPr>
        <p:txBody>
          <a:bodyPr wrap="square" rtlCol="0" anchor="t"/>
          <a:lstStyle/>
          <a:p>
            <a:pPr algn="ctr" indent="0" marL="0">
              <a:buNone/>
            </a:pPr>
            <a:r>
              <a:rPr lang="en-US" sz="1050" i="1" dirty="0">
                <a:solidFill>
                  <a:srgbClr val="5B7385"/>
                </a:solidFill>
                <a:latin typeface="Calibri" pitchFamily="34" charset="0"/>
                <a:ea typeface="Calibri" pitchFamily="34" charset="-122"/>
                <a:cs typeface="Calibri" pitchFamily="34" charset="-120"/>
              </a:rPr>
              <a:t>Mach = 0.8, Altitude = 6000 m</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601200" cy="274320"/>
          </a:xfrm>
          <a:prstGeom prst="rect">
            <a:avLst/>
          </a:prstGeom>
          <a:noFill/>
          <a:ln/>
        </p:spPr>
        <p:txBody>
          <a:bodyPr wrap="square" rtlCol="0" anchor="ctr"/>
          <a:lstStyle/>
          <a:p>
            <a:pPr indent="0" marL="0">
              <a:buNone/>
            </a:pPr>
            <a:r>
              <a:rPr lang="en-US" sz="1150" b="1" spc="200" kern="0" dirty="0">
                <a:solidFill>
                  <a:srgbClr val="2E75B6"/>
                </a:solidFill>
                <a:latin typeface="Calibri" pitchFamily="34" charset="0"/>
                <a:ea typeface="Calibri" pitchFamily="34" charset="-122"/>
                <a:cs typeface="Calibri" pitchFamily="34" charset="-120"/>
              </a:rPr>
              <a:t>FINAL RESULT</a:t>
            </a:r>
            <a:endParaRPr lang="en-US" sz="1150" dirty="0"/>
          </a:p>
        </p:txBody>
      </p:sp>
      <p:sp>
        <p:nvSpPr>
          <p:cNvPr id="3" name="Text 1"/>
          <p:cNvSpPr/>
          <p:nvPr/>
        </p:nvSpPr>
        <p:spPr>
          <a:xfrm>
            <a:off x="548640" y="566928"/>
            <a:ext cx="10424160" cy="566928"/>
          </a:xfrm>
          <a:prstGeom prst="rect">
            <a:avLst/>
          </a:prstGeom>
          <a:noFill/>
          <a:ln/>
        </p:spPr>
        <p:txBody>
          <a:bodyPr wrap="square" rtlCol="0" anchor="ctr"/>
          <a:lstStyle/>
          <a:p>
            <a:pPr indent="0" marL="0">
              <a:buNone/>
            </a:pPr>
            <a:r>
              <a:rPr lang="en-US" sz="2600" b="1" dirty="0">
                <a:solidFill>
                  <a:srgbClr val="1F4E79"/>
                </a:solidFill>
                <a:latin typeface="Cambria" pitchFamily="34" charset="0"/>
                <a:ea typeface="Cambria" pitchFamily="34" charset="-122"/>
                <a:cs typeface="Cambria" pitchFamily="34" charset="-120"/>
              </a:rPr>
              <a:t>Finalized Surrogate Model</a:t>
            </a:r>
            <a:endParaRPr lang="en-US" sz="2600" dirty="0"/>
          </a:p>
        </p:txBody>
      </p:sp>
      <p:sp>
        <p:nvSpPr>
          <p:cNvPr id="4" name="Shape 2"/>
          <p:cNvSpPr/>
          <p:nvPr/>
        </p:nvSpPr>
        <p:spPr>
          <a:xfrm>
            <a:off x="11475720" y="384048"/>
            <a:ext cx="420624" cy="420624"/>
          </a:xfrm>
          <a:prstGeom prst="ellipse">
            <a:avLst/>
          </a:prstGeom>
          <a:solidFill>
            <a:srgbClr val="DDEBF8"/>
          </a:solidFill>
          <a:ln/>
        </p:spPr>
      </p:sp>
      <p:sp>
        <p:nvSpPr>
          <p:cNvPr id="5" name="Text 3"/>
          <p:cNvSpPr/>
          <p:nvPr/>
        </p:nvSpPr>
        <p:spPr>
          <a:xfrm>
            <a:off x="11475720" y="384048"/>
            <a:ext cx="420624" cy="420624"/>
          </a:xfrm>
          <a:prstGeom prst="rect">
            <a:avLst/>
          </a:prstGeom>
          <a:noFill/>
          <a:ln/>
        </p:spPr>
        <p:txBody>
          <a:bodyPr wrap="square" rtlCol="0" anchor="ctr"/>
          <a:lstStyle/>
          <a:p>
            <a:pPr algn="ctr" indent="0" marL="0">
              <a:buNone/>
            </a:pPr>
            <a:r>
              <a:rPr lang="en-US" sz="1200" b="1" dirty="0">
                <a:solidFill>
                  <a:srgbClr val="1F4E79"/>
                </a:solidFill>
                <a:latin typeface="Calibri" pitchFamily="34" charset="0"/>
                <a:ea typeface="Calibri" pitchFamily="34" charset="-122"/>
                <a:cs typeface="Calibri" pitchFamily="34" charset="-120"/>
              </a:rPr>
              <a:t>10</a:t>
            </a:r>
            <a:endParaRPr lang="en-US" sz="1200" dirty="0"/>
          </a:p>
        </p:txBody>
      </p:sp>
      <p:sp>
        <p:nvSpPr>
          <p:cNvPr id="6" name="Shape 4"/>
          <p:cNvSpPr/>
          <p:nvPr/>
        </p:nvSpPr>
        <p:spPr>
          <a:xfrm>
            <a:off x="548640" y="1188720"/>
            <a:ext cx="11091672" cy="1051560"/>
          </a:xfrm>
          <a:prstGeom prst="roundRect">
            <a:avLst>
              <a:gd name="adj" fmla="val 8696"/>
            </a:avLst>
          </a:prstGeom>
          <a:solidFill>
            <a:srgbClr val="2E75B6"/>
          </a:solidFill>
          <a:ln/>
          <a:effectLst>
            <a:outerShdw sx="100000" sy="100000" kx="0" ky="0" algn="bl" rotWithShape="0" blurRad="76200" dist="25400" dir="5400000">
              <a:srgbClr val="9CB7CC">
                <a:alpha val="30000"/>
              </a:srgbClr>
            </a:outerShdw>
          </a:effectLst>
        </p:spPr>
      </p:sp>
      <p:sp>
        <p:nvSpPr>
          <p:cNvPr id="7" name="Text 5"/>
          <p:cNvSpPr/>
          <p:nvPr/>
        </p:nvSpPr>
        <p:spPr>
          <a:xfrm>
            <a:off x="822960" y="1225296"/>
            <a:ext cx="6858000" cy="5029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Ensemble XGBoost</a:t>
            </a:r>
            <a:endParaRPr lang="en-US" sz="2600" dirty="0"/>
          </a:p>
        </p:txBody>
      </p:sp>
      <p:sp>
        <p:nvSpPr>
          <p:cNvPr id="8" name="Text 6"/>
          <p:cNvSpPr/>
          <p:nvPr/>
        </p:nvSpPr>
        <p:spPr>
          <a:xfrm>
            <a:off x="822960" y="1691640"/>
            <a:ext cx="10515600" cy="457200"/>
          </a:xfrm>
          <a:prstGeom prst="rect">
            <a:avLst/>
          </a:prstGeom>
          <a:noFill/>
          <a:ln/>
        </p:spPr>
        <p:txBody>
          <a:bodyPr wrap="square" rtlCol="0" anchor="ctr"/>
          <a:lstStyle/>
          <a:p>
            <a:pPr indent="0" marL="0">
              <a:buNone/>
            </a:pPr>
            <a:r>
              <a:rPr lang="en-US" sz="1300" dirty="0">
                <a:solidFill>
                  <a:srgbClr val="EAF3FB"/>
                </a:solidFill>
                <a:latin typeface="Calibri" pitchFamily="34" charset="0"/>
                <a:ea typeface="Calibri" pitchFamily="34" charset="-122"/>
                <a:cs typeface="Calibri" pitchFamily="34" charset="-120"/>
              </a:rPr>
              <a:t>Selected as the finalized production model for CL, CD and X-C.P. prediction</a:t>
            </a:r>
            <a:endParaRPr lang="en-US" sz="1300" dirty="0"/>
          </a:p>
        </p:txBody>
      </p:sp>
      <p:sp>
        <p:nvSpPr>
          <p:cNvPr id="9" name="Shape 7"/>
          <p:cNvSpPr/>
          <p:nvPr/>
        </p:nvSpPr>
        <p:spPr>
          <a:xfrm>
            <a:off x="548640" y="2487168"/>
            <a:ext cx="3566160" cy="1417320"/>
          </a:xfrm>
          <a:prstGeom prst="roundRect">
            <a:avLst>
              <a:gd name="adj" fmla="val 6452"/>
            </a:avLst>
          </a:prstGeom>
          <a:solidFill>
            <a:srgbClr val="EAF3FB"/>
          </a:solidFill>
          <a:ln/>
        </p:spPr>
      </p:sp>
      <p:sp>
        <p:nvSpPr>
          <p:cNvPr id="10" name="Text 8"/>
          <p:cNvSpPr/>
          <p:nvPr/>
        </p:nvSpPr>
        <p:spPr>
          <a:xfrm>
            <a:off x="548640" y="2651760"/>
            <a:ext cx="3566160" cy="731520"/>
          </a:xfrm>
          <a:prstGeom prst="rect">
            <a:avLst/>
          </a:prstGeom>
          <a:noFill/>
          <a:ln/>
        </p:spPr>
        <p:txBody>
          <a:bodyPr wrap="square" rtlCol="0" anchor="ctr"/>
          <a:lstStyle/>
          <a:p>
            <a:pPr algn="ctr" indent="0" marL="0">
              <a:buNone/>
            </a:pPr>
            <a:r>
              <a:rPr lang="en-US" sz="4000" b="1" dirty="0">
                <a:solidFill>
                  <a:srgbClr val="1F4E79"/>
                </a:solidFill>
                <a:latin typeface="Cambria" pitchFamily="34" charset="0"/>
                <a:ea typeface="Cambria" pitchFamily="34" charset="-122"/>
                <a:cs typeface="Cambria" pitchFamily="34" charset="-120"/>
              </a:rPr>
              <a:t>0.9998</a:t>
            </a:r>
            <a:endParaRPr lang="en-US" sz="4000" dirty="0"/>
          </a:p>
        </p:txBody>
      </p:sp>
      <p:sp>
        <p:nvSpPr>
          <p:cNvPr id="11" name="Text 9"/>
          <p:cNvSpPr/>
          <p:nvPr/>
        </p:nvSpPr>
        <p:spPr>
          <a:xfrm>
            <a:off x="548640" y="3419856"/>
            <a:ext cx="3566160" cy="365760"/>
          </a:xfrm>
          <a:prstGeom prst="rect">
            <a:avLst/>
          </a:prstGeom>
          <a:noFill/>
          <a:ln/>
        </p:spPr>
        <p:txBody>
          <a:bodyPr wrap="square" rtlCol="0" anchor="ctr"/>
          <a:lstStyle/>
          <a:p>
            <a:pPr algn="ctr" indent="0" marL="0">
              <a:buNone/>
            </a:pPr>
            <a:r>
              <a:rPr lang="en-US" sz="1300" dirty="0">
                <a:solidFill>
                  <a:srgbClr val="5B7385"/>
                </a:solidFill>
                <a:latin typeface="Calibri" pitchFamily="34" charset="0"/>
                <a:ea typeface="Calibri" pitchFamily="34" charset="-122"/>
                <a:cs typeface="Calibri" pitchFamily="34" charset="-120"/>
              </a:rPr>
              <a:t>CL R² (Test)</a:t>
            </a:r>
            <a:endParaRPr lang="en-US" sz="1300" dirty="0"/>
          </a:p>
        </p:txBody>
      </p:sp>
      <p:sp>
        <p:nvSpPr>
          <p:cNvPr id="12" name="Shape 10"/>
          <p:cNvSpPr/>
          <p:nvPr/>
        </p:nvSpPr>
        <p:spPr>
          <a:xfrm>
            <a:off x="4315968" y="2487168"/>
            <a:ext cx="3566160" cy="1417320"/>
          </a:xfrm>
          <a:prstGeom prst="roundRect">
            <a:avLst>
              <a:gd name="adj" fmla="val 6452"/>
            </a:avLst>
          </a:prstGeom>
          <a:solidFill>
            <a:srgbClr val="EAF3FB"/>
          </a:solidFill>
          <a:ln/>
        </p:spPr>
      </p:sp>
      <p:sp>
        <p:nvSpPr>
          <p:cNvPr id="13" name="Text 11"/>
          <p:cNvSpPr/>
          <p:nvPr/>
        </p:nvSpPr>
        <p:spPr>
          <a:xfrm>
            <a:off x="4315968" y="2651760"/>
            <a:ext cx="3566160" cy="731520"/>
          </a:xfrm>
          <a:prstGeom prst="rect">
            <a:avLst/>
          </a:prstGeom>
          <a:noFill/>
          <a:ln/>
        </p:spPr>
        <p:txBody>
          <a:bodyPr wrap="square" rtlCol="0" anchor="ctr"/>
          <a:lstStyle/>
          <a:p>
            <a:pPr algn="ctr" indent="0" marL="0">
              <a:buNone/>
            </a:pPr>
            <a:r>
              <a:rPr lang="en-US" sz="4000" b="1" dirty="0">
                <a:solidFill>
                  <a:srgbClr val="1F4E79"/>
                </a:solidFill>
                <a:latin typeface="Cambria" pitchFamily="34" charset="0"/>
                <a:ea typeface="Cambria" pitchFamily="34" charset="-122"/>
                <a:cs typeface="Cambria" pitchFamily="34" charset="-120"/>
              </a:rPr>
              <a:t>0.9998</a:t>
            </a:r>
            <a:endParaRPr lang="en-US" sz="4000" dirty="0"/>
          </a:p>
        </p:txBody>
      </p:sp>
      <p:sp>
        <p:nvSpPr>
          <p:cNvPr id="14" name="Text 12"/>
          <p:cNvSpPr/>
          <p:nvPr/>
        </p:nvSpPr>
        <p:spPr>
          <a:xfrm>
            <a:off x="4315968" y="3419856"/>
            <a:ext cx="3566160" cy="365760"/>
          </a:xfrm>
          <a:prstGeom prst="rect">
            <a:avLst/>
          </a:prstGeom>
          <a:noFill/>
          <a:ln/>
        </p:spPr>
        <p:txBody>
          <a:bodyPr wrap="square" rtlCol="0" anchor="ctr"/>
          <a:lstStyle/>
          <a:p>
            <a:pPr algn="ctr" indent="0" marL="0">
              <a:buNone/>
            </a:pPr>
            <a:r>
              <a:rPr lang="en-US" sz="1300" dirty="0">
                <a:solidFill>
                  <a:srgbClr val="5B7385"/>
                </a:solidFill>
                <a:latin typeface="Calibri" pitchFamily="34" charset="0"/>
                <a:ea typeface="Calibri" pitchFamily="34" charset="-122"/>
                <a:cs typeface="Calibri" pitchFamily="34" charset="-120"/>
              </a:rPr>
              <a:t>CD R² (Test)</a:t>
            </a:r>
            <a:endParaRPr lang="en-US" sz="1300" dirty="0"/>
          </a:p>
        </p:txBody>
      </p:sp>
      <p:sp>
        <p:nvSpPr>
          <p:cNvPr id="15" name="Shape 13"/>
          <p:cNvSpPr/>
          <p:nvPr/>
        </p:nvSpPr>
        <p:spPr>
          <a:xfrm>
            <a:off x="8083296" y="2487168"/>
            <a:ext cx="3566160" cy="1417320"/>
          </a:xfrm>
          <a:prstGeom prst="roundRect">
            <a:avLst>
              <a:gd name="adj" fmla="val 6452"/>
            </a:avLst>
          </a:prstGeom>
          <a:solidFill>
            <a:srgbClr val="EAF3FB"/>
          </a:solidFill>
          <a:ln/>
        </p:spPr>
      </p:sp>
      <p:sp>
        <p:nvSpPr>
          <p:cNvPr id="16" name="Text 14"/>
          <p:cNvSpPr/>
          <p:nvPr/>
        </p:nvSpPr>
        <p:spPr>
          <a:xfrm>
            <a:off x="8083296" y="2651760"/>
            <a:ext cx="3566160" cy="731520"/>
          </a:xfrm>
          <a:prstGeom prst="rect">
            <a:avLst/>
          </a:prstGeom>
          <a:noFill/>
          <a:ln/>
        </p:spPr>
        <p:txBody>
          <a:bodyPr wrap="square" rtlCol="0" anchor="ctr"/>
          <a:lstStyle/>
          <a:p>
            <a:pPr algn="ctr" indent="0" marL="0">
              <a:buNone/>
            </a:pPr>
            <a:r>
              <a:rPr lang="en-US" sz="4000" b="1" dirty="0">
                <a:solidFill>
                  <a:srgbClr val="1F4E79"/>
                </a:solidFill>
                <a:latin typeface="Cambria" pitchFamily="34" charset="0"/>
                <a:ea typeface="Cambria" pitchFamily="34" charset="-122"/>
                <a:cs typeface="Cambria" pitchFamily="34" charset="-120"/>
              </a:rPr>
              <a:t>1.0000</a:t>
            </a:r>
            <a:endParaRPr lang="en-US" sz="4000" dirty="0"/>
          </a:p>
        </p:txBody>
      </p:sp>
      <p:sp>
        <p:nvSpPr>
          <p:cNvPr id="17" name="Text 15"/>
          <p:cNvSpPr/>
          <p:nvPr/>
        </p:nvSpPr>
        <p:spPr>
          <a:xfrm>
            <a:off x="8083296" y="3419856"/>
            <a:ext cx="3566160" cy="365760"/>
          </a:xfrm>
          <a:prstGeom prst="rect">
            <a:avLst/>
          </a:prstGeom>
          <a:noFill/>
          <a:ln/>
        </p:spPr>
        <p:txBody>
          <a:bodyPr wrap="square" rtlCol="0" anchor="ctr"/>
          <a:lstStyle/>
          <a:p>
            <a:pPr algn="ctr" indent="0" marL="0">
              <a:buNone/>
            </a:pPr>
            <a:r>
              <a:rPr lang="en-US" sz="1300" dirty="0">
                <a:solidFill>
                  <a:srgbClr val="5B7385"/>
                </a:solidFill>
                <a:latin typeface="Calibri" pitchFamily="34" charset="0"/>
                <a:ea typeface="Calibri" pitchFamily="34" charset="-122"/>
                <a:cs typeface="Calibri" pitchFamily="34" charset="-120"/>
              </a:rPr>
              <a:t>X-C.P. R² (Test)</a:t>
            </a:r>
            <a:endParaRPr lang="en-US" sz="1300" dirty="0"/>
          </a:p>
        </p:txBody>
      </p:sp>
      <p:sp>
        <p:nvSpPr>
          <p:cNvPr id="18" name="Shape 16"/>
          <p:cNvSpPr/>
          <p:nvPr/>
        </p:nvSpPr>
        <p:spPr>
          <a:xfrm>
            <a:off x="548640" y="4160520"/>
            <a:ext cx="5440680" cy="1828800"/>
          </a:xfrm>
          <a:prstGeom prst="roundRect">
            <a:avLst>
              <a:gd name="adj" fmla="val 4500"/>
            </a:avLst>
          </a:prstGeom>
          <a:solidFill>
            <a:srgbClr val="DDEBF8"/>
          </a:solidFill>
          <a:ln/>
          <a:effectLst>
            <a:outerShdw sx="100000" sy="100000" kx="0" ky="0" algn="bl" rotWithShape="0" blurRad="76200" dist="25400" dir="5400000">
              <a:srgbClr val="9CB7CC">
                <a:alpha val="28000"/>
              </a:srgbClr>
            </a:outerShdw>
          </a:effectLst>
        </p:spPr>
      </p:sp>
      <p:sp>
        <p:nvSpPr>
          <p:cNvPr id="19" name="Text 17"/>
          <p:cNvSpPr/>
          <p:nvPr/>
        </p:nvSpPr>
        <p:spPr>
          <a:xfrm>
            <a:off x="804672" y="4306824"/>
            <a:ext cx="4928616" cy="292608"/>
          </a:xfrm>
          <a:prstGeom prst="rect">
            <a:avLst/>
          </a:prstGeom>
          <a:noFill/>
          <a:ln/>
        </p:spPr>
        <p:txBody>
          <a:bodyPr wrap="square"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Why Ensemble XGBoost Was Chosen</a:t>
            </a:r>
            <a:endParaRPr lang="en-US" sz="1400" dirty="0"/>
          </a:p>
        </p:txBody>
      </p:sp>
      <p:sp>
        <p:nvSpPr>
          <p:cNvPr id="20" name="Text 18"/>
          <p:cNvSpPr/>
          <p:nvPr/>
        </p:nvSpPr>
        <p:spPr>
          <a:xfrm>
            <a:off x="804672" y="4672584"/>
            <a:ext cx="4928616" cy="1188720"/>
          </a:xfrm>
          <a:prstGeom prst="rect">
            <a:avLst/>
          </a:prstGeom>
          <a:noFill/>
          <a:ln/>
        </p:spPr>
        <p:txBody>
          <a:bodyPr wrap="square" rtlCol="0" anchor="t"/>
          <a:lstStyle/>
          <a:p>
            <a:pPr marL="177800" indent="-177800">
              <a:lnSpc>
                <a:spcPct val="108000"/>
              </a:lnSpc>
              <a:spcAft>
                <a:spcPts val="500"/>
              </a:spcAft>
              <a:buSzPct val="100000"/>
              <a:buChar char="●"/>
            </a:pPr>
            <a:r>
              <a:rPr lang="en-US" sz="1130" dirty="0">
                <a:solidFill>
                  <a:srgbClr val="24313F"/>
                </a:solidFill>
                <a:latin typeface="Calibri" pitchFamily="34" charset="0"/>
                <a:ea typeface="Calibri" pitchFamily="34" charset="-122"/>
                <a:cs typeface="Calibri" pitchFamily="34" charset="-120"/>
              </a:rPr>
              <a:t>Highest, most stable accuracy of all models tested (R² ≈ 1.00 on train, ≥ 0.9998 on test for every target)</a:t>
            </a:r>
            <a:endParaRPr lang="en-US" sz="1130" dirty="0"/>
          </a:p>
          <a:p>
            <a:pPr marL="177800" indent="-177800">
              <a:lnSpc>
                <a:spcPct val="108000"/>
              </a:lnSpc>
              <a:spcAft>
                <a:spcPts val="500"/>
              </a:spcAft>
              <a:buSzPct val="100000"/>
              <a:buChar char="●"/>
            </a:pPr>
            <a:r>
              <a:rPr lang="en-US" sz="1130" dirty="0">
                <a:solidFill>
                  <a:srgbClr val="24313F"/>
                </a:solidFill>
                <a:latin typeface="Calibri" pitchFamily="34" charset="0"/>
                <a:ea typeface="Calibri" pitchFamily="34" charset="-122"/>
                <a:cs typeface="Calibri" pitchFamily="34" charset="-120"/>
              </a:rPr>
              <a:t>Averaging 5 seeded models reduces variance and overfitting noise versus a single XGBoost model</a:t>
            </a:r>
            <a:endParaRPr lang="en-US" sz="1130" dirty="0"/>
          </a:p>
        </p:txBody>
      </p:sp>
      <p:sp>
        <p:nvSpPr>
          <p:cNvPr id="21" name="Shape 19"/>
          <p:cNvSpPr/>
          <p:nvPr/>
        </p:nvSpPr>
        <p:spPr>
          <a:xfrm>
            <a:off x="6199632" y="4160520"/>
            <a:ext cx="5440680" cy="1828800"/>
          </a:xfrm>
          <a:prstGeom prst="roundRect">
            <a:avLst>
              <a:gd name="adj" fmla="val 4500"/>
            </a:avLst>
          </a:prstGeom>
          <a:solidFill>
            <a:srgbClr val="EAF3FB"/>
          </a:solidFill>
          <a:ln/>
          <a:effectLst>
            <a:outerShdw sx="100000" sy="100000" kx="0" ky="0" algn="bl" rotWithShape="0" blurRad="76200" dist="25400" dir="5400000">
              <a:srgbClr val="9CB7CC">
                <a:alpha val="28000"/>
              </a:srgbClr>
            </a:outerShdw>
          </a:effectLst>
        </p:spPr>
      </p:sp>
      <p:sp>
        <p:nvSpPr>
          <p:cNvPr id="22" name="Text 20"/>
          <p:cNvSpPr/>
          <p:nvPr/>
        </p:nvSpPr>
        <p:spPr>
          <a:xfrm>
            <a:off x="6455664" y="4306824"/>
            <a:ext cx="4928616" cy="292608"/>
          </a:xfrm>
          <a:prstGeom prst="rect">
            <a:avLst/>
          </a:prstGeom>
          <a:noFill/>
          <a:ln/>
        </p:spPr>
        <p:txBody>
          <a:bodyPr wrap="square"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Role in the Full Pipeline</a:t>
            </a:r>
            <a:endParaRPr lang="en-US" sz="1400" dirty="0"/>
          </a:p>
        </p:txBody>
      </p:sp>
      <p:sp>
        <p:nvSpPr>
          <p:cNvPr id="23" name="Text 21"/>
          <p:cNvSpPr/>
          <p:nvPr/>
        </p:nvSpPr>
        <p:spPr>
          <a:xfrm>
            <a:off x="6455664" y="4672584"/>
            <a:ext cx="4928616" cy="1188720"/>
          </a:xfrm>
          <a:prstGeom prst="rect">
            <a:avLst/>
          </a:prstGeom>
          <a:noFill/>
          <a:ln/>
        </p:spPr>
        <p:txBody>
          <a:bodyPr wrap="square" rtlCol="0" anchor="t"/>
          <a:lstStyle/>
          <a:p>
            <a:pPr marL="177800" indent="-177800">
              <a:lnSpc>
                <a:spcPct val="108000"/>
              </a:lnSpc>
              <a:spcAft>
                <a:spcPts val="500"/>
              </a:spcAft>
              <a:buSzPct val="100000"/>
              <a:buChar char="●"/>
            </a:pPr>
            <a:r>
              <a:rPr lang="en-US" sz="1130" dirty="0">
                <a:solidFill>
                  <a:srgbClr val="24313F"/>
                </a:solidFill>
                <a:latin typeface="Calibri" pitchFamily="34" charset="0"/>
                <a:ea typeface="Calibri" pitchFamily="34" charset="-122"/>
                <a:cs typeface="Calibri" pitchFamily="34" charset="-120"/>
              </a:rPr>
              <a:t>Differential Evolution uses this finalized surrogate as its fitness function to search for optimal configurations</a:t>
            </a:r>
            <a:endParaRPr lang="en-US" sz="1130" dirty="0"/>
          </a:p>
          <a:p>
            <a:pPr marL="177800" indent="-177800">
              <a:lnSpc>
                <a:spcPct val="108000"/>
              </a:lnSpc>
              <a:spcAft>
                <a:spcPts val="500"/>
              </a:spcAft>
              <a:buSzPct val="100000"/>
              <a:buChar char="●"/>
            </a:pPr>
            <a:r>
              <a:rPr lang="en-US" sz="1130" dirty="0">
                <a:solidFill>
                  <a:srgbClr val="24313F"/>
                </a:solidFill>
                <a:latin typeface="Calibri" pitchFamily="34" charset="0"/>
                <a:ea typeface="Calibri" pitchFamily="34" charset="-122"/>
                <a:cs typeface="Calibri" pitchFamily="34" charset="-120"/>
              </a:rPr>
              <a:t>Complementary model: MLP Regressor handles CN &amp; CM prediction (R² ≈ 0.9995 on test)</a:t>
            </a:r>
            <a:endParaRPr lang="en-US" sz="113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601200" cy="274320"/>
          </a:xfrm>
          <a:prstGeom prst="rect">
            <a:avLst/>
          </a:prstGeom>
          <a:noFill/>
          <a:ln/>
        </p:spPr>
        <p:txBody>
          <a:bodyPr wrap="square" rtlCol="0" anchor="ctr"/>
          <a:lstStyle/>
          <a:p>
            <a:pPr indent="0" marL="0">
              <a:buNone/>
            </a:pPr>
            <a:r>
              <a:rPr lang="en-US" sz="1150" b="1" spc="200" kern="0" dirty="0">
                <a:solidFill>
                  <a:srgbClr val="2E75B6"/>
                </a:solidFill>
                <a:latin typeface="Calibri" pitchFamily="34" charset="0"/>
                <a:ea typeface="Calibri" pitchFamily="34" charset="-122"/>
                <a:cs typeface="Calibri" pitchFamily="34" charset="-120"/>
              </a:rPr>
              <a:t>WRAP-UP</a:t>
            </a:r>
            <a:endParaRPr lang="en-US" sz="1150" dirty="0"/>
          </a:p>
        </p:txBody>
      </p:sp>
      <p:sp>
        <p:nvSpPr>
          <p:cNvPr id="3" name="Text 1"/>
          <p:cNvSpPr/>
          <p:nvPr/>
        </p:nvSpPr>
        <p:spPr>
          <a:xfrm>
            <a:off x="548640" y="566928"/>
            <a:ext cx="10424160" cy="566928"/>
          </a:xfrm>
          <a:prstGeom prst="rect">
            <a:avLst/>
          </a:prstGeom>
          <a:noFill/>
          <a:ln/>
        </p:spPr>
        <p:txBody>
          <a:bodyPr wrap="square" rtlCol="0" anchor="ctr"/>
          <a:lstStyle/>
          <a:p>
            <a:pPr indent="0" marL="0">
              <a:buNone/>
            </a:pPr>
            <a:r>
              <a:rPr lang="en-US" sz="2600" b="1" dirty="0">
                <a:solidFill>
                  <a:srgbClr val="1F4E79"/>
                </a:solidFill>
                <a:latin typeface="Cambria" pitchFamily="34" charset="0"/>
                <a:ea typeface="Cambria" pitchFamily="34" charset="-122"/>
                <a:cs typeface="Cambria" pitchFamily="34" charset="-120"/>
              </a:rPr>
              <a:t>Results, Learnings &amp; Conclusion</a:t>
            </a:r>
            <a:endParaRPr lang="en-US" sz="2600" dirty="0"/>
          </a:p>
        </p:txBody>
      </p:sp>
      <p:sp>
        <p:nvSpPr>
          <p:cNvPr id="4" name="Shape 2"/>
          <p:cNvSpPr/>
          <p:nvPr/>
        </p:nvSpPr>
        <p:spPr>
          <a:xfrm>
            <a:off x="11475720" y="384048"/>
            <a:ext cx="420624" cy="420624"/>
          </a:xfrm>
          <a:prstGeom prst="ellipse">
            <a:avLst/>
          </a:prstGeom>
          <a:solidFill>
            <a:srgbClr val="DDEBF8"/>
          </a:solidFill>
          <a:ln/>
        </p:spPr>
      </p:sp>
      <p:sp>
        <p:nvSpPr>
          <p:cNvPr id="5" name="Text 3"/>
          <p:cNvSpPr/>
          <p:nvPr/>
        </p:nvSpPr>
        <p:spPr>
          <a:xfrm>
            <a:off x="11475720" y="384048"/>
            <a:ext cx="420624" cy="420624"/>
          </a:xfrm>
          <a:prstGeom prst="rect">
            <a:avLst/>
          </a:prstGeom>
          <a:noFill/>
          <a:ln/>
        </p:spPr>
        <p:txBody>
          <a:bodyPr wrap="square" rtlCol="0" anchor="ctr"/>
          <a:lstStyle/>
          <a:p>
            <a:pPr algn="ctr" indent="0" marL="0">
              <a:buNone/>
            </a:pPr>
            <a:r>
              <a:rPr lang="en-US" sz="1200" b="1" dirty="0">
                <a:solidFill>
                  <a:srgbClr val="1F4E79"/>
                </a:solidFill>
                <a:latin typeface="Calibri" pitchFamily="34" charset="0"/>
                <a:ea typeface="Calibri" pitchFamily="34" charset="-122"/>
                <a:cs typeface="Calibri" pitchFamily="34" charset="-120"/>
              </a:rPr>
              <a:t>11</a:t>
            </a:r>
            <a:endParaRPr lang="en-US" sz="1200" dirty="0"/>
          </a:p>
        </p:txBody>
      </p:sp>
      <p:sp>
        <p:nvSpPr>
          <p:cNvPr id="6" name="Shape 4"/>
          <p:cNvSpPr/>
          <p:nvPr/>
        </p:nvSpPr>
        <p:spPr>
          <a:xfrm>
            <a:off x="548640" y="1170432"/>
            <a:ext cx="5440680" cy="3520440"/>
          </a:xfrm>
          <a:prstGeom prst="roundRect">
            <a:avLst>
              <a:gd name="adj" fmla="val 2338"/>
            </a:avLst>
          </a:prstGeom>
          <a:solidFill>
            <a:srgbClr val="EAF3FB"/>
          </a:solidFill>
          <a:ln/>
          <a:effectLst>
            <a:outerShdw sx="100000" sy="100000" kx="0" ky="0" algn="bl" rotWithShape="0" blurRad="76200" dist="25400" dir="5400000">
              <a:srgbClr val="9CB7CC">
                <a:alpha val="28000"/>
              </a:srgbClr>
            </a:outerShdw>
          </a:effectLst>
        </p:spPr>
      </p:sp>
      <p:sp>
        <p:nvSpPr>
          <p:cNvPr id="7" name="Text 5"/>
          <p:cNvSpPr/>
          <p:nvPr/>
        </p:nvSpPr>
        <p:spPr>
          <a:xfrm>
            <a:off x="804672" y="1316736"/>
            <a:ext cx="4928616" cy="292608"/>
          </a:xfrm>
          <a:prstGeom prst="rect">
            <a:avLst/>
          </a:prstGeom>
          <a:noFill/>
          <a:ln/>
        </p:spPr>
        <p:txBody>
          <a:bodyPr wrap="square"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Key Results &amp; Conclusion</a:t>
            </a:r>
            <a:endParaRPr lang="en-US" sz="1400" dirty="0"/>
          </a:p>
        </p:txBody>
      </p:sp>
      <p:sp>
        <p:nvSpPr>
          <p:cNvPr id="8" name="Text 6"/>
          <p:cNvSpPr/>
          <p:nvPr/>
        </p:nvSpPr>
        <p:spPr>
          <a:xfrm>
            <a:off x="804672" y="1682496"/>
            <a:ext cx="4928616" cy="2880360"/>
          </a:xfrm>
          <a:prstGeom prst="rect">
            <a:avLst/>
          </a:prstGeom>
          <a:noFill/>
          <a:ln/>
        </p:spPr>
        <p:txBody>
          <a:bodyPr wrap="square" rtlCol="0" anchor="t"/>
          <a:lstStyle/>
          <a:p>
            <a:pPr marL="177800" indent="-177800">
              <a:lnSpc>
                <a:spcPct val="108000"/>
              </a:lnSpc>
              <a:spcAft>
                <a:spcPts val="500"/>
              </a:spcAft>
              <a:buSzPct val="100000"/>
              <a:buChar char="●"/>
            </a:pPr>
            <a:r>
              <a:rPr lang="en-US" sz="1130" dirty="0">
                <a:solidFill>
                  <a:srgbClr val="24313F"/>
                </a:solidFill>
                <a:latin typeface="Calibri" pitchFamily="34" charset="0"/>
                <a:ea typeface="Calibri" pitchFamily="34" charset="-122"/>
                <a:cs typeface="Calibri" pitchFamily="34" charset="-120"/>
              </a:rPr>
              <a:t>XGBoost-based surrogate models (single &amp; ensemble) accurately predict CL, CD and X-C.P. across geometric configurations and flight conditions</a:t>
            </a:r>
            <a:endParaRPr lang="en-US" sz="1130" dirty="0"/>
          </a:p>
          <a:p>
            <a:pPr marL="177800" indent="-177800">
              <a:lnSpc>
                <a:spcPct val="108000"/>
              </a:lnSpc>
              <a:spcAft>
                <a:spcPts val="500"/>
              </a:spcAft>
              <a:buSzPct val="100000"/>
              <a:buChar char="●"/>
            </a:pPr>
            <a:r>
              <a:rPr lang="en-US" sz="1130" dirty="0">
                <a:solidFill>
                  <a:srgbClr val="24313F"/>
                </a:solidFill>
                <a:latin typeface="Calibri" pitchFamily="34" charset="0"/>
                <a:ea typeface="Calibri" pitchFamily="34" charset="-122"/>
                <a:cs typeface="Calibri" pitchFamily="34" charset="-120"/>
              </a:rPr>
              <a:t>Integration with Differential Evolution enabled efficient exploration of the design space, yielding improved lift-to-drag ratio, reduced drag, and stable aerodynamic behaviour</a:t>
            </a:r>
            <a:endParaRPr lang="en-US" sz="1130" dirty="0"/>
          </a:p>
          <a:p>
            <a:pPr marL="177800" indent="-177800">
              <a:lnSpc>
                <a:spcPct val="108000"/>
              </a:lnSpc>
              <a:spcAft>
                <a:spcPts val="500"/>
              </a:spcAft>
              <a:buSzPct val="100000"/>
              <a:buChar char="●"/>
            </a:pPr>
            <a:r>
              <a:rPr lang="en-US" sz="1130" dirty="0">
                <a:solidFill>
                  <a:srgbClr val="24313F"/>
                </a:solidFill>
                <a:latin typeface="Calibri" pitchFamily="34" charset="0"/>
                <a:ea typeface="Calibri" pitchFamily="34" charset="-122"/>
                <a:cs typeface="Calibri" pitchFamily="34" charset="-120"/>
              </a:rPr>
              <a:t>The framework evaluated thousands of configurations at a fraction of the computational cost of CFD-based optimization</a:t>
            </a:r>
            <a:endParaRPr lang="en-US" sz="1130" dirty="0"/>
          </a:p>
          <a:p>
            <a:pPr marL="177800" indent="-177800">
              <a:lnSpc>
                <a:spcPct val="108000"/>
              </a:lnSpc>
              <a:spcAft>
                <a:spcPts val="500"/>
              </a:spcAft>
              <a:buSzPct val="100000"/>
              <a:buChar char="●"/>
            </a:pPr>
            <a:r>
              <a:rPr lang="en-US" sz="1130" dirty="0">
                <a:solidFill>
                  <a:srgbClr val="24313F"/>
                </a:solidFill>
                <a:latin typeface="Calibri" pitchFamily="34" charset="0"/>
                <a:ea typeface="Calibri" pitchFamily="34" charset="-122"/>
                <a:cs typeface="Calibri" pitchFamily="34" charset="-120"/>
              </a:rPr>
              <a:t>Provides a reliable, fast and computationally efficient alternative to traditional simulation-based aerodynamic design</a:t>
            </a:r>
            <a:endParaRPr lang="en-US" sz="1130" dirty="0"/>
          </a:p>
        </p:txBody>
      </p:sp>
      <p:sp>
        <p:nvSpPr>
          <p:cNvPr id="9" name="Shape 7"/>
          <p:cNvSpPr/>
          <p:nvPr/>
        </p:nvSpPr>
        <p:spPr>
          <a:xfrm>
            <a:off x="6199632" y="1170432"/>
            <a:ext cx="5440680" cy="3520440"/>
          </a:xfrm>
          <a:prstGeom prst="roundRect">
            <a:avLst>
              <a:gd name="adj" fmla="val 2338"/>
            </a:avLst>
          </a:prstGeom>
          <a:solidFill>
            <a:srgbClr val="DDEBF8"/>
          </a:solidFill>
          <a:ln/>
          <a:effectLst>
            <a:outerShdw sx="100000" sy="100000" kx="0" ky="0" algn="bl" rotWithShape="0" blurRad="76200" dist="25400" dir="5400000">
              <a:srgbClr val="9CB7CC">
                <a:alpha val="28000"/>
              </a:srgbClr>
            </a:outerShdw>
          </a:effectLst>
        </p:spPr>
      </p:sp>
      <p:sp>
        <p:nvSpPr>
          <p:cNvPr id="10" name="Text 8"/>
          <p:cNvSpPr/>
          <p:nvPr/>
        </p:nvSpPr>
        <p:spPr>
          <a:xfrm>
            <a:off x="6455664" y="1316736"/>
            <a:ext cx="4928616" cy="292608"/>
          </a:xfrm>
          <a:prstGeom prst="rect">
            <a:avLst/>
          </a:prstGeom>
          <a:noFill/>
          <a:ln/>
        </p:spPr>
        <p:txBody>
          <a:bodyPr wrap="square"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Key Learnings &amp; Future Scope</a:t>
            </a:r>
            <a:endParaRPr lang="en-US" sz="1400" dirty="0"/>
          </a:p>
        </p:txBody>
      </p:sp>
      <p:sp>
        <p:nvSpPr>
          <p:cNvPr id="11" name="Text 9"/>
          <p:cNvSpPr/>
          <p:nvPr/>
        </p:nvSpPr>
        <p:spPr>
          <a:xfrm>
            <a:off x="6455664" y="1682496"/>
            <a:ext cx="4928616" cy="2880360"/>
          </a:xfrm>
          <a:prstGeom prst="rect">
            <a:avLst/>
          </a:prstGeom>
          <a:noFill/>
          <a:ln/>
        </p:spPr>
        <p:txBody>
          <a:bodyPr wrap="square" rtlCol="0" anchor="t"/>
          <a:lstStyle/>
          <a:p>
            <a:pPr marL="177800" indent="-177800">
              <a:lnSpc>
                <a:spcPct val="108000"/>
              </a:lnSpc>
              <a:spcAft>
                <a:spcPts val="500"/>
              </a:spcAft>
              <a:buSzPct val="100000"/>
              <a:buChar char="●"/>
            </a:pPr>
            <a:r>
              <a:rPr lang="en-US" sz="1130" dirty="0">
                <a:solidFill>
                  <a:srgbClr val="24313F"/>
                </a:solidFill>
                <a:latin typeface="Calibri" pitchFamily="34" charset="0"/>
                <a:ea typeface="Calibri" pitchFamily="34" charset="-122"/>
                <a:cs typeface="Calibri" pitchFamily="34" charset="-120"/>
              </a:rPr>
              <a:t>Gained hands-on experience in surrogate modelling, hyperparameter tuning, and validation using RMSE/R² metrics</a:t>
            </a:r>
            <a:endParaRPr lang="en-US" sz="1130" dirty="0"/>
          </a:p>
          <a:p>
            <a:pPr marL="177800" indent="-177800">
              <a:lnSpc>
                <a:spcPct val="108000"/>
              </a:lnSpc>
              <a:spcAft>
                <a:spcPts val="500"/>
              </a:spcAft>
              <a:buSzPct val="100000"/>
              <a:buChar char="●"/>
            </a:pPr>
            <a:r>
              <a:rPr lang="en-US" sz="1130" dirty="0">
                <a:solidFill>
                  <a:srgbClr val="24313F"/>
                </a:solidFill>
                <a:latin typeface="Calibri" pitchFamily="34" charset="0"/>
                <a:ea typeface="Calibri" pitchFamily="34" charset="-122"/>
                <a:cs typeface="Calibri" pitchFamily="34" charset="-120"/>
              </a:rPr>
              <a:t>Understood how mutation, crossover and selection guide Differential Evolution toward optimal, constraint-feasible designs</a:t>
            </a:r>
            <a:endParaRPr lang="en-US" sz="1130" dirty="0"/>
          </a:p>
          <a:p>
            <a:pPr marL="177800" indent="-177800">
              <a:lnSpc>
                <a:spcPct val="108000"/>
              </a:lnSpc>
              <a:spcAft>
                <a:spcPts val="500"/>
              </a:spcAft>
              <a:buSzPct val="100000"/>
              <a:buChar char="●"/>
            </a:pPr>
            <a:r>
              <a:rPr lang="en-US" sz="1130" dirty="0">
                <a:solidFill>
                  <a:srgbClr val="24313F"/>
                </a:solidFill>
                <a:latin typeface="Calibri" pitchFamily="34" charset="0"/>
                <a:ea typeface="Calibri" pitchFamily="34" charset="-122"/>
                <a:cs typeface="Calibri" pitchFamily="34" charset="-120"/>
              </a:rPr>
              <a:t>Realized how ML + evolutionary optimization together cut computational cost versus traditional CFD workflows</a:t>
            </a:r>
            <a:endParaRPr lang="en-US" sz="1130" dirty="0"/>
          </a:p>
          <a:p>
            <a:pPr marL="177800" indent="-177800">
              <a:lnSpc>
                <a:spcPct val="108000"/>
              </a:lnSpc>
              <a:spcAft>
                <a:spcPts val="500"/>
              </a:spcAft>
              <a:buSzPct val="100000"/>
              <a:buChar char="●"/>
            </a:pPr>
            <a:r>
              <a:rPr lang="en-US" sz="1130" dirty="0">
                <a:solidFill>
                  <a:srgbClr val="24313F"/>
                </a:solidFill>
                <a:latin typeface="Calibri" pitchFamily="34" charset="0"/>
                <a:ea typeface="Calibri" pitchFamily="34" charset="-122"/>
                <a:cs typeface="Calibri" pitchFamily="34" charset="-120"/>
              </a:rPr>
              <a:t>Future scope: extend the approach to more complex vehicle configurations and broaden training data coverage</a:t>
            </a:r>
            <a:endParaRPr lang="en-US" sz="1130" dirty="0"/>
          </a:p>
        </p:txBody>
      </p:sp>
      <p:sp>
        <p:nvSpPr>
          <p:cNvPr id="12" name="Shape 10"/>
          <p:cNvSpPr/>
          <p:nvPr/>
        </p:nvSpPr>
        <p:spPr>
          <a:xfrm>
            <a:off x="548640" y="4892040"/>
            <a:ext cx="11091672" cy="1234440"/>
          </a:xfrm>
          <a:prstGeom prst="roundRect">
            <a:avLst>
              <a:gd name="adj" fmla="val 7407"/>
            </a:avLst>
          </a:prstGeom>
          <a:solidFill>
            <a:srgbClr val="2E75B6"/>
          </a:solidFill>
          <a:ln/>
        </p:spPr>
      </p:sp>
      <p:sp>
        <p:nvSpPr>
          <p:cNvPr id="13" name="Text 11"/>
          <p:cNvSpPr/>
          <p:nvPr/>
        </p:nvSpPr>
        <p:spPr>
          <a:xfrm>
            <a:off x="868680" y="4892040"/>
            <a:ext cx="10451592" cy="1234440"/>
          </a:xfrm>
          <a:prstGeom prst="rect">
            <a:avLst/>
          </a:prstGeom>
          <a:noFill/>
          <a:ln/>
        </p:spPr>
        <p:txBody>
          <a:bodyPr wrap="square" rtlCol="0" anchor="ctr"/>
          <a:lstStyle/>
          <a:p>
            <a:pPr algn="ctr" indent="0" marL="0">
              <a:lnSpc>
                <a:spcPct val="120000"/>
              </a:lnSpc>
              <a:buNone/>
            </a:pPr>
            <a:r>
              <a:rPr lang="en-US" sz="1450" b="1" i="1" dirty="0">
                <a:solidFill>
                  <a:srgbClr val="FFFFFF"/>
                </a:solidFill>
                <a:latin typeface="Calibri" pitchFamily="34" charset="0"/>
                <a:ea typeface="Calibri" pitchFamily="34" charset="-122"/>
                <a:cs typeface="Calibri" pitchFamily="34" charset="-120"/>
              </a:rPr>
              <a:t>Machine learning–driven surrogate modelling combined with evolutionary optimization is a reliable, fast and computationally efficient alternative to conventional simulation-based aerodynamic design.</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2026-07-19T19:21:23Z</dcterms:created>
  <dcterms:modified xsi:type="dcterms:W3CDTF">2026-07-19T19:21:23Z</dcterms:modified>
</cp:coreProperties>
</file>