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463040"/>
            <a:ext cx="3840480" cy="3840480"/>
          </a:xfrm>
          <a:prstGeom prst="ellipse">
            <a:avLst/>
          </a:prstGeom>
          <a:solidFill>
            <a:srgbClr val="16294D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2743200" cy="2743200"/>
          </a:xfrm>
          <a:prstGeom prst="ellipse">
            <a:avLst/>
          </a:prstGeom>
          <a:solidFill>
            <a:srgbClr val="1629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DRDL INTERNSHIP PROJECT REPORT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498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Aerodynamic Design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for Aerospace Vehicles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Fusing Differential Evolution and Machine Learning (XGBoost) to design optimal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complete-envelope aerodynamic configurations — Project CARS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ALGORITHMS   •   MACHINE LEARNING   •   CFD / DATCOM DATA   •   SHAPE OPTIMIZATION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732520" y="1280160"/>
            <a:ext cx="2834640" cy="41605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-1080000">
            <a:off x="9372600" y="2862072"/>
            <a:ext cx="1234440" cy="82296"/>
          </a:xfrm>
          <a:prstGeom prst="rect">
            <a:avLst/>
          </a:prstGeom>
          <a:solidFill>
            <a:srgbClr val="D9C9AE"/>
          </a:solidFill>
          <a:ln w="9525">
            <a:solidFill>
              <a:srgbClr val="B8A6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">
            <a:off x="9372600" y="2862072"/>
            <a:ext cx="1234440" cy="82296"/>
          </a:xfrm>
          <a:prstGeom prst="rect">
            <a:avLst/>
          </a:prstGeom>
          <a:solidFill>
            <a:srgbClr val="D9C9AE"/>
          </a:solidFill>
          <a:ln w="9525">
            <a:solidFill>
              <a:srgbClr val="B8A6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89720" y="2770632"/>
            <a:ext cx="1737360" cy="219456"/>
          </a:xfrm>
          <a:prstGeom prst="roundRect">
            <a:avLst>
              <a:gd name="adj" fmla="val 20833"/>
            </a:avLst>
          </a:prstGeom>
          <a:solidFill>
            <a:srgbClr val="B9C6DA"/>
          </a:solidFill>
          <a:ln w="12700">
            <a:solidFill>
              <a:srgbClr val="1020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6200000">
            <a:off x="8897112" y="2770632"/>
            <a:ext cx="292608" cy="219456"/>
          </a:xfrm>
          <a:prstGeom prst="triangle">
            <a:avLst/>
          </a:prstGeom>
          <a:solidFill>
            <a:srgbClr val="D9A441"/>
          </a:solidFill>
          <a:ln w="12700">
            <a:solidFill>
              <a:srgbClr val="1020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72216" y="2624328"/>
            <a:ext cx="201168" cy="146304"/>
          </a:xfrm>
          <a:prstGeom prst="triangle">
            <a:avLst/>
          </a:prstGeom>
          <a:solidFill>
            <a:srgbClr val="10203F"/>
          </a:solidFill>
          <a:ln/>
        </p:spPr>
      </p:sp>
      <p:sp>
        <p:nvSpPr>
          <p:cNvPr id="14" name="Shape 12"/>
          <p:cNvSpPr/>
          <p:nvPr/>
        </p:nvSpPr>
        <p:spPr>
          <a:xfrm flipV="1">
            <a:off x="10872216" y="2990088"/>
            <a:ext cx="201168" cy="146304"/>
          </a:xfrm>
          <a:prstGeom prst="triangle">
            <a:avLst/>
          </a:prstGeom>
          <a:solidFill>
            <a:srgbClr val="10203F"/>
          </a:solidFill>
          <a:ln/>
        </p:spPr>
      </p:sp>
      <p:sp>
        <p:nvSpPr>
          <p:cNvPr id="15" name="Text 13"/>
          <p:cNvSpPr/>
          <p:nvPr/>
        </p:nvSpPr>
        <p:spPr>
          <a:xfrm>
            <a:off x="8732520" y="3383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   •   BODY   •   WING   •   TAIL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915400" y="45720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missile-like aerospace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(Isometric view)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943600" cy="2331720"/>
          </a:xfrm>
          <a:prstGeom prst="roundRect">
            <a:avLst>
              <a:gd name="adj" fmla="val 3529"/>
            </a:avLst>
          </a:prstGeom>
          <a:solidFill>
            <a:srgbClr val="F5F7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25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configuration design today fuses empirical, numerical and experimental data through iterative human experience — a process that often converges on a </a:t>
            </a:r>
            <a:pPr indent="0" marL="0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sub-optimal</a:t>
            </a:r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design rather than the best achievable one across the full flight envelope (Mach, incidence, altitude).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5943600" cy="2606040"/>
          </a:xfrm>
          <a:prstGeom prst="roundRect">
            <a:avLst>
              <a:gd name="adj" fmla="val 3158"/>
            </a:avLst>
          </a:prstGeom>
          <a:solidFill>
            <a:srgbClr val="F5F7F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840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design loop: Differential Evolution searches the 15-parameter geometry space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fitness function: an XGBoost ML model — trained on Datcom-generated aerodynamic data — predicts CL, CD and XCP for any candidate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sets priority-weights and hard/soft constraints across the flight envelope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1143000"/>
            <a:ext cx="4800600" cy="3246120"/>
          </a:xfrm>
          <a:prstGeom prst="roundRect">
            <a:avLst>
              <a:gd name="adj" fmla="val 2535"/>
            </a:avLst>
          </a:prstGeom>
          <a:solidFill>
            <a:srgbClr val="10203F"/>
          </a:solidFill>
          <a:ln/>
        </p:spPr>
      </p:sp>
      <p:sp>
        <p:nvSpPr>
          <p:cNvPr id="10" name="Shape 8"/>
          <p:cNvSpPr/>
          <p:nvPr/>
        </p:nvSpPr>
        <p:spPr>
          <a:xfrm>
            <a:off x="7269480" y="1536192"/>
            <a:ext cx="1170432" cy="365760"/>
          </a:xfrm>
          <a:prstGeom prst="roundRect">
            <a:avLst>
              <a:gd name="adj" fmla="val 15000"/>
            </a:avLst>
          </a:prstGeom>
          <a:solidFill>
            <a:srgbClr val="EA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1536192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0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531352" y="1536192"/>
            <a:ext cx="1298448" cy="365760"/>
          </a:xfrm>
          <a:prstGeom prst="roundRect">
            <a:avLst>
              <a:gd name="adj" fmla="val 15000"/>
            </a:avLst>
          </a:prstGeom>
          <a:solidFill>
            <a:srgbClr val="EA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31352" y="153619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0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9921240" y="1536192"/>
            <a:ext cx="1325880" cy="365760"/>
          </a:xfrm>
          <a:prstGeom prst="roundRect">
            <a:avLst>
              <a:gd name="adj" fmla="val 15000"/>
            </a:avLst>
          </a:prstGeom>
          <a:solidFill>
            <a:srgbClr val="EA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21240" y="153619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0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572500" y="2103120"/>
            <a:ext cx="86868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8572500" y="21031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50124" y="1901952"/>
            <a:ext cx="9144" cy="100584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76004" y="1901952"/>
            <a:ext cx="9144" cy="100584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79608" y="1901952"/>
            <a:ext cx="9144" cy="100584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54696" y="2002536"/>
            <a:ext cx="2729484" cy="9144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2268" y="2002536"/>
            <a:ext cx="9144" cy="100584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02268" y="2560320"/>
            <a:ext cx="9144" cy="32004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6760" y="288036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D9A441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2880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DATA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002268" y="3227832"/>
            <a:ext cx="9144" cy="164592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17536" y="3392424"/>
            <a:ext cx="2980944" cy="9144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12964" y="3392424"/>
            <a:ext cx="9144" cy="128016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9480" y="3520440"/>
            <a:ext cx="896112" cy="365760"/>
          </a:xfrm>
          <a:prstGeom prst="roundRect">
            <a:avLst>
              <a:gd name="adj" fmla="val 15000"/>
            </a:avLst>
          </a:prstGeom>
          <a:solidFill>
            <a:srgbClr val="EA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520440"/>
            <a:ext cx="896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673084" y="3392424"/>
            <a:ext cx="9144" cy="128016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3520440"/>
            <a:ext cx="896112" cy="365760"/>
          </a:xfrm>
          <a:prstGeom prst="roundRect">
            <a:avLst>
              <a:gd name="adj" fmla="val 15000"/>
            </a:avLst>
          </a:prstGeom>
          <a:solidFill>
            <a:srgbClr val="EA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3520440"/>
            <a:ext cx="896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633204" y="3392424"/>
            <a:ext cx="9144" cy="128016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89720" y="3520440"/>
            <a:ext cx="896112" cy="365760"/>
          </a:xfrm>
          <a:prstGeom prst="roundRect">
            <a:avLst>
              <a:gd name="adj" fmla="val 15000"/>
            </a:avLst>
          </a:prstGeom>
          <a:solidFill>
            <a:srgbClr val="EA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9720" y="3520440"/>
            <a:ext cx="896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693908" y="3392424"/>
            <a:ext cx="9144" cy="128016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49840" y="352044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EA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49840" y="3520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40880" y="402336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Data Science: the 4th paradigm of science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58000" y="4617720"/>
            <a:ext cx="1536192" cy="1645920"/>
          </a:xfrm>
          <a:prstGeom prst="roundRect">
            <a:avLst>
              <a:gd name="adj" fmla="val 4762"/>
            </a:avLst>
          </a:prstGeom>
          <a:solidFill>
            <a:srgbClr val="F5F7FC"/>
          </a:solidFill>
          <a:ln/>
        </p:spPr>
      </p:sp>
      <p:sp>
        <p:nvSpPr>
          <p:cNvPr id="42" name="Text 40"/>
          <p:cNvSpPr/>
          <p:nvPr/>
        </p:nvSpPr>
        <p:spPr>
          <a:xfrm>
            <a:off x="6912864" y="480060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912864" y="548640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variables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49640" y="4617720"/>
            <a:ext cx="1536192" cy="1645920"/>
          </a:xfrm>
          <a:prstGeom prst="roundRect">
            <a:avLst>
              <a:gd name="adj" fmla="val 4762"/>
            </a:avLst>
          </a:prstGeom>
          <a:solidFill>
            <a:srgbClr val="F5F7FC"/>
          </a:solidFill>
          <a:ln/>
        </p:spPr>
      </p:sp>
      <p:sp>
        <p:nvSpPr>
          <p:cNvPr id="45" name="Text 43"/>
          <p:cNvSpPr/>
          <p:nvPr/>
        </p:nvSpPr>
        <p:spPr>
          <a:xfrm>
            <a:off x="8604504" y="480060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10,010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604504" y="548640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241280" y="4617720"/>
            <a:ext cx="1536192" cy="1645920"/>
          </a:xfrm>
          <a:prstGeom prst="roundRect">
            <a:avLst>
              <a:gd name="adj" fmla="val 4762"/>
            </a:avLst>
          </a:prstGeom>
          <a:solidFill>
            <a:srgbClr val="F5F7FC"/>
          </a:solidFill>
          <a:ln/>
        </p:spPr>
      </p:sp>
      <p:sp>
        <p:nvSpPr>
          <p:cNvPr id="48" name="Text 46"/>
          <p:cNvSpPr/>
          <p:nvPr/>
        </p:nvSpPr>
        <p:spPr>
          <a:xfrm>
            <a:off x="10296144" y="480060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 0.2–0.8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10296144" y="5486400"/>
            <a:ext cx="1426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envelope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set out by the DRDL scientist / user team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63624"/>
            <a:ext cx="502920" cy="502920"/>
          </a:xfrm>
          <a:prstGeom prst="ellipse">
            <a:avLst/>
          </a:prstGeom>
          <a:solidFill>
            <a:srgbClr val="10203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63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49047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methodology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206240" y="1490472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methodology to predict aerodynamic parameters using Machine Learning / Deep Learning.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1110996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96312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4231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of ML predictions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206240" y="24231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ML-based prediction methodology against existing CFD / experimental results for the configuration.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1110996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0203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35584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 optimization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206240" y="335584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the aerospace vehicle configuration within the design space at a fixed flight condition.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261104"/>
            <a:ext cx="1110996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361688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61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4288536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check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206240" y="4288536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code and methodology for an unknown vehicle configuration.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193792"/>
            <a:ext cx="1110996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294376"/>
            <a:ext cx="502920" cy="502920"/>
          </a:xfrm>
          <a:prstGeom prst="ellipse">
            <a:avLst/>
          </a:prstGeom>
          <a:solidFill>
            <a:srgbClr val="10203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294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5221224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206240" y="5221224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complete documentation covering methodology, tools, techniques and results.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surrogate accuracy and optimized aerodynamic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5F7FC"/>
          </a:solidFill>
          <a:ln/>
        </p:spPr>
      </p:sp>
      <p:pic>
        <p:nvPicPr>
          <p:cNvPr id="5" name="Image 0" descr="/home/claude/pptx_build/assets/pred_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894" y="1417320"/>
            <a:ext cx="1961933" cy="1874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3192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— Predicted vs Actual CL   (R² = 0.9994)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251960" y="128016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5F7FC"/>
          </a:solidFill>
          <a:ln/>
        </p:spPr>
      </p:sp>
      <p:pic>
        <p:nvPicPr>
          <p:cNvPr id="8" name="Image 1" descr="/home/claude/pptx_build/assets/pred_c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621" y="1417320"/>
            <a:ext cx="1993119" cy="1874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3400" y="33192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6 — Predicted vs Actual CD   (R² = 0.9996)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7955280" y="1280160"/>
            <a:ext cx="3703320" cy="2331720"/>
          </a:xfrm>
          <a:prstGeom prst="roundRect">
            <a:avLst>
              <a:gd name="adj" fmla="val 3137"/>
            </a:avLst>
          </a:prstGeom>
          <a:solidFill>
            <a:srgbClr val="10203F"/>
          </a:solidFill>
          <a:ln/>
        </p:spPr>
      </p:sp>
      <p:sp>
        <p:nvSpPr>
          <p:cNvPr id="11" name="Text 7"/>
          <p:cNvSpPr/>
          <p:nvPr/>
        </p:nvSpPr>
        <p:spPr>
          <a:xfrm>
            <a:off x="8138160" y="141732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8138160" y="2212848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CL/CD improvement across the Mach range (α = 3–8°), for only ~1.7% weight increase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5532120" cy="260604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/>
        </p:spPr>
      </p:sp>
      <p:pic>
        <p:nvPicPr>
          <p:cNvPr id="14" name="Image 2" descr="/home/claude/pptx_build/assets/clcd_unif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075" y="3931920"/>
            <a:ext cx="3257250" cy="2057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" y="594360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9a — CL/CD vs α, Mach 0.8 (Uniform weights)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263640" y="3794760"/>
            <a:ext cx="5532120" cy="260604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/>
        </p:spPr>
      </p:sp>
      <p:pic>
        <p:nvPicPr>
          <p:cNvPr id="17" name="Image 3" descr="/home/claude/pptx_build/assets/clcd_vari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003" y="3931920"/>
            <a:ext cx="3247394" cy="2057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55080" y="594360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9b — CL/CD vs α, Mach 0.8 (Variable weights)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4754880"/>
            <a:ext cx="3108960" cy="3108960"/>
          </a:xfrm>
          <a:prstGeom prst="ellipse">
            <a:avLst/>
          </a:prstGeom>
          <a:solidFill>
            <a:srgbClr val="1629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Path Forward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5257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Full-envelope methodology for optimal design of a complete, multi-component aerospace configuration — in one pass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Designer-set priority weights and hard/soft constraints per flight condition and component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Differential Evolution loop paired with an XGBoost fitness function — both physics-blind, entirely data-driven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is agnostic to complexity, flow regime and constraints — limited only by the fidelity of the underlying aerodynamic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5257800" cy="1463040"/>
          </a:xfrm>
          <a:prstGeom prst="roundRect">
            <a:avLst>
              <a:gd name="adj" fmla="val 5625"/>
            </a:avLst>
          </a:prstGeom>
          <a:solidFill>
            <a:srgbClr val="16294D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84632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NEXT: PHYSICS-INFORMED ML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51560" y="5138928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the Aerodynamic Data Generation, Fitness Function and Evolutionary Design phases into one unified, physics-informed system — and extending to true multi-objective optimization.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280160"/>
            <a:ext cx="512064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5087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AT A GLANCE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1965960"/>
            <a:ext cx="384048" cy="384048"/>
          </a:xfrm>
          <a:prstGeom prst="ellipse">
            <a:avLst/>
          </a:prstGeom>
          <a:solidFill>
            <a:srgbClr val="10203F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1911096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Datcom aerodynamic data generated across 15 geometry variables &amp; 110 flight conditions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2907792"/>
            <a:ext cx="384048" cy="384048"/>
          </a:xfrm>
          <a:prstGeom prst="ellipse">
            <a:avLst/>
          </a:prstGeom>
          <a:solidFill>
            <a:srgbClr val="10203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907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0" y="285292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trained as a fast surrogate for CL, CD, XCP  (R² &gt; 0.99)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3849624"/>
            <a:ext cx="384048" cy="384048"/>
          </a:xfrm>
          <a:prstGeom prst="ellipse">
            <a:avLst/>
          </a:prstGeom>
          <a:solidFill>
            <a:srgbClr val="10203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3849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0" y="37947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Evolution searches geometry space using XGBoost as the fitness function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4791456"/>
            <a:ext cx="384048" cy="384048"/>
          </a:xfrm>
          <a:prstGeom prst="ellipse">
            <a:avLst/>
          </a:prstGeom>
          <a:solidFill>
            <a:srgbClr val="10203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791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473659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configuration validated: CL/CD gains up to 67%, weight penalty ~1.7%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2026-07-14T18:20:57Z</dcterms:created>
  <dcterms:modified xsi:type="dcterms:W3CDTF">2026-07-14T18:20:57Z</dcterms:modified>
</cp:coreProperties>
</file>