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5875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371600"/>
            <a:ext cx="4663440" cy="4663440"/>
          </a:xfrm>
          <a:prstGeom prst="ellipse">
            <a:avLst/>
          </a:prstGeom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731520"/>
            <a:ext cx="3383280" cy="3383280"/>
          </a:xfrm>
          <a:prstGeom prst="ellipse">
            <a:avLst/>
          </a:prstGeom>
          <a:ln w="12700">
            <a:solidFill>
              <a:srgbClr val="FFB40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Aerodynamic Configuration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Aerospace Vehicles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using Machine Learning Surrogate Modelling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 and Differential Evolution Optimization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786384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864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48646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Veldi Sai Krishna — B.Tech CSE (AI &amp; ML)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5175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51755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Nanak Institutions Technical Campus, Hyderabad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54864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Centre Imarat (RCI), DRDO  |  Mentor: Kalidasu, Scientist 'E'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5797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57972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September 2025 – 27 February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Overview, Problem Statement &amp; Objectives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532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develops a prediction methodology for aerodynamic parameters (CL, CD, XCP) using Machine Learning, validates it against CFD/experimental (Datcom) data, and uses it to shape-optimize an aerospace vehicle configuration — replacing repeated, costly simulation with a fast ML surrogate + optimizer.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35808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aerodynamic configuration is arrived at through a fusion of empirical, numerical and experimental methods, plus experience from a baseline design — a process that is often sub-optimal. Data Science offers a way to instead pursue a truly optimal aerodynamic configuration design.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5508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1609344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1472184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146304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prediction methodology for aerodynamic parameters using ML / Deep Learning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55080" y="2258568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245059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313432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30428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ML-based methodology against existing CFD / experimental results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355080" y="3099816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3291840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154680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Optimize: 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314553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Shape-optimize the aerospace vehicle configuration at a fixed flight condition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355080" y="3941064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672" y="4133088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519672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3995928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Generalize: 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398678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code / methodology for an unknown vehicle configuration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355080" y="4782312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4974336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4837176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482803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methodology, tools and results (this deliverable)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Architecture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“missile-like” configuration (Nose-Wing-Body-Tail), 15 geometry variables modulated → Datcom-generated data across 110 flight conditions (Mach 0.2–0.8, incidence 0– 20°, 2 altitudes) → ~10,000 samples used to train an XGBoost surrogate driving a Differential Evolution search.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76479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bounds,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conditions,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bounds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2025396"/>
            <a:ext cx="256032" cy="201168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11" name="Shape 9"/>
          <p:cNvSpPr/>
          <p:nvPr/>
        </p:nvSpPr>
        <p:spPr>
          <a:xfrm>
            <a:off x="2542032" y="169164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615184" y="176479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5184" y="2148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Datcom: 15 geometry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 × 110 flight pts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25112" y="2025396"/>
            <a:ext cx="256032" cy="201168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1144" y="169164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296" y="176479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54296" y="2148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geometry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(p members)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72100" y="2606040"/>
            <a:ext cx="201168" cy="292608"/>
          </a:xfrm>
          <a:prstGeom prst="downArrow">
            <a:avLst/>
          </a:prstGeom>
          <a:solidFill>
            <a:srgbClr val="5B6178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017520"/>
            <a:ext cx="7818120" cy="2331720"/>
          </a:xfrm>
          <a:prstGeom prst="roundRect">
            <a:avLst>
              <a:gd name="adj" fmla="val 3137"/>
            </a:avLst>
          </a:prstGeom>
          <a:solidFill>
            <a:srgbClr val="F4F5FA"/>
          </a:solidFill>
          <a:ln w="15875">
            <a:solidFill>
              <a:srgbClr val="00B4D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85800" y="30906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— Differential Evolution (per generation, per candidate)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Vector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3544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X + K(Xbest−X)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F(Xb−Xc)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0" y="3954780"/>
            <a:ext cx="201168" cy="182880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61488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26" name="Text 24"/>
          <p:cNvSpPr/>
          <p:nvPr/>
        </p:nvSpPr>
        <p:spPr>
          <a:xfrm>
            <a:off x="2816352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16352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vector;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scaled by rank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53128" y="3954780"/>
            <a:ext cx="201168" cy="182880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29" name="Shape 27"/>
          <p:cNvSpPr/>
          <p:nvPr/>
        </p:nvSpPr>
        <p:spPr>
          <a:xfrm>
            <a:off x="4654296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Gene-wise swap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45936" y="3954780"/>
            <a:ext cx="201168" cy="182880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547104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68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01968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vs target;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fitter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5800" y="4681728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checked: wing semi-span = 1500 fixed  •  body length ≥ tail LE + tail root chord  •  CD ≥ 0.12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49640" y="301752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714232" y="31089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— Fitness Function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(XGBoost, per flight condition)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50808" y="37033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8988552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110 flight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(Mach, α, Alt)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750808" y="4105656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8988552" y="39867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CL, CD, XCP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8750808" y="4507992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8988552" y="4389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across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flight conditions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8750808" y="4910328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8988552" y="4791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0.95·F1(CL/CD)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+ 0.05·F2(XCP target)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8321040" y="4183380"/>
            <a:ext cx="22860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2920" y="566928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669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Traversed all candidates &amp; generation limit?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40480" y="5852160"/>
            <a:ext cx="365760" cy="201168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51" name="Shape 49"/>
          <p:cNvSpPr/>
          <p:nvPr/>
        </p:nvSpPr>
        <p:spPr>
          <a:xfrm>
            <a:off x="4251960" y="5669280"/>
            <a:ext cx="3794760" cy="566928"/>
          </a:xfrm>
          <a:prstGeom prst="roundRect">
            <a:avLst>
              <a:gd name="adj" fmla="val 48387"/>
            </a:avLst>
          </a:prstGeom>
          <a:solidFill>
            <a:srgbClr val="FFB400"/>
          </a:solidFill>
          <a:ln/>
        </p:spPr>
      </p:sp>
      <p:sp>
        <p:nvSpPr>
          <p:cNvPr id="52" name="Text 50"/>
          <p:cNvSpPr/>
          <p:nvPr/>
        </p:nvSpPr>
        <p:spPr>
          <a:xfrm>
            <a:off x="4251960" y="56692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Configuration with best fitness (optimal geometry)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549640" y="566928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0" y="56692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Ensemble XGBoost (5 seeded models, averaged) &amp; MLP Regressor for CN/CM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Discussion, Recommendations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plots from the internship report (docx) — Ensemble XGBoost (CL, CD, XCP) and MLP Regressor (CN, CM)</a:t>
            </a:r>
            <a:endParaRPr lang="en-US" sz="1000" dirty="0"/>
          </a:p>
        </p:txBody>
      </p:sp>
      <p:pic>
        <p:nvPicPr>
          <p:cNvPr id="7" name="Image 0" descr="/home/claude/ppt/assets/cl_ensem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1958873" cy="1874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298448"/>
            <a:ext cx="1958873" cy="1874520"/>
          </a:xfrm>
          <a:prstGeom prst="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209544"/>
            <a:ext cx="195887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— Ensemble XGBoost (R² train 1.0000 / test 0.9998)</a:t>
            </a:r>
            <a:endParaRPr lang="en-US" sz="780" dirty="0"/>
          </a:p>
        </p:txBody>
      </p:sp>
      <p:pic>
        <p:nvPicPr>
          <p:cNvPr id="10" name="Image 1" descr="/home/claude/ppt/assets/cd_ensem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097" y="1298448"/>
            <a:ext cx="1958873" cy="1874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08097" y="1298448"/>
            <a:ext cx="1958873" cy="1874520"/>
          </a:xfrm>
          <a:prstGeom prst="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08097" y="3209544"/>
            <a:ext cx="195887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Ensemble XGBoost (R² train 1.0000 / test 0.9998)</a:t>
            </a:r>
            <a:endParaRPr lang="en-US" sz="780" dirty="0"/>
          </a:p>
        </p:txBody>
      </p:sp>
      <p:pic>
        <p:nvPicPr>
          <p:cNvPr id="13" name="Image 2" descr="/home/claude/ppt/assets/xcp_ensem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275" y="1298448"/>
            <a:ext cx="1958873" cy="18745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13275" y="1298448"/>
            <a:ext cx="1958873" cy="1874520"/>
          </a:xfrm>
          <a:prstGeom prst="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713275" y="3209544"/>
            <a:ext cx="195887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XCP — Ensemble XGBoost (R² train 1.0000 / test 1.0000)</a:t>
            </a:r>
            <a:endParaRPr lang="en-US" sz="780" dirty="0"/>
          </a:p>
        </p:txBody>
      </p:sp>
      <p:pic>
        <p:nvPicPr>
          <p:cNvPr id="16" name="Image 3" descr="/home/claude/ppt/assets/cn_ml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75888"/>
            <a:ext cx="1958873" cy="18745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2920" y="3675888"/>
            <a:ext cx="1958873" cy="1874520"/>
          </a:xfrm>
          <a:prstGeom prst="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02920" y="5586984"/>
            <a:ext cx="195887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— MLP Regressor (R² train 0.9997 / test 0.9995)</a:t>
            </a:r>
            <a:endParaRPr lang="en-US" sz="780" dirty="0"/>
          </a:p>
        </p:txBody>
      </p:sp>
      <p:pic>
        <p:nvPicPr>
          <p:cNvPr id="19" name="Image 4" descr="/home/claude/ppt/assets/cm_ml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097" y="3675888"/>
            <a:ext cx="1958873" cy="18745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608097" y="3675888"/>
            <a:ext cx="1958873" cy="1874520"/>
          </a:xfrm>
          <a:prstGeom prst="rect">
            <a:avLst/>
          </a:prstGeom>
          <a:ln w="12700">
            <a:solidFill>
              <a:srgbClr val="D9DEEC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608097" y="5586984"/>
            <a:ext cx="195887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— MLP Regressor (R² train 0.9996 / test 0.9995)</a:t>
            </a:r>
            <a:endParaRPr lang="en-US" sz="780" dirty="0"/>
          </a:p>
        </p:txBody>
      </p:sp>
      <p:sp>
        <p:nvSpPr>
          <p:cNvPr id="22" name="Text 15"/>
          <p:cNvSpPr/>
          <p:nvPr/>
        </p:nvSpPr>
        <p:spPr>
          <a:xfrm>
            <a:off x="6992188" y="1298448"/>
            <a:ext cx="474230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992188" y="1572768"/>
            <a:ext cx="4742307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96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CL/CD improvement ≈ 67% (incidence 3–8°) on the redesigned baseline geometry</a:t>
            </a:r>
            <a:endParaRPr lang="en-US" sz="96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96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~1.7% increase in structural weight (Steel AISI 304) — DRDL-validated against real Datcom runs</a:t>
            </a:r>
            <a:endParaRPr lang="en-US" sz="96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96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XGBoost (5 seeded models, averaged) and MLP Regressor (64,64 ReLU) both confirm the primary model's high accuracy</a:t>
            </a:r>
            <a:endParaRPr lang="en-US" sz="960" dirty="0"/>
          </a:p>
        </p:txBody>
      </p:sp>
      <p:sp>
        <p:nvSpPr>
          <p:cNvPr id="24" name="Shape 17"/>
          <p:cNvSpPr/>
          <p:nvPr/>
        </p:nvSpPr>
        <p:spPr>
          <a:xfrm>
            <a:off x="6992188" y="3246120"/>
            <a:ext cx="4742307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25" name="Text 18"/>
          <p:cNvSpPr/>
          <p:nvPr/>
        </p:nvSpPr>
        <p:spPr>
          <a:xfrm>
            <a:off x="7175068" y="3355848"/>
            <a:ext cx="437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/ SOLUTION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175068" y="3630168"/>
            <a:ext cx="4376547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constrained XGBoost + Differential Evolution pipeline as the standard design tool. It is “physics-blind” — physics lives in the training data — so it extends to any configuration or flight regime, limited only by data accuracy.</a:t>
            </a:r>
            <a:endParaRPr lang="en-US" sz="930" dirty="0"/>
          </a:p>
        </p:txBody>
      </p:sp>
      <p:sp>
        <p:nvSpPr>
          <p:cNvPr id="27" name="Shape 20"/>
          <p:cNvSpPr/>
          <p:nvPr/>
        </p:nvSpPr>
        <p:spPr>
          <a:xfrm>
            <a:off x="6992188" y="4846320"/>
            <a:ext cx="1489329" cy="777240"/>
          </a:xfrm>
          <a:prstGeom prst="roundRect">
            <a:avLst>
              <a:gd name="adj" fmla="val 7059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037908" y="4910328"/>
            <a:ext cx="1397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1.00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037908" y="5303520"/>
            <a:ext cx="1397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CL/CD/XCP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8618677" y="4846320"/>
            <a:ext cx="1489329" cy="777240"/>
          </a:xfrm>
          <a:prstGeom prst="roundRect">
            <a:avLst>
              <a:gd name="adj" fmla="val 7059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664397" y="4910328"/>
            <a:ext cx="1397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664397" y="5303520"/>
            <a:ext cx="1397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CL/CD gain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10245166" y="4846320"/>
            <a:ext cx="1489329" cy="777240"/>
          </a:xfrm>
          <a:prstGeom prst="roundRect">
            <a:avLst>
              <a:gd name="adj" fmla="val 7059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0290886" y="4910328"/>
            <a:ext cx="1397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+1.7%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10290886" y="5303520"/>
            <a:ext cx="1397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Δ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6992188" y="5760720"/>
            <a:ext cx="474230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both the Ensemble XGBoost and MLP models confirm the surrogate captures non-linear CL/CD/XCP/CN/CM relationships with low error, supporting a reliable, low-cost alternative to CFD-based design.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methodology for optimal design of a complex aerospace vehicle configuration (multiple components) was developed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comprehensive — it optimizes across the complete flight envelope in one go, with user-settable priority weights per flight condition and hard/soft geometric constraints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(outer loop) coupled with an XGBoost fitness function (inner loop) reliably drives the search toward high-performance, physically valid configurations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“physics-blind” by design — the physics lives entirely in the training data — so it generalizes to other configurations and flight regimes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0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/ PROPOSED PLANS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— jointly maximize CN and CM/CD (noted in the source as future work, outside this project's scope)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Machine Learning — merge the Aerodynamic Data Generation, Fitness Function and Evolutionary Design phases into one unified system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surrogate coverage with the docx's Ensemble XGBoost and MLP (CN, CM) models for broader coefficient prediction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6692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669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51760" y="56692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surrogate modelling combined with evolutionary optimization is a reliable, fast and computationally efficient alternative to conventional simulation-based aerodynamic design.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2026-07-16T00:32:49Z</dcterms:created>
  <dcterms:modified xsi:type="dcterms:W3CDTF">2026-07-16T00:32:49Z</dcterms:modified>
</cp:coreProperties>
</file>