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(train)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</c:v>
                  </c:pt>
                  <c:pt idx="1">
                    <c:v>CD</c:v>
                  </c:pt>
                  <c:pt idx="2">
                    <c:v>XCP</c:v>
                  </c:pt>
                  <c:pt idx="3">
                    <c:v>CN</c:v>
                  </c:pt>
                  <c:pt idx="4">
                    <c:v>CM/CD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0.9994</c:v>
                </c:pt>
                <c:pt idx="1">
                  <c:v>0.9996</c:v>
                </c:pt>
                <c:pt idx="2">
                  <c:v>0.9998</c:v>
                </c:pt>
                <c:pt idx="3">
                  <c:v>0.9978</c:v>
                </c:pt>
                <c:pt idx="4">
                  <c:v>0.9924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(test)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</c:v>
                  </c:pt>
                  <c:pt idx="1">
                    <c:v>CD</c:v>
                  </c:pt>
                  <c:pt idx="2">
                    <c:v>XCP</c:v>
                  </c:pt>
                  <c:pt idx="3">
                    <c:v>CN</c:v>
                  </c:pt>
                  <c:pt idx="4">
                    <c:v>CM/CD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0.9994</c:v>
                </c:pt>
                <c:pt idx="1">
                  <c:v>0.9996</c:v>
                </c:pt>
                <c:pt idx="2">
                  <c:v>0.9451</c:v>
                </c:pt>
                <c:pt idx="3">
                  <c:v>0.8103</c:v>
                </c:pt>
                <c:pt idx="4">
                  <c:v>0.7669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E6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1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731520"/>
            <a:ext cx="3383280" cy="3383280"/>
          </a:xfrm>
          <a:prstGeom prst="ellipse">
            <a:avLst/>
          </a:prstGeom>
          <a:ln w="12700">
            <a:solidFill>
              <a:srgbClr val="FFB4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Aerodynamic Configuration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Aerospace Vehicles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using Machine Learning Surrogate Modelling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 and Differential Evolution Optimization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786384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864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48646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Veldi Sai Krishna — B.Tech CSE (AI &amp; ML)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5175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51755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Nanak Institutions Technical Campus, Hyderabad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5486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Centre Imarat (RCI), DRDO  |  Mentor: Kalidasu, Scientist 'E'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5797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57972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September 2025 – 27 February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Overview, Problem Statement &amp;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532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 prediction methodology for aerodynamic parameters (CL, CD, XCP) using Machine Learning, validates it against CFD/experimental (Datcom) data, and uses it to shape-optimize an aerospace vehicle configuration — replacing repeated, costly simulation with a fast ML surrogate + optimizer.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5321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35808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aerodynamic configuration is arrived at through a fusion of empirical, numerical and experimental methods, plus experience from a baseline design — a process that is often sub-optimal. Data Science offers a way to instead pursue a truly optimal aerodynamic configuration design.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609344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1472184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146304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prediction methodology for aerodynamic parameters using ML / Deep Learning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2258568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45059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313432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30428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ML-based methodology against existing CFD / experimental results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355080" y="3099816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329184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154680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31455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Shape-optimize the aerospace vehicle configuration at a fixed flight condition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355080" y="3941064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4133088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519672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3995928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Generalize: 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398678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/ methodology for an unknown vehicle configuration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355080" y="4782312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9672" y="4974336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974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4837176"/>
            <a:ext cx="4617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482803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methodology, tools and results (this deliverable)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“missile-like” configuration (Nose-Wing-Body-Tail), 15 geometry variables modulated → Datcom-generated data across 110 flight conditions (Mach 0.2–0.8, incidence 0– 20°, 2 altitudes) → ~10,000 samples used to train an XGBoost surrogate driving a Differential Evolution search.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bounds,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conditions,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bounds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2025396"/>
            <a:ext cx="256032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11" name="Shape 9"/>
          <p:cNvSpPr/>
          <p:nvPr/>
        </p:nvSpPr>
        <p:spPr>
          <a:xfrm>
            <a:off x="2542032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15184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Datcom: 15 geometry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× 110 flight pts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25112" y="2025396"/>
            <a:ext cx="256032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1144" y="1691640"/>
            <a:ext cx="178308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764792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54296" y="2148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geometry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(p members)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72100" y="2606040"/>
            <a:ext cx="201168" cy="292608"/>
          </a:xfrm>
          <a:prstGeom prst="downArrow">
            <a:avLst/>
          </a:prstGeom>
          <a:solidFill>
            <a:srgbClr val="5B617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017520"/>
            <a:ext cx="7818120" cy="2331720"/>
          </a:xfrm>
          <a:prstGeom prst="roundRect">
            <a:avLst>
              <a:gd name="adj" fmla="val 3137"/>
            </a:avLst>
          </a:prstGeom>
          <a:solidFill>
            <a:srgbClr val="F4F5FA"/>
          </a:solidFill>
          <a:ln w="15875">
            <a:solidFill>
              <a:srgbClr val="00B4D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85800" y="30906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— Differential Evolution (per generation, per candidate)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Vector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X + K(Xbest−X)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F(Xb−Xc)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25" name="Shape 23"/>
          <p:cNvSpPr/>
          <p:nvPr/>
        </p:nvSpPr>
        <p:spPr>
          <a:xfrm>
            <a:off x="2761488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16352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vector;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scaled by rank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53128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29" name="Shape 27"/>
          <p:cNvSpPr/>
          <p:nvPr/>
        </p:nvSpPr>
        <p:spPr>
          <a:xfrm>
            <a:off x="4654296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Gene-wise swap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45936" y="3954780"/>
            <a:ext cx="201168" cy="182880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547104" y="35204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35935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01968" y="405079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vs target;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fitter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5800" y="4681728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checked: wing semi-span = 1500 fixed  •  body length ≥ tail LE + tail root chord  •  CD ≥ 0.12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49640" y="301752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714232" y="3108960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— Fitness Function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(XGBoost, per flight condition)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50808" y="37033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8988552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110 flight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(Mach, α, Alt)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750808" y="4105656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988552" y="39867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CD, XCP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8750808" y="4507992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8988552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across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flight conditions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8750808" y="4910328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8988552" y="4791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0.95·F1(CL/CD)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+ 0.05·F2(XCP target)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8321040" y="4183380"/>
            <a:ext cx="22860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2920" y="5669280"/>
            <a:ext cx="3291840" cy="566928"/>
          </a:xfrm>
          <a:prstGeom prst="roundRect">
            <a:avLst>
              <a:gd name="adj" fmla="val 48387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6692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Traversed all candidates &amp; generation limit?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0" y="5852160"/>
            <a:ext cx="365760" cy="201168"/>
          </a:xfrm>
          <a:prstGeom prst="rightArrow">
            <a:avLst/>
          </a:prstGeom>
          <a:solidFill>
            <a:srgbClr val="5B6178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960" y="5669280"/>
            <a:ext cx="3794760" cy="566928"/>
          </a:xfrm>
          <a:prstGeom prst="roundRect">
            <a:avLst>
              <a:gd name="adj" fmla="val 48387"/>
            </a:avLst>
          </a:prstGeom>
          <a:solidFill>
            <a:srgbClr val="FFB400"/>
          </a:solidFill>
          <a:ln/>
        </p:spPr>
      </p:sp>
      <p:sp>
        <p:nvSpPr>
          <p:cNvPr id="52" name="Text 50"/>
          <p:cNvSpPr/>
          <p:nvPr/>
        </p:nvSpPr>
        <p:spPr>
          <a:xfrm>
            <a:off x="4251960" y="56692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Configuration with best fitness (optimal geometry)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49640" y="566928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5669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Ensemble XGBoost (5 seeded models, averaged) &amp; MLP Regressor for CN/CM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Discussion, Recommendations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 Accuracy (R²)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7160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79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CD (PDF Fig. 5-6) • XCP (Fig. 11, 15 samples) • CN, CM/CD (Fig. 12, 61 samples) — small-sample test spread noted in source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63640" y="10515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63640" y="137160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improvement ≈ 67% (incidence 3–8°) for the redesigned baseline geometry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~1.7% increase in structural weight (Steel AISI 304) — DRDL-validated against real Datcom runs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search evaluated thousands of candidates at near-zero cost vs. repeated CFD/Datcom runs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8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Specific-point optimization: min-XCP = 9.99, max-CN = 0.54, max-CM/CD = 7.67 (3-variable studies)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63640" y="315468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2735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/ SOLUTION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constrained XGBoost + Differential Evolution pipeline as the standard design tool. It is “physics-blind” — all physics is encapsulated in the training data — so it extends to any configuration, flight regime or constraint set, limited only by the accuracy of the underlying aerodynamic data model.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6263640" y="452628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456285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0.99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36792" y="49377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&amp; CD accuracy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052560" y="452628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25712" y="456285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25712" y="49377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gain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1841480" y="452628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914632" y="456285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914632" y="49377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4630400" y="4526280"/>
            <a:ext cx="2606040" cy="6858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703552" y="4562856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4703552" y="493776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change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02920" y="5440680"/>
            <a:ext cx="11201400" cy="18288"/>
          </a:xfrm>
          <a:prstGeom prst="rect">
            <a:avLst/>
          </a:prstGeom>
          <a:solidFill>
            <a:srgbClr val="D9DEEC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 the ML surrogate captured non-linear CL/CD/XCP relationships with low RMSE; DE showed stable, monotonic convergence across generations, confirming a reliable, low-cost alternative to conventional CFD-based aerodynamic design.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14455" y="292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11414455" y="292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914400"/>
            <a:ext cx="548640" cy="4114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for optimal design of a complex aerospace vehicle configuration (multiple components) was developed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comprehensive — it optimizes across the complete flight envelope in one go, with user-settable priority weights per flight condition and hard/soft geometric constraints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(outer loop) coupled with an XGBoost fitness function (inner loop) reliably drives the search toward high-performance, physically valid configurations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“physics-blind” by design — the physics lives entirely in the training data — so it generalizes to other configurations and flight regimes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/ PROPOSED PLANS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— jointly maximize CN and CM/CD (noted in the source as future work, outside this project's scope)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 — merge the Aerodynamic Data Generation, Fitness Function and Evolutionary Design phases into one unified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surrogate coverage with the docx's Ensemble XGBoost and MLP (CN, CM) models for broader coefficient 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6692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669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56692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surrogate modelling combined with evolutionary optimization is a reliable, fast and computationally efficient alternative to conventional simulation-based aerodynamic design.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2026-07-15T23:49:51Z</dcterms:created>
  <dcterms:modified xsi:type="dcterms:W3CDTF">2026-07-15T23:49:51Z</dcterms:modified>
</cp:coreProperties>
</file>