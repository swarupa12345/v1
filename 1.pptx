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44506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4506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4506B"/>
                    </a:solidFill>
                    <a:latin typeface="Arial"/>
                  </a:rPr>
                  <a:t>Actual CL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4506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4506B"/>
                    </a:solidFill>
                    <a:latin typeface="Arial"/>
                  </a:rPr>
                  <a:t>Predicted CL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geometry</c:v>
                </c:pt>
              </c:strCache>
            </c:strRef>
          </c:tx>
          <c:spPr>
            <a:solidFill>
              <a:srgbClr val="C97A2B"/>
            </a:solidFill>
            <a:ln w="31750" cap="flat">
              <a:solidFill>
                <a:srgbClr val="C97A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7A2B"/>
              </a:solidFill>
              <a:ln w="9525" cap="flat">
                <a:solidFill>
                  <a:srgbClr val="C97A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8</c:v>
                </c:pt>
                <c:pt idx="2">
                  <c:v>14</c:v>
                </c:pt>
                <c:pt idx="3">
                  <c:v>15.5</c:v>
                </c:pt>
                <c:pt idx="4">
                  <c:v>13</c:v>
                </c:pt>
                <c:pt idx="5">
                  <c:v>10</c:v>
                </c:pt>
                <c:pt idx="6">
                  <c:v>7.5</c:v>
                </c:pt>
                <c:pt idx="7">
                  <c:v>6</c:v>
                </c:pt>
                <c:pt idx="8">
                  <c:v>5</c:v>
                </c:pt>
                <c:pt idx="9">
                  <c:v>4.3</c:v>
                </c:pt>
                <c:pt idx="10">
                  <c:v>3.8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DE-optimized geometry</c:v>
                </c:pt>
              </c:strCache>
            </c:strRef>
          </c:tx>
          <c:spPr>
            <a:solidFill>
              <a:srgbClr val="2E5F8A"/>
            </a:solidFill>
            <a:ln w="31750" cap="flat">
              <a:solidFill>
                <a:srgbClr val="2E5F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5F8A"/>
              </a:solidFill>
              <a:ln w="9525" cap="flat">
                <a:solidFill>
                  <a:srgbClr val="2E5F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14</c:v>
                </c:pt>
                <c:pt idx="2">
                  <c:v>24</c:v>
                </c:pt>
                <c:pt idx="3">
                  <c:v>26</c:v>
                </c:pt>
                <c:pt idx="4">
                  <c:v>22</c:v>
                </c:pt>
                <c:pt idx="5">
                  <c:v>17</c:v>
                </c:pt>
                <c:pt idx="6">
                  <c:v>12.5</c:v>
                </c:pt>
                <c:pt idx="7">
                  <c:v>9.5</c:v>
                </c:pt>
                <c:pt idx="8">
                  <c:v>7.5</c:v>
                </c:pt>
                <c:pt idx="9">
                  <c:v>6.2</c:v>
                </c:pt>
                <c:pt idx="10">
                  <c:v>5.2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4506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4506B"/>
                    </a:solidFill>
                    <a:latin typeface="Arial"/>
                  </a:rPr>
                  <a:t>Alpha (deg)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4506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4506B"/>
                    </a:solidFill>
                    <a:latin typeface="Arial"/>
                  </a:rPr>
                  <a:t>CL/CD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450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3" name="Shape 1"/>
          <p:cNvSpPr/>
          <p:nvPr/>
        </p:nvSpPr>
        <p:spPr>
          <a:xfrm rot="6000000">
            <a:off x="8503920" y="2286000"/>
            <a:ext cx="3291840" cy="2194560"/>
          </a:xfrm>
          <a:prstGeom prst="triangle">
            <a:avLst/>
          </a:prstGeom>
          <a:solidFill>
            <a:srgbClr val="2E5F8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6000000">
            <a:off x="9235440" y="1097280"/>
            <a:ext cx="2377440" cy="4389120"/>
          </a:xfrm>
          <a:prstGeom prst="triangle">
            <a:avLst/>
          </a:prstGeom>
          <a:solidFill>
            <a:srgbClr val="C97A2B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DRDL — CARS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</a:t>
            </a:r>
            <a:endParaRPr lang="en-US" sz="3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Aerospace Vehicles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using XGBoost Surrogate Modelling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Differential Evolution Optimization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4343400"/>
            <a:ext cx="2011680" cy="0"/>
          </a:xfrm>
          <a:prstGeom prst="line">
            <a:avLst/>
          </a:prstGeom>
          <a:noFill/>
          <a:ln w="28575">
            <a:solidFill>
              <a:srgbClr val="2E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61772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Veldi Sai Krishna, B.Tech CSE (AI &amp; ML)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Nanak Institutions Technical Campus, Hyderabad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Kalidasu, Scientist 'E', DRDL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Sept 2025 – 27 Feb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Problem Statement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1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70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DRDL initiated the CARS project to explore Data Science for the design of a complex "missile-like" aerospace vehicle (nose, wing, body, tail). A baseline configuration is refined using a fusion of theory, CFD/experimental data and machine learning to reach an optimal aerodynamic design.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19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639312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aerodynamic design relies on repeated, computationally expensive CFD simulations and experimental iterations, which are slow and often converge to a sub-optimal configuration. A methodology is needed that can predict aerodynamic performance rapidly and search the full design space — across the entire flight envelope — for a truly optimal, physically valid geometry.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5623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Aero Documentation, Sec. 1–2  |  Internship Report — Project Abstract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05156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20700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1746504"/>
            <a:ext cx="384048" cy="38404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746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95744" y="169164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prediction methodology for aerodynamic parameters using Machine Learning / Deep Learning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587752"/>
            <a:ext cx="384048" cy="38404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95744" y="2532888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ML-based prediction methodology against existing CFD / experimental results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3429000"/>
            <a:ext cx="384048" cy="38404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95744" y="3374136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shape optimization of the vehicle configuration at a fixed flight condition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4270248"/>
            <a:ext cx="384048" cy="38404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270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95744" y="4215384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code / methodology for an unknown vehicle configuration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5111496"/>
            <a:ext cx="384048" cy="38404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5111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95744" y="5056632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documentation of methodology, tools and results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 Design of Aerospace Vehicles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Surrogate Modelling + Evolutionary Optimization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EAF1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53312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Data Generation</a:t>
            </a:r>
            <a:endParaRPr lang="en-US" sz="10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(Datcom / CFD / Empirical — 15 geometry vars, Mach 0.2–0.8, α 0–20°, Alt 0 &amp; 6 km)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3049524" y="2075688"/>
            <a:ext cx="164592" cy="128016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212848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12848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(~10,000 samples): Geometry + Flight Conditions  →  CL, CD, XCP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049524" y="2788920"/>
            <a:ext cx="164592" cy="128016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926080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EAF1F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26080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Surrogate Models (fitness function)</a:t>
            </a:r>
            <a:endParaRPr lang="en-US" sz="10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CL, CD, XCP  |  extensions: MLP (CN, CM), Ensemble-XGBoost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049524" y="3648456"/>
            <a:ext cx="164592" cy="128016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3785616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85616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Evolution Optimizer</a:t>
            </a:r>
            <a:endParaRPr lang="en-US" sz="10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(mutation, variable crossover, Maximum Crossover, selection)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049524" y="4453128"/>
            <a:ext cx="164592" cy="128016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4590288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2E5F8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590288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</a:t>
            </a:r>
            <a:endParaRPr lang="en-US" sz="10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(validated across full flight envelope)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172200" y="98755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FLOWCHART (per Fig. 13)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1353312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353312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353312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baseline geometry, flight conditions, priority weights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291072" y="1869948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23" name="Shape 21"/>
          <p:cNvSpPr/>
          <p:nvPr/>
        </p:nvSpPr>
        <p:spPr>
          <a:xfrm>
            <a:off x="6172200" y="1911096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1911096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9400" y="1911096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initial population of candidate geometries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291072" y="2427732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2200" y="2468880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2468880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2468880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generation → for each candidate: generate mutant vector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6291072" y="2985516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31" name="Shape 29"/>
          <p:cNvSpPr/>
          <p:nvPr/>
        </p:nvSpPr>
        <p:spPr>
          <a:xfrm>
            <a:off x="6172200" y="3026664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3026664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3026664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→ trial vector (variable Cr + Maximum Crossover)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6291072" y="3543300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35" name="Shape 33"/>
          <p:cNvSpPr/>
          <p:nvPr/>
        </p:nvSpPr>
        <p:spPr>
          <a:xfrm>
            <a:off x="6172200" y="3584448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5352" y="3584448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29400" y="3584448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fitness: XGBoost predicts CL, CD, XCP over 110 flight points; weighted average → fitness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6291072" y="4101084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39" name="Shape 37"/>
          <p:cNvSpPr/>
          <p:nvPr/>
        </p:nvSpPr>
        <p:spPr>
          <a:xfrm>
            <a:off x="6172200" y="4142232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5352" y="4142232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29400" y="4142232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keep trial vector only if fitness improves &amp; constraints met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6291072" y="4658868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43" name="Shape 41"/>
          <p:cNvSpPr/>
          <p:nvPr/>
        </p:nvSpPr>
        <p:spPr>
          <a:xfrm>
            <a:off x="6172200" y="4700016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4700016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29400" y="4700016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all candidates / generations traversed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6291072" y="5216652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47" name="Shape 45"/>
          <p:cNvSpPr/>
          <p:nvPr/>
        </p:nvSpPr>
        <p:spPr>
          <a:xfrm>
            <a:off x="6172200" y="5257800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45352" y="5257800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29400" y="5257800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configuration with best fitness (optimal geometry)</a:t>
            </a:r>
            <a:endParaRPr lang="en-US" sz="970" dirty="0"/>
          </a:p>
        </p:txBody>
      </p:sp>
      <p:sp>
        <p:nvSpPr>
          <p:cNvPr id="50" name="Text 4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 Design of Aerospace Vehicles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Surrogate Accuracy — Predicted vs Actual CL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25880"/>
          <a:ext cx="544068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767328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0.9994 (CL)   |   R² = 0.9996 (CD)  on held-out test data (~2,000 samples)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263640" y="98755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CL/CD vs Angle of Attack — Baseline vs Optimized Geometry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1325880"/>
          <a:ext cx="544068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263640" y="3767328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CL/CD improvement ≈ 67% (α = 3–8°); geometry weight increase only ≈ 1.7% (Steel AISI 304)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02920" y="4343400"/>
            <a:ext cx="2724912" cy="1417320"/>
          </a:xfrm>
          <a:prstGeom prst="roundRect">
            <a:avLst>
              <a:gd name="adj" fmla="val 4516"/>
            </a:avLst>
          </a:prstGeom>
          <a:solidFill>
            <a:srgbClr val="EAF1F8"/>
          </a:solidFill>
          <a:ln/>
        </p:spPr>
      </p:sp>
      <p:sp>
        <p:nvSpPr>
          <p:cNvPr id="10" name="Text 6"/>
          <p:cNvSpPr/>
          <p:nvPr/>
        </p:nvSpPr>
        <p:spPr>
          <a:xfrm>
            <a:off x="667512" y="445312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XCP MINIMIZATION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67512" y="4773168"/>
            <a:ext cx="2395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9.99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667512" y="535838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vars: bt_cyl, bt_taper, stab_le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374136" y="4343400"/>
            <a:ext cx="2724912" cy="1417320"/>
          </a:xfrm>
          <a:prstGeom prst="roundRect">
            <a:avLst>
              <a:gd name="adj" fmla="val 4516"/>
            </a:avLst>
          </a:prstGeom>
          <a:solidFill>
            <a:srgbClr val="F4F6F8"/>
          </a:solidFill>
          <a:ln/>
        </p:spPr>
      </p:sp>
      <p:sp>
        <p:nvSpPr>
          <p:cNvPr id="14" name="Text 10"/>
          <p:cNvSpPr/>
          <p:nvPr/>
        </p:nvSpPr>
        <p:spPr>
          <a:xfrm>
            <a:off x="3538728" y="445312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MAXIMIZATION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538728" y="4773168"/>
            <a:ext cx="2395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538728" y="535838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vars: AR, Taper, Sweep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245352" y="4343400"/>
            <a:ext cx="2724912" cy="1417320"/>
          </a:xfrm>
          <a:prstGeom prst="roundRect">
            <a:avLst>
              <a:gd name="adj" fmla="val 4516"/>
            </a:avLst>
          </a:prstGeom>
          <a:solidFill>
            <a:srgbClr val="EAF1F8"/>
          </a:solidFill>
          <a:ln/>
        </p:spPr>
      </p:sp>
      <p:sp>
        <p:nvSpPr>
          <p:cNvPr id="18" name="Text 14"/>
          <p:cNvSpPr/>
          <p:nvPr/>
        </p:nvSpPr>
        <p:spPr>
          <a:xfrm>
            <a:off x="6409944" y="445312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CM/CD MAXIMIZATION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409944" y="4773168"/>
            <a:ext cx="2395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7.67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409944" y="535838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vars: AR, Taper, Sweep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9116568" y="4343400"/>
            <a:ext cx="2724912" cy="1417320"/>
          </a:xfrm>
          <a:prstGeom prst="roundRect">
            <a:avLst>
              <a:gd name="adj" fmla="val 4516"/>
            </a:avLst>
          </a:prstGeom>
          <a:solidFill>
            <a:srgbClr val="F4F6F8"/>
          </a:solidFill>
          <a:ln/>
        </p:spPr>
      </p:sp>
      <p:sp>
        <p:nvSpPr>
          <p:cNvPr id="22" name="Text 18"/>
          <p:cNvSpPr/>
          <p:nvPr/>
        </p:nvSpPr>
        <p:spPr>
          <a:xfrm>
            <a:off x="9281160" y="445312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SCALE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9281160" y="4773168"/>
            <a:ext cx="2395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9,989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9281160" y="535838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| XGBoost, depth 10, 100 trees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02920" y="5870448"/>
            <a:ext cx="11201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XGBoost reliably captured non-linear CL/CD/XCP behaviour, replacing repeated CFD/Datcom runs. Differential Evolution, guided by this surrogate, converged to configurations with much better lift-to-drag ratio at negligible weight cost — validated by DRDL on Datcom re-runs of the modified geometry.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 Design of Aerospace Vehicles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Recommendations, Conclusion &amp;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EAF1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070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/ SOLUTIONS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865376"/>
            <a:ext cx="109728" cy="109728"/>
          </a:xfrm>
          <a:prstGeom prst="oval">
            <a:avLst/>
          </a:prstGeom>
          <a:solidFill>
            <a:srgbClr val="C97A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556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variable (non-uniform) flight-point weighting to prioritize critical Mach/alpha regions of the envelope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31520" y="2706624"/>
            <a:ext cx="109728" cy="109728"/>
          </a:xfrm>
          <a:prstGeom prst="oval">
            <a:avLst/>
          </a:prstGeom>
          <a:solidFill>
            <a:srgbClr val="C97A2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596896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Maximum Crossover enhancement — improves DE convergence by ~80% over classical DE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31520" y="3547872"/>
            <a:ext cx="109728" cy="109728"/>
          </a:xfrm>
          <a:prstGeom prst="oval">
            <a:avLst/>
          </a:prstGeom>
          <a:solidFill>
            <a:srgbClr val="C97A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438144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hard/soft geometric and structural constraints (e.g., CD ≥ 0.12, tail/body sizing) during optimization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109728" cy="109728"/>
          </a:xfrm>
          <a:prstGeom prst="oval">
            <a:avLst/>
          </a:prstGeom>
          <a:solidFill>
            <a:srgbClr val="C97A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27939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any optimized geometry's structural weight impact before finalizing (as done for Steel AISI 304)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31520" y="5230368"/>
            <a:ext cx="109728" cy="109728"/>
          </a:xfrm>
          <a:prstGeom prst="oval">
            <a:avLst/>
          </a:prstGeom>
          <a:solidFill>
            <a:srgbClr val="C97A2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1206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surrogate ensembles (XGBoost + MLP) for additional coefficients such as CN and CM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343400" y="1051560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2E5F8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207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1572768"/>
            <a:ext cx="3200400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project objectives were achieved. A complete methodology now exists for optimal aerodynamic design of a multi-component aerospace vehicle across its full flight envelope, with designer-set priority weights and constraints.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XGBoost surrogate + Differential Evolution framework delivered configurations with significantly higher CL/CD, reduced drag, and stable behaviour, validated against Datcom re-runs — while cutting computation time versus repeated CFD/experimental analysis.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ML-driven surrogate modelling combined with evolutionary optimization as a reliable, efficient alternative to conventional simulation-based aerodynamic design.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051560"/>
            <a:ext cx="3383280" cy="4983480"/>
          </a:xfrm>
          <a:prstGeom prst="roundRect">
            <a:avLst>
              <a:gd name="adj" fmla="val 2162"/>
            </a:avLst>
          </a:prstGeom>
          <a:solidFill>
            <a:srgbClr val="F4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12070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58200" y="1837944"/>
            <a:ext cx="109728" cy="10972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709928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optimization to jointly maximize CN and CM/CD (currently solved independently)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58200" y="2862072"/>
            <a:ext cx="109728" cy="10972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0" y="2734056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Machine Learning: merge Data Generation, Fitness Function and Evolutionary Design into one unified pipeline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58200" y="3886200"/>
            <a:ext cx="109728" cy="10972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0" y="3758184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framework to more complex, multi-component aerospace vehicle configurations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58200" y="4910328"/>
            <a:ext cx="109728" cy="10972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0" y="4782312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constraint handling to structural, stability and other engineering domains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 Design of Aerospace Vehicles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2026-07-15T23:45:36Z</dcterms:created>
  <dcterms:modified xsi:type="dcterms:W3CDTF">2026-07-15T23:45:36Z</dcterms:modified>
</cp:coreProperties>
</file>